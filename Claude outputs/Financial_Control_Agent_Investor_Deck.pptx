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0F1428"/>
            </a:solidFill>
            <a:effectLst/>
          </c:spPr>
          <c:invertIfNegative val="0"/>
          <c:dLbls>
            <c:numFmt formatCode="#,##0" sourceLinked="0"/>
            <c:txPr>
              <a:bodyPr/>
              <a:lstStyle/>
              <a:p>
                <a:pPr>
                  <a:defRPr b="0" i="0" strike="noStrike" sz="1200" u="none">
                    <a:solidFill>
                      <a:srgbClr val="141B33"/>
                    </a:solidFill>
                    <a:latin typeface="Arial"/>
                  </a:defRPr>
                </a:pPr>
              </a:p>
            </c:txPr>
            <c:showLegendKey val="0"/>
            <c:showVal val="0"/>
            <c:showCatName val="0"/>
            <c:showSerName val="0"/>
            <c:showPercent val="0"/>
            <c:showBubbleSize val="0"/>
            <c:showLeaderLines val="0"/>
          </c:dLbls>
          <c:cat>
            <c:multiLvlStrRef>
              <c:f>Sheet1!$A$2:$A$4</c:f>
              <c:multiLvlStrCache>
                <c:ptCount val="3"/>
                <c:lvl>
                  <c:pt idx="0">
                    <c:v>Rules only</c:v>
                  </c:pt>
                  <c:pt idx="1">
                    <c:v>Isolation Forest</c:v>
                  </c:pt>
                  <c:pt idx="2">
                    <c:v>Ensemble</c:v>
                  </c:pt>
                </c:lvl>
              </c:multiLvlStrCache>
            </c:multiLvlStrRef>
          </c:cat>
          <c:val>
            <c:numRef>
              <c:f>Sheet1!$B$2:$B$4</c:f>
              <c:numCache>
                <c:formatCode>General</c:formatCode>
                <c:ptCount val="3"/>
                <c:pt idx="0">
                  <c:v>40</c:v>
                </c:pt>
                <c:pt idx="1">
                  <c:v>30</c:v>
                </c:pt>
                <c:pt idx="2">
                  <c:v>33.3</c:v>
                </c:pt>
              </c:numCache>
            </c:numRef>
          </c:val>
        </c:ser>
        <c:ser>
          <c:idx val="1"/>
          <c:order val="1"/>
          <c:tx>
            <c:strRef>
              <c:f>Sheet1!$C$1</c:f>
              <c:strCache>
                <c:ptCount val="1"/>
                <c:pt idx="0">
                  <c:v>Recall</c:v>
                </c:pt>
              </c:strCache>
            </c:strRef>
          </c:tx>
          <c:spPr>
            <a:solidFill>
              <a:srgbClr val="1FAE7A"/>
            </a:solidFill>
            <a:effectLst/>
          </c:spPr>
          <c:invertIfNegative val="0"/>
          <c:dLbls>
            <c:numFmt formatCode="#,##0" sourceLinked="0"/>
            <c:txPr>
              <a:bodyPr/>
              <a:lstStyle/>
              <a:p>
                <a:pPr>
                  <a:defRPr b="0" i="0" strike="noStrike" sz="1200" u="none">
                    <a:solidFill>
                      <a:srgbClr val="141B33"/>
                    </a:solidFill>
                    <a:latin typeface="Arial"/>
                  </a:defRPr>
                </a:pPr>
              </a:p>
            </c:txPr>
            <c:showLegendKey val="0"/>
            <c:showVal val="0"/>
            <c:showCatName val="0"/>
            <c:showSerName val="0"/>
            <c:showPercent val="0"/>
            <c:showBubbleSize val="0"/>
            <c:showLeaderLines val="0"/>
          </c:dLbls>
          <c:cat>
            <c:multiLvlStrRef>
              <c:f>Sheet1!$A$2:$A$4</c:f>
              <c:multiLvlStrCache>
                <c:ptCount val="3"/>
                <c:lvl>
                  <c:pt idx="0">
                    <c:v>Rules only</c:v>
                  </c:pt>
                  <c:pt idx="1">
                    <c:v>Isolation Forest</c:v>
                  </c:pt>
                  <c:pt idx="2">
                    <c:v>Ensemble</c:v>
                  </c:pt>
                </c:lvl>
              </c:multiLvlStrCache>
            </c:multiLvlStrRef>
          </c:cat>
          <c:val>
            <c:numRef>
              <c:f>Sheet1!$C$2:$C$4</c:f>
              <c:numCache>
                <c:formatCode>General</c:formatCode>
                <c:ptCount val="3"/>
                <c:pt idx="0">
                  <c:v>33.3</c:v>
                </c:pt>
                <c:pt idx="1">
                  <c:v>50</c:v>
                </c:pt>
                <c:pt idx="2">
                  <c:v>66.7</c:v>
                </c:pt>
              </c:numCache>
            </c:numRef>
          </c:val>
        </c:ser>
        <c:ser>
          <c:idx val="2"/>
          <c:order val="2"/>
          <c:tx>
            <c:strRef>
              <c:f>Sheet1!$D$1</c:f>
              <c:strCache>
                <c:ptCount val="1"/>
                <c:pt idx="0">
                  <c:v>F1</c:v>
                </c:pt>
              </c:strCache>
            </c:strRef>
          </c:tx>
          <c:spPr>
            <a:solidFill>
              <a:srgbClr val="A63A2E"/>
            </a:solidFill>
            <a:effectLst/>
          </c:spPr>
          <c:invertIfNegative val="0"/>
          <c:dLbls>
            <c:numFmt formatCode="#,##0" sourceLinked="0"/>
            <c:txPr>
              <a:bodyPr/>
              <a:lstStyle/>
              <a:p>
                <a:pPr>
                  <a:defRPr b="0" i="0" strike="noStrike" sz="1200" u="none">
                    <a:solidFill>
                      <a:srgbClr val="141B33"/>
                    </a:solidFill>
                    <a:latin typeface="Arial"/>
                  </a:defRPr>
                </a:pPr>
              </a:p>
            </c:txPr>
            <c:showLegendKey val="0"/>
            <c:showVal val="0"/>
            <c:showCatName val="0"/>
            <c:showSerName val="0"/>
            <c:showPercent val="0"/>
            <c:showBubbleSize val="0"/>
            <c:showLeaderLines val="0"/>
          </c:dLbls>
          <c:cat>
            <c:multiLvlStrRef>
              <c:f>Sheet1!$A$2:$A$4</c:f>
              <c:multiLvlStrCache>
                <c:ptCount val="3"/>
                <c:lvl>
                  <c:pt idx="0">
                    <c:v>Rules only</c:v>
                  </c:pt>
                  <c:pt idx="1">
                    <c:v>Isolation Forest</c:v>
                  </c:pt>
                  <c:pt idx="2">
                    <c:v>Ensemble</c:v>
                  </c:pt>
                </c:lvl>
              </c:multiLvlStrCache>
            </c:multiLvlStrRef>
          </c:cat>
          <c:val>
            <c:numRef>
              <c:f>Sheet1!$D$2:$D$4</c:f>
              <c:numCache>
                <c:formatCode>General</c:formatCode>
                <c:ptCount val="3"/>
                <c:pt idx="0">
                  <c:v>36.4</c:v>
                </c:pt>
                <c:pt idx="1">
                  <c:v>37.5</c:v>
                </c:pt>
                <c:pt idx="2">
                  <c:v>44.4</c:v>
                </c:pt>
              </c:numCache>
            </c:numRef>
          </c:val>
        </c:ser>
        <c:ser>
          <c:idx val="3"/>
          <c:order val="3"/>
          <c:tx>
            <c:strRef>
              <c:f>Sheet1!$E$1</c:f>
              <c:strCache>
                <c:ptCount val="1"/>
                <c:pt idx="0">
                  <c:v>False Positive Rate</c:v>
                </c:pt>
              </c:strCache>
            </c:strRef>
          </c:tx>
          <c:spPr>
            <a:solidFill>
              <a:srgbClr val="0F1428"/>
            </a:solidFill>
            <a:effectLst/>
          </c:spPr>
          <c:invertIfNegative val="0"/>
          <c:dLbls>
            <c:numFmt formatCode="#,##0" sourceLinked="0"/>
            <c:txPr>
              <a:bodyPr/>
              <a:lstStyle/>
              <a:p>
                <a:pPr>
                  <a:defRPr b="0" i="0" strike="noStrike" sz="1200" u="none">
                    <a:solidFill>
                      <a:srgbClr val="141B33"/>
                    </a:solidFill>
                    <a:latin typeface="Arial"/>
                  </a:defRPr>
                </a:pPr>
              </a:p>
            </c:txPr>
            <c:showLegendKey val="0"/>
            <c:showVal val="0"/>
            <c:showCatName val="0"/>
            <c:showSerName val="0"/>
            <c:showPercent val="0"/>
            <c:showBubbleSize val="0"/>
            <c:showLeaderLines val="0"/>
          </c:dLbls>
          <c:cat>
            <c:multiLvlStrRef>
              <c:f>Sheet1!$A$2:$A$4</c:f>
              <c:multiLvlStrCache>
                <c:ptCount val="3"/>
                <c:lvl>
                  <c:pt idx="0">
                    <c:v>Rules only</c:v>
                  </c:pt>
                  <c:pt idx="1">
                    <c:v>Isolation Forest</c:v>
                  </c:pt>
                  <c:pt idx="2">
                    <c:v>Ensemble</c:v>
                  </c:pt>
                </c:lvl>
              </c:multiLvlStrCache>
            </c:multiLvlStrRef>
          </c:cat>
          <c:val>
            <c:numRef>
              <c:f>Sheet1!$E$2:$E$4</c:f>
              <c:numCache>
                <c:formatCode>General</c:formatCode>
                <c:ptCount val="3"/>
                <c:pt idx="0">
                  <c:v>25</c:v>
                </c:pt>
                <c:pt idx="1">
                  <c:v>58.3</c:v>
                </c:pt>
                <c:pt idx="2">
                  <c:v>66.7</c:v>
                </c:pt>
              </c:numCache>
            </c:numRef>
          </c:val>
        </c:ser>
        <c:dLbls>
          <c:numFmt formatCode="#,##0" sourceLinked="0"/>
          <c:txPr>
            <a:bodyPr/>
            <a:lstStyle/>
            <a:p>
              <a:pPr>
                <a:defRPr b="0" i="0" strike="noStrike" sz="1200" u="none">
                  <a:solidFill>
                    <a:srgbClr val="141B33"/>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584"/>
                </a:solidFill>
                <a:latin typeface="Arial"/>
              </a:defRPr>
            </a:pPr>
            <a:endParaRPr lang="en-US"/>
          </a:p>
        </c:txPr>
        <c:crossAx val="2094734552"/>
        <c:crosses val="autoZero"/>
        <c:auto val="1"/>
        <c:lblAlgn val="ctr"/>
        <c:noMultiLvlLbl val="1"/>
      </c:catAx>
      <c:valAx>
        <c:axId val="2094734552"/>
        <c:scaling>
          <c:orientation val="minMax"/>
          <c:max val="80"/>
        </c:scaling>
        <c:delete val="0"/>
        <c:axPos val="l"/>
        <c:majorGridlines>
          <c:spPr>
            <a:ln w="9525" cap="flat">
              <a:solidFill>
                <a:srgbClr val="E1E4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B658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5B658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then the four stat chips: this is a running, tested system, not a mockup. Immediately name that the data is synthetic and there is no live processor connection yet — set the honesty tone from sentence one. Source: README.md title/positioning; app/main.py FastAPI title; data/synthetic/meta.json (45 merchants, 11,398 payments); 11 entries in ALL_DETECTORS (backend/app/analytics/detectors.py); 53 passing tests (backend/tests/, confirmed via grep of def test_ across all test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payment lifecycle left to right, then point at the gap: reconciliation tells you the ledger doesn’t balance, not which transaction, how much, or why. The four pain points are the analyst’s actual daily workflow today. Source: docs/architecture.md and README.md framing (“not a reconciliation product”); this is scene-setting, not a repository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product in one row. Read the seven words, then the seven phrases underneath — each one is a real, running function, not an aspiration. Source: backend/app/services/pipeline.py::run_full_pipeline (orchestrates exactly these seven stages); backend/app/analytics/detectors.py (11 entries in ALL_DETECTORS); backend/app/agents/action_engine.py (ALLOWED_ACTIONS, 8 items, none move money); backend/app/models/orm.py::AuditEvent (append-only audit row per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legend first: gray is data, navy is deterministic logic, teal is the one trained model, amber is the optional LLM. Trace the row: synthetic data through SQLite, into 13 engineered features, into 10 rule detectors and the trained Isolation Forest, merged by a deterministic OR-ensemble, into root cause, into the action engine, into optional Claude narration, served by FastAPI/React. Source: backend/app/repositories/data_repo.py, backend/app/analytics/{detectors.py,features.py}, backend/app/ml/anomaly_model.py, backend/app/agents/{root_cause.py,action_engine.py,llm.py}, backend/app/api/routes.py, frontend/src. The Razorpay provider caveat is verified: get_provider() in backend/app/providers/razorpay_provider.py is not called anywhere else in the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“where is the AI” before anyone has to ask it. Three honest categories, three colors, carried through the rest of the deck. The closing line is the product’s central design principle: ML never decides an action, and the LLM never invents a fact. Source: backend/app/analytics/detectors.py (10 rule/stat detectors), backend/app/ml/anomaly_model.py + backend/app/analytics/features.py (13 features, time-based train/score split), backend/app/agents/llm.py (AnthropicProvider system prompt forbids introducing new numbers; DeterministicTemplateProvider is the default/fallback).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not a diagram: a merchant’s refund rate quietly climbs. Walk left column top to bottom, then right column. Every noun here is a real function or threshold in the code, not illustrative fluff. Source: backend/app/analytics/detectors.py::detect_refund_rate_spike, backend/app/rules/thresholds.py (REFUND_SPIKE_MIN_RATIO=2.5, REFUND_SPIKE_MIN_Z=1.2), backend/app/analytics/features.py (refund_rate_z30, fee_excess_ratio, avg_delay_days), backend/app/analytics/detectors.py::detect_merchant_level_anomalies_ensemble, backend/app/agents/root_cause.py::diagnose (pass-through for unambiguous types), backend/app/agents/action_engine.py (REVIEW_REQUIRED category, generate_merchant_alert action), backend/app/models/orm.py::AuditEvent. No live screenshot is used here — the app was not running with browser access in this environment, so this is a narrated walkthrough, not a captured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dataset scale, then the strong system-wide numbers, then immediately pivot to the honest chart: the one place ML is genuinely tested, it is not yet good, and the false-positive rate roughly doubles/triples depending on which comparison you read. Say the sample-size caveat out loud before an investor has to ask for it. Source (verified against JSON, not just README rounding): data/benchmarks/results.json (precision 1.0, recall 0.7714, f1 0.871, fpr 0.0, root_cause_accuracy 0.9556, money_at_risk_mape 0.0035, processing_throughput_records_per_sec 4197.0, by_scenario.fee_anomaly.detection_rate 0.62, by_scenario.settlement_variance.detection_rate 0.462); data/benchmarks/ml_comparison.json (existing_rules_combined P0.40/R0.3333/F1 0.3636/FPR0.25; isolation_forest P0.30/R0.50/F1 0.375/FPR0.5833; ensemble_rules_or_ml P0.3333/R0.6667/F1 0.4444/FPR0.6667; evaluation_population 6 positive / 12 negative merchants).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rows on the left are all true simultaneously in the running code today — that combination, not any one row alone, is the differentiation argument. The muted card on the right is the honest description of what a plain anomaly detector gives you, nothing invented about a specific competitor. Source: sections 2–5 of this deck; backend/app/services/pipeline.py ties all five together per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hinge of the whole deck — present it plainly and do not rush past the right column. Every left-column item is independently verifiable by reading the repository; every right-column item is a real, named gap, not a hidden one. Source: full repository read — backend/app + frontend/src for the REAL column; backend/app/providers/razorpay_provider.py (RazorpayTestModeProvider raises NotImplementedError, get_provider() uncalled elsewhere), data_generator.py (synthetic dataset), ml_comparison.json (n=18 merchants) for the NOT YET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list is derived from the problem the product actually solves — nobody has said yes yet. Say the disclaimer line out loud before an investor asks about TAM; volunteering it is more credible than being asked. Source: this is a market hypothesis grounded in the problem statement (docs/architecture.md, README.md), not a figure present anywhere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NOW is filled in — solid navy marker — because it is the only stage with evidence behind it today. The other three are explicitly future and unproven, marked with hollow outlines on purpose. Source: this stage sequence follows directly from the NOT YET column on the Reality Check slide (razorpay_provider.py stub, synthetic-only dataset, no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reproducibility line — it is the single strongest credibility claim in the deck, and it is true: every metric shown traces to data/benchmarks/results.json or ml_comparison.json, regenerated by python -m app.services.seed. Do not add a "thank you" slide after this — end here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slideLayout" Target="../slideLayouts/slideLayout1.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8"/>
        </a:solidFill>
      </p:bgPr>
    </p:bg>
    <p:spTree>
      <p:nvGrpSpPr>
        <p:cNvPr id="1" name=""/>
        <p:cNvGrpSpPr/>
        <p:nvPr/>
      </p:nvGrpSpPr>
      <p:grpSpPr>
        <a:xfrm>
          <a:off x="0" y="0"/>
          <a:ext cx="0" cy="0"/>
          <a:chOff x="0" y="0"/>
          <a:chExt cx="0" cy="0"/>
        </a:xfrm>
      </p:grpSpPr>
      <p:sp>
        <p:nvSpPr>
          <p:cNvPr id="2" name="Shape 0"/>
          <p:cNvSpPr/>
          <p:nvPr/>
        </p:nvSpPr>
        <p:spPr>
          <a:xfrm>
            <a:off x="8778240" y="-2377440"/>
            <a:ext cx="5669280" cy="5669280"/>
          </a:xfrm>
          <a:prstGeom prst="ellipse">
            <a:avLst/>
          </a:prstGeom>
          <a:ln w="19050">
            <a:solidFill>
              <a:srgbClr val="2B3562"/>
            </a:solidFill>
            <a:prstDash val="solid"/>
          </a:ln>
        </p:spPr>
      </p:sp>
      <p:sp>
        <p:nvSpPr>
          <p:cNvPr id="3" name="Shape 1"/>
          <p:cNvSpPr/>
          <p:nvPr/>
        </p:nvSpPr>
        <p:spPr>
          <a:xfrm>
            <a:off x="9692640" y="-1463040"/>
            <a:ext cx="3840480" cy="3840480"/>
          </a:xfrm>
          <a:prstGeom prst="ellipse">
            <a:avLst/>
          </a:prstGeom>
          <a:ln w="12700">
            <a:solidFill>
              <a:srgbClr val="2B3562"/>
            </a:solidFill>
            <a:prstDash val="solid"/>
          </a:ln>
        </p:spPr>
      </p:sp>
      <p:sp>
        <p:nvSpPr>
          <p:cNvPr id="4" name="Text 2"/>
          <p:cNvSpPr txBox="1"/>
          <p:nvPr/>
        </p:nvSpPr>
        <p:spPr>
          <a:xfrm>
            <a:off x="822960" y="1847088"/>
            <a:ext cx="8686800" cy="320040"/>
          </a:xfrm>
          <a:prstGeom prst="rect">
            <a:avLst/>
          </a:prstGeom>
          <a:noFill/>
          <a:ln/>
        </p:spPr>
        <p:txBody>
          <a:bodyPr wrap="square" lIns="0" tIns="0" rIns="0" bIns="0" rtlCol="0" anchor="ctr"/>
          <a:lstStyle/>
          <a:p>
            <a:pPr indent="0" marL="0">
              <a:buNone/>
            </a:pPr>
            <a:r>
              <a:rPr lang="en-US" sz="1300" b="1" spc="300" kern="0" dirty="0">
                <a:solidFill>
                  <a:srgbClr val="1FAE7A"/>
                </a:solidFill>
                <a:latin typeface="Calibri" pitchFamily="34" charset="0"/>
                <a:ea typeface="Calibri" pitchFamily="34" charset="-122"/>
                <a:cs typeface="Calibri" pitchFamily="34" charset="-120"/>
              </a:rPr>
              <a:t>FINANCIAL CONTROLS FOR PAYMENT PLATFORMS</a:t>
            </a:r>
            <a:endParaRPr lang="en-US" sz="1300" dirty="0"/>
          </a:p>
        </p:txBody>
      </p:sp>
      <p:sp>
        <p:nvSpPr>
          <p:cNvPr id="5" name="Text 3"/>
          <p:cNvSpPr txBox="1"/>
          <p:nvPr/>
        </p:nvSpPr>
        <p:spPr>
          <a:xfrm>
            <a:off x="777240" y="2176272"/>
            <a:ext cx="10607040" cy="11430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Financial Control Agent</a:t>
            </a:r>
            <a:endParaRPr lang="en-US" sz="5400" dirty="0"/>
          </a:p>
        </p:txBody>
      </p:sp>
      <p:sp>
        <p:nvSpPr>
          <p:cNvPr id="6" name="Text 4"/>
          <p:cNvSpPr txBox="1"/>
          <p:nvPr/>
        </p:nvSpPr>
        <p:spPr>
          <a:xfrm>
            <a:off x="822960" y="3401568"/>
            <a:ext cx="9418320" cy="822960"/>
          </a:xfrm>
          <a:prstGeom prst="rect">
            <a:avLst/>
          </a:prstGeom>
          <a:noFill/>
          <a:ln/>
        </p:spPr>
        <p:txBody>
          <a:bodyPr wrap="square" lIns="0" tIns="0" rIns="0" bIns="0" rtlCol="0" anchor="ctr"/>
          <a:lstStyle/>
          <a:p>
            <a:pPr indent="0" marL="0">
              <a:lnSpc>
                <a:spcPct val="115000"/>
              </a:lnSpc>
              <a:buNone/>
            </a:pPr>
            <a:r>
              <a:rPr lang="en-US" sz="1900" i="1" dirty="0">
                <a:solidFill>
                  <a:srgbClr val="C9D6F5"/>
                </a:solidFill>
                <a:latin typeface="Calibri" pitchFamily="34" charset="0"/>
                <a:ea typeface="Calibri" pitchFamily="34" charset="-122"/>
                <a:cs typeface="Calibri" pitchFamily="34" charset="-120"/>
              </a:rPr>
              <a:t>Financial controls that don’t just find exceptions — they quantify, explain, and act on money at risk.</a:t>
            </a:r>
            <a:endParaRPr lang="en-US" sz="1900" dirty="0"/>
          </a:p>
        </p:txBody>
      </p:sp>
      <p:sp>
        <p:nvSpPr>
          <p:cNvPr id="7" name="Shape 5"/>
          <p:cNvSpPr/>
          <p:nvPr/>
        </p:nvSpPr>
        <p:spPr>
          <a:xfrm>
            <a:off x="822960" y="4709160"/>
            <a:ext cx="2331720" cy="868680"/>
          </a:xfrm>
          <a:prstGeom prst="roundRect">
            <a:avLst>
              <a:gd name="adj" fmla="val 8421"/>
            </a:avLst>
          </a:prstGeom>
          <a:solidFill>
            <a:srgbClr val="1A2247"/>
          </a:solidFill>
          <a:ln w="9525">
            <a:solidFill>
              <a:srgbClr val="2B3562"/>
            </a:solidFill>
            <a:prstDash val="solid"/>
          </a:ln>
        </p:spPr>
      </p:sp>
      <p:sp>
        <p:nvSpPr>
          <p:cNvPr id="8" name="Text 6"/>
          <p:cNvSpPr txBox="1"/>
          <p:nvPr/>
        </p:nvSpPr>
        <p:spPr>
          <a:xfrm>
            <a:off x="960120" y="4782312"/>
            <a:ext cx="20574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45</a:t>
            </a:r>
            <a:endParaRPr lang="en-US" sz="2400" dirty="0"/>
          </a:p>
        </p:txBody>
      </p:sp>
      <p:sp>
        <p:nvSpPr>
          <p:cNvPr id="9" name="Text 7"/>
          <p:cNvSpPr txBox="1"/>
          <p:nvPr/>
        </p:nvSpPr>
        <p:spPr>
          <a:xfrm>
            <a:off x="960120" y="5239512"/>
            <a:ext cx="2057400" cy="274320"/>
          </a:xfrm>
          <a:prstGeom prst="rect">
            <a:avLst/>
          </a:prstGeom>
          <a:noFill/>
          <a:ln/>
        </p:spPr>
        <p:txBody>
          <a:bodyPr wrap="square" lIns="0" tIns="0" rIns="0" bIns="0" rtlCol="0" anchor="ctr"/>
          <a:lstStyle/>
          <a:p>
            <a:pPr indent="0" marL="0">
              <a:buNone/>
            </a:pPr>
            <a:r>
              <a:rPr lang="en-US" sz="950" spc="100" kern="0" dirty="0">
                <a:solidFill>
                  <a:srgbClr val="9AA6C9"/>
                </a:solidFill>
                <a:latin typeface="Calibri" pitchFamily="34" charset="0"/>
                <a:ea typeface="Calibri" pitchFamily="34" charset="-122"/>
                <a:cs typeface="Calibri" pitchFamily="34" charset="-120"/>
              </a:rPr>
              <a:t>MERCHANTS</a:t>
            </a:r>
            <a:endParaRPr lang="en-US" sz="950" dirty="0"/>
          </a:p>
        </p:txBody>
      </p:sp>
      <p:sp>
        <p:nvSpPr>
          <p:cNvPr id="10" name="Shape 8"/>
          <p:cNvSpPr/>
          <p:nvPr/>
        </p:nvSpPr>
        <p:spPr>
          <a:xfrm>
            <a:off x="3337560" y="4709160"/>
            <a:ext cx="2331720" cy="868680"/>
          </a:xfrm>
          <a:prstGeom prst="roundRect">
            <a:avLst>
              <a:gd name="adj" fmla="val 8421"/>
            </a:avLst>
          </a:prstGeom>
          <a:solidFill>
            <a:srgbClr val="1A2247"/>
          </a:solidFill>
          <a:ln w="9525">
            <a:solidFill>
              <a:srgbClr val="2B3562"/>
            </a:solidFill>
            <a:prstDash val="solid"/>
          </a:ln>
        </p:spPr>
      </p:sp>
      <p:sp>
        <p:nvSpPr>
          <p:cNvPr id="11" name="Text 9"/>
          <p:cNvSpPr txBox="1"/>
          <p:nvPr/>
        </p:nvSpPr>
        <p:spPr>
          <a:xfrm>
            <a:off x="3474720" y="4782312"/>
            <a:ext cx="20574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11,398</a:t>
            </a:r>
            <a:endParaRPr lang="en-US" sz="2400" dirty="0"/>
          </a:p>
        </p:txBody>
      </p:sp>
      <p:sp>
        <p:nvSpPr>
          <p:cNvPr id="12" name="Text 10"/>
          <p:cNvSpPr txBox="1"/>
          <p:nvPr/>
        </p:nvSpPr>
        <p:spPr>
          <a:xfrm>
            <a:off x="3474720" y="5239512"/>
            <a:ext cx="2057400" cy="274320"/>
          </a:xfrm>
          <a:prstGeom prst="rect">
            <a:avLst/>
          </a:prstGeom>
          <a:noFill/>
          <a:ln/>
        </p:spPr>
        <p:txBody>
          <a:bodyPr wrap="square" lIns="0" tIns="0" rIns="0" bIns="0" rtlCol="0" anchor="ctr"/>
          <a:lstStyle/>
          <a:p>
            <a:pPr indent="0" marL="0">
              <a:buNone/>
            </a:pPr>
            <a:r>
              <a:rPr lang="en-US" sz="950" spc="100" kern="0" dirty="0">
                <a:solidFill>
                  <a:srgbClr val="9AA6C9"/>
                </a:solidFill>
                <a:latin typeface="Calibri" pitchFamily="34" charset="0"/>
                <a:ea typeface="Calibri" pitchFamily="34" charset="-122"/>
                <a:cs typeface="Calibri" pitchFamily="34" charset="-120"/>
              </a:rPr>
              <a:t>PAYMENTS</a:t>
            </a:r>
            <a:endParaRPr lang="en-US" sz="950" dirty="0"/>
          </a:p>
        </p:txBody>
      </p:sp>
      <p:sp>
        <p:nvSpPr>
          <p:cNvPr id="13" name="Shape 11"/>
          <p:cNvSpPr/>
          <p:nvPr/>
        </p:nvSpPr>
        <p:spPr>
          <a:xfrm>
            <a:off x="5852160" y="4709160"/>
            <a:ext cx="2331720" cy="868680"/>
          </a:xfrm>
          <a:prstGeom prst="roundRect">
            <a:avLst>
              <a:gd name="adj" fmla="val 8421"/>
            </a:avLst>
          </a:prstGeom>
          <a:solidFill>
            <a:srgbClr val="1A2247"/>
          </a:solidFill>
          <a:ln w="9525">
            <a:solidFill>
              <a:srgbClr val="2B3562"/>
            </a:solidFill>
            <a:prstDash val="solid"/>
          </a:ln>
        </p:spPr>
      </p:sp>
      <p:sp>
        <p:nvSpPr>
          <p:cNvPr id="14" name="Text 12"/>
          <p:cNvSpPr txBox="1"/>
          <p:nvPr/>
        </p:nvSpPr>
        <p:spPr>
          <a:xfrm>
            <a:off x="5989320" y="4782312"/>
            <a:ext cx="20574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11</a:t>
            </a:r>
            <a:endParaRPr lang="en-US" sz="2400" dirty="0"/>
          </a:p>
        </p:txBody>
      </p:sp>
      <p:sp>
        <p:nvSpPr>
          <p:cNvPr id="15" name="Text 13"/>
          <p:cNvSpPr txBox="1"/>
          <p:nvPr/>
        </p:nvSpPr>
        <p:spPr>
          <a:xfrm>
            <a:off x="5989320" y="5239512"/>
            <a:ext cx="2057400" cy="274320"/>
          </a:xfrm>
          <a:prstGeom prst="rect">
            <a:avLst/>
          </a:prstGeom>
          <a:noFill/>
          <a:ln/>
        </p:spPr>
        <p:txBody>
          <a:bodyPr wrap="square" lIns="0" tIns="0" rIns="0" bIns="0" rtlCol="0" anchor="ctr"/>
          <a:lstStyle/>
          <a:p>
            <a:pPr indent="0" marL="0">
              <a:buNone/>
            </a:pPr>
            <a:r>
              <a:rPr lang="en-US" sz="950" spc="100" kern="0" dirty="0">
                <a:solidFill>
                  <a:srgbClr val="9AA6C9"/>
                </a:solidFill>
                <a:latin typeface="Calibri" pitchFamily="34" charset="0"/>
                <a:ea typeface="Calibri" pitchFamily="34" charset="-122"/>
                <a:cs typeface="Calibri" pitchFamily="34" charset="-120"/>
              </a:rPr>
              <a:t>DETECTORS</a:t>
            </a:r>
            <a:endParaRPr lang="en-US" sz="950" dirty="0"/>
          </a:p>
        </p:txBody>
      </p:sp>
      <p:sp>
        <p:nvSpPr>
          <p:cNvPr id="16" name="Shape 14"/>
          <p:cNvSpPr/>
          <p:nvPr/>
        </p:nvSpPr>
        <p:spPr>
          <a:xfrm>
            <a:off x="8366760" y="4709160"/>
            <a:ext cx="2331720" cy="868680"/>
          </a:xfrm>
          <a:prstGeom prst="roundRect">
            <a:avLst>
              <a:gd name="adj" fmla="val 8421"/>
            </a:avLst>
          </a:prstGeom>
          <a:solidFill>
            <a:srgbClr val="1A2247"/>
          </a:solidFill>
          <a:ln w="9525">
            <a:solidFill>
              <a:srgbClr val="2B3562"/>
            </a:solidFill>
            <a:prstDash val="solid"/>
          </a:ln>
        </p:spPr>
      </p:sp>
      <p:sp>
        <p:nvSpPr>
          <p:cNvPr id="17" name="Text 15"/>
          <p:cNvSpPr txBox="1"/>
          <p:nvPr/>
        </p:nvSpPr>
        <p:spPr>
          <a:xfrm>
            <a:off x="8503920" y="4782312"/>
            <a:ext cx="20574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53</a:t>
            </a:r>
            <a:endParaRPr lang="en-US" sz="2400" dirty="0"/>
          </a:p>
        </p:txBody>
      </p:sp>
      <p:sp>
        <p:nvSpPr>
          <p:cNvPr id="18" name="Text 16"/>
          <p:cNvSpPr txBox="1"/>
          <p:nvPr/>
        </p:nvSpPr>
        <p:spPr>
          <a:xfrm>
            <a:off x="8503920" y="5239512"/>
            <a:ext cx="2057400" cy="274320"/>
          </a:xfrm>
          <a:prstGeom prst="rect">
            <a:avLst/>
          </a:prstGeom>
          <a:noFill/>
          <a:ln/>
        </p:spPr>
        <p:txBody>
          <a:bodyPr wrap="square" lIns="0" tIns="0" rIns="0" bIns="0" rtlCol="0" anchor="ctr"/>
          <a:lstStyle/>
          <a:p>
            <a:pPr indent="0" marL="0">
              <a:buNone/>
            </a:pPr>
            <a:r>
              <a:rPr lang="en-US" sz="950" spc="100" kern="0" dirty="0">
                <a:solidFill>
                  <a:srgbClr val="9AA6C9"/>
                </a:solidFill>
                <a:latin typeface="Calibri" pitchFamily="34" charset="0"/>
                <a:ea typeface="Calibri" pitchFamily="34" charset="-122"/>
                <a:cs typeface="Calibri" pitchFamily="34" charset="-120"/>
              </a:rPr>
              <a:t>TESTS PASSING</a:t>
            </a:r>
            <a:endParaRPr lang="en-US" sz="950" dirty="0"/>
          </a:p>
        </p:txBody>
      </p:sp>
      <p:sp>
        <p:nvSpPr>
          <p:cNvPr id="19" name="Text 17"/>
          <p:cNvSpPr txBox="1"/>
          <p:nvPr/>
        </p:nvSpPr>
        <p:spPr>
          <a:xfrm>
            <a:off x="822960" y="6080760"/>
            <a:ext cx="10058400" cy="320040"/>
          </a:xfrm>
          <a:prstGeom prst="rect">
            <a:avLst/>
          </a:prstGeom>
          <a:noFill/>
          <a:ln/>
        </p:spPr>
        <p:txBody>
          <a:bodyPr wrap="square" lIns="0" tIns="0" rIns="0" bIns="0" rtlCol="0" anchor="ctr"/>
          <a:lstStyle/>
          <a:p>
            <a:pPr indent="0" marL="0">
              <a:buNone/>
            </a:pPr>
            <a:r>
              <a:rPr lang="en-US" sz="1150" i="1" dirty="0">
                <a:solidFill>
                  <a:srgbClr val="6B76A0"/>
                </a:solidFill>
                <a:latin typeface="Calibri" pitchFamily="34" charset="0"/>
                <a:ea typeface="Calibri" pitchFamily="34" charset="-122"/>
                <a:cs typeface="Calibri" pitchFamily="34" charset="-120"/>
              </a:rPr>
              <a:t>Prototype system · evaluated on synthetic, Razorpay-shaped merchant data · not yet connected to a live processor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607040" cy="274320"/>
          </a:xfrm>
          <a:prstGeom prst="rect">
            <a:avLst/>
          </a:prstGeom>
          <a:noFill/>
          <a:ln/>
        </p:spPr>
        <p:txBody>
          <a:bodyPr wrap="square" lIns="0" tIns="0" rIns="0" bIns="0" rtlCol="0" anchor="ctr"/>
          <a:lstStyle/>
          <a:p>
            <a:pPr indent="0" marL="0">
              <a:buNone/>
            </a:pPr>
            <a:r>
              <a:rPr lang="en-US" sz="1200" b="1" spc="250" kern="0" dirty="0">
                <a:solidFill>
                  <a:srgbClr val="B8791E"/>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58368"/>
            <a:ext cx="1060704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Where money at risk goes invisible</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02 / 12</a:t>
            </a:r>
            <a:endParaRPr lang="en-US" sz="900" dirty="0"/>
          </a:p>
        </p:txBody>
      </p:sp>
      <p:sp>
        <p:nvSpPr>
          <p:cNvPr id="6" name="Shape 4"/>
          <p:cNvSpPr/>
          <p:nvPr/>
        </p:nvSpPr>
        <p:spPr>
          <a:xfrm>
            <a:off x="952348" y="1554480"/>
            <a:ext cx="2331720" cy="777240"/>
          </a:xfrm>
          <a:prstGeom prst="roundRect">
            <a:avLst>
              <a:gd name="adj" fmla="val 9412"/>
            </a:avLst>
          </a:prstGeom>
          <a:solidFill>
            <a:srgbClr val="F5F6FA"/>
          </a:solidFill>
          <a:ln w="9525">
            <a:solidFill>
              <a:srgbClr val="E1E4EF"/>
            </a:solidFill>
            <a:prstDash val="solid"/>
          </a:ln>
        </p:spPr>
      </p:sp>
      <p:sp>
        <p:nvSpPr>
          <p:cNvPr id="7" name="Text 5"/>
          <p:cNvSpPr txBox="1"/>
          <p:nvPr/>
        </p:nvSpPr>
        <p:spPr>
          <a:xfrm>
            <a:off x="952348" y="1554480"/>
            <a:ext cx="2331720" cy="777240"/>
          </a:xfrm>
          <a:prstGeom prst="rect">
            <a:avLst/>
          </a:prstGeom>
          <a:noFill/>
          <a:ln/>
        </p:spPr>
        <p:txBody>
          <a:bodyPr wrap="square" lIns="0" tIns="0" rIns="0" bIns="0" rtlCol="0" anchor="ctr"/>
          <a:lstStyle/>
          <a:p>
            <a:pPr algn="ctr" indent="0" marL="0">
              <a:buNone/>
            </a:pPr>
            <a:r>
              <a:rPr lang="en-US" sz="1300" b="1" dirty="0">
                <a:solidFill>
                  <a:srgbClr val="141B33"/>
                </a:solidFill>
                <a:latin typeface="Calibri" pitchFamily="34" charset="0"/>
                <a:ea typeface="Calibri" pitchFamily="34" charset="-122"/>
                <a:cs typeface="Calibri" pitchFamily="34" charset="-120"/>
              </a:rPr>
              <a:t>Payment</a:t>
            </a:r>
            <a:endParaRPr lang="en-US" sz="1300" dirty="0"/>
          </a:p>
        </p:txBody>
      </p:sp>
      <p:sp>
        <p:nvSpPr>
          <p:cNvPr id="8" name="Shape 6"/>
          <p:cNvSpPr/>
          <p:nvPr/>
        </p:nvSpPr>
        <p:spPr>
          <a:xfrm>
            <a:off x="3343504" y="1832458"/>
            <a:ext cx="201168" cy="221285"/>
          </a:xfrm>
          <a:prstGeom prst="chevron">
            <a:avLst/>
          </a:prstGeom>
          <a:solidFill>
            <a:srgbClr val="9AA6C9"/>
          </a:solidFill>
          <a:ln/>
        </p:spPr>
      </p:sp>
      <p:sp>
        <p:nvSpPr>
          <p:cNvPr id="9" name="Shape 7"/>
          <p:cNvSpPr/>
          <p:nvPr/>
        </p:nvSpPr>
        <p:spPr>
          <a:xfrm>
            <a:off x="3604108" y="1554480"/>
            <a:ext cx="2331720" cy="777240"/>
          </a:xfrm>
          <a:prstGeom prst="roundRect">
            <a:avLst>
              <a:gd name="adj" fmla="val 9412"/>
            </a:avLst>
          </a:prstGeom>
          <a:solidFill>
            <a:srgbClr val="F5F6FA"/>
          </a:solidFill>
          <a:ln w="9525">
            <a:solidFill>
              <a:srgbClr val="E1E4EF"/>
            </a:solidFill>
            <a:prstDash val="solid"/>
          </a:ln>
        </p:spPr>
      </p:sp>
      <p:sp>
        <p:nvSpPr>
          <p:cNvPr id="10" name="Text 8"/>
          <p:cNvSpPr txBox="1"/>
          <p:nvPr/>
        </p:nvSpPr>
        <p:spPr>
          <a:xfrm>
            <a:off x="3604108" y="1554480"/>
            <a:ext cx="2331720" cy="777240"/>
          </a:xfrm>
          <a:prstGeom prst="rect">
            <a:avLst/>
          </a:prstGeom>
          <a:noFill/>
          <a:ln/>
        </p:spPr>
        <p:txBody>
          <a:bodyPr wrap="square" lIns="0" tIns="0" rIns="0" bIns="0" rtlCol="0" anchor="ctr"/>
          <a:lstStyle/>
          <a:p>
            <a:pPr algn="ctr" indent="0" marL="0">
              <a:buNone/>
            </a:pPr>
            <a:r>
              <a:rPr lang="en-US" sz="1300" b="1" dirty="0">
                <a:solidFill>
                  <a:srgbClr val="141B33"/>
                </a:solidFill>
                <a:latin typeface="Calibri" pitchFamily="34" charset="0"/>
                <a:ea typeface="Calibri" pitchFamily="34" charset="-122"/>
                <a:cs typeface="Calibri" pitchFamily="34" charset="-120"/>
              </a:rPr>
              <a:t>Settlement</a:t>
            </a:r>
            <a:endParaRPr lang="en-US" sz="1300" dirty="0"/>
          </a:p>
        </p:txBody>
      </p:sp>
      <p:sp>
        <p:nvSpPr>
          <p:cNvPr id="11" name="Shape 9"/>
          <p:cNvSpPr/>
          <p:nvPr/>
        </p:nvSpPr>
        <p:spPr>
          <a:xfrm>
            <a:off x="5995264" y="1832458"/>
            <a:ext cx="201168" cy="221285"/>
          </a:xfrm>
          <a:prstGeom prst="chevron">
            <a:avLst/>
          </a:prstGeom>
          <a:solidFill>
            <a:srgbClr val="9AA6C9"/>
          </a:solidFill>
          <a:ln/>
        </p:spPr>
      </p:sp>
      <p:sp>
        <p:nvSpPr>
          <p:cNvPr id="12" name="Shape 10"/>
          <p:cNvSpPr/>
          <p:nvPr/>
        </p:nvSpPr>
        <p:spPr>
          <a:xfrm>
            <a:off x="6255868" y="1554480"/>
            <a:ext cx="2331720" cy="777240"/>
          </a:xfrm>
          <a:prstGeom prst="roundRect">
            <a:avLst>
              <a:gd name="adj" fmla="val 9412"/>
            </a:avLst>
          </a:prstGeom>
          <a:solidFill>
            <a:srgbClr val="F5F6FA"/>
          </a:solidFill>
          <a:ln w="9525">
            <a:solidFill>
              <a:srgbClr val="E1E4EF"/>
            </a:solidFill>
            <a:prstDash val="solid"/>
          </a:ln>
        </p:spPr>
      </p:sp>
      <p:sp>
        <p:nvSpPr>
          <p:cNvPr id="13" name="Text 11"/>
          <p:cNvSpPr txBox="1"/>
          <p:nvPr/>
        </p:nvSpPr>
        <p:spPr>
          <a:xfrm>
            <a:off x="6255868" y="1554480"/>
            <a:ext cx="2331720" cy="777240"/>
          </a:xfrm>
          <a:prstGeom prst="rect">
            <a:avLst/>
          </a:prstGeom>
          <a:noFill/>
          <a:ln/>
        </p:spPr>
        <p:txBody>
          <a:bodyPr wrap="square" lIns="0" tIns="0" rIns="0" bIns="0" rtlCol="0" anchor="ctr"/>
          <a:lstStyle/>
          <a:p>
            <a:pPr algn="ctr" indent="0" marL="0">
              <a:buNone/>
            </a:pPr>
            <a:r>
              <a:rPr lang="en-US" sz="1300" b="1" dirty="0">
                <a:solidFill>
                  <a:srgbClr val="141B33"/>
                </a:solidFill>
                <a:latin typeface="Calibri" pitchFamily="34" charset="0"/>
                <a:ea typeface="Calibri" pitchFamily="34" charset="-122"/>
                <a:cs typeface="Calibri" pitchFamily="34" charset="-120"/>
              </a:rPr>
              <a:t>Refund / Dispute</a:t>
            </a:r>
            <a:endParaRPr lang="en-US" sz="1300" dirty="0"/>
          </a:p>
        </p:txBody>
      </p:sp>
      <p:sp>
        <p:nvSpPr>
          <p:cNvPr id="14" name="Shape 12"/>
          <p:cNvSpPr/>
          <p:nvPr/>
        </p:nvSpPr>
        <p:spPr>
          <a:xfrm>
            <a:off x="8647024" y="1832458"/>
            <a:ext cx="201168" cy="221285"/>
          </a:xfrm>
          <a:prstGeom prst="chevron">
            <a:avLst/>
          </a:prstGeom>
          <a:solidFill>
            <a:srgbClr val="9AA6C9"/>
          </a:solidFill>
          <a:ln/>
        </p:spPr>
      </p:sp>
      <p:sp>
        <p:nvSpPr>
          <p:cNvPr id="15" name="Shape 13"/>
          <p:cNvSpPr/>
          <p:nvPr/>
        </p:nvSpPr>
        <p:spPr>
          <a:xfrm>
            <a:off x="8907628" y="1554480"/>
            <a:ext cx="2331720" cy="777240"/>
          </a:xfrm>
          <a:prstGeom prst="roundRect">
            <a:avLst>
              <a:gd name="adj" fmla="val 9412"/>
            </a:avLst>
          </a:prstGeom>
          <a:solidFill>
            <a:srgbClr val="F5F6FA"/>
          </a:solidFill>
          <a:ln w="9525">
            <a:solidFill>
              <a:srgbClr val="E1E4EF"/>
            </a:solidFill>
            <a:prstDash val="solid"/>
          </a:ln>
        </p:spPr>
      </p:sp>
      <p:sp>
        <p:nvSpPr>
          <p:cNvPr id="16" name="Text 14"/>
          <p:cNvSpPr txBox="1"/>
          <p:nvPr/>
        </p:nvSpPr>
        <p:spPr>
          <a:xfrm>
            <a:off x="8907628" y="1554480"/>
            <a:ext cx="2331720" cy="777240"/>
          </a:xfrm>
          <a:prstGeom prst="rect">
            <a:avLst/>
          </a:prstGeom>
          <a:noFill/>
          <a:ln/>
        </p:spPr>
        <p:txBody>
          <a:bodyPr wrap="square" lIns="0" tIns="0" rIns="0" bIns="0" rtlCol="0" anchor="ctr"/>
          <a:lstStyle/>
          <a:p>
            <a:pPr algn="ctr" indent="0" marL="0">
              <a:buNone/>
            </a:pPr>
            <a:r>
              <a:rPr lang="en-US" sz="1300" b="1" dirty="0">
                <a:solidFill>
                  <a:srgbClr val="141B33"/>
                </a:solidFill>
                <a:latin typeface="Calibri" pitchFamily="34" charset="0"/>
                <a:ea typeface="Calibri" pitchFamily="34" charset="-122"/>
                <a:cs typeface="Calibri" pitchFamily="34" charset="-120"/>
              </a:rPr>
              <a:t>Ledger Close</a:t>
            </a:r>
            <a:endParaRPr lang="en-US" sz="1300" dirty="0"/>
          </a:p>
        </p:txBody>
      </p:sp>
      <p:sp>
        <p:nvSpPr>
          <p:cNvPr id="17" name="Shape 15"/>
          <p:cNvSpPr/>
          <p:nvPr/>
        </p:nvSpPr>
        <p:spPr>
          <a:xfrm>
            <a:off x="6095848" y="2331720"/>
            <a:ext cx="0" cy="384048"/>
          </a:xfrm>
          <a:prstGeom prst="line">
            <a:avLst/>
          </a:prstGeom>
          <a:noFill/>
          <a:ln w="19050">
            <a:solidFill>
              <a:srgbClr val="A63A2E"/>
            </a:solidFill>
            <a:prstDash val="dash"/>
          </a:ln>
        </p:spPr>
      </p:sp>
      <p:sp>
        <p:nvSpPr>
          <p:cNvPr id="18" name="Shape 16"/>
          <p:cNvSpPr/>
          <p:nvPr/>
        </p:nvSpPr>
        <p:spPr>
          <a:xfrm>
            <a:off x="5867248" y="2724912"/>
            <a:ext cx="457200" cy="457200"/>
          </a:xfrm>
          <a:prstGeom prst="ellipse">
            <a:avLst/>
          </a:prstGeom>
          <a:solidFill>
            <a:srgbClr val="A63A2E"/>
          </a:solidFill>
          <a:ln/>
        </p:spPr>
      </p:sp>
      <p:pic>
        <p:nvPicPr>
          <p:cNvPr id="19" name="Image 0" descr="preencoded.png">    </p:cNvPr>
          <p:cNvPicPr>
            <a:picLocks noChangeAspect="1"/>
          </p:cNvPicPr>
          <p:nvPr/>
        </p:nvPicPr>
        <p:blipFill>
          <a:blip r:embed="rId1"/>
          <a:stretch>
            <a:fillRect/>
          </a:stretch>
        </p:blipFill>
        <p:spPr>
          <a:xfrm>
            <a:off x="5976976" y="2834640"/>
            <a:ext cx="237744" cy="237744"/>
          </a:xfrm>
          <a:prstGeom prst="rect">
            <a:avLst/>
          </a:prstGeom>
        </p:spPr>
      </p:pic>
      <p:sp>
        <p:nvSpPr>
          <p:cNvPr id="20" name="Text 17"/>
          <p:cNvSpPr txBox="1"/>
          <p:nvPr/>
        </p:nvSpPr>
        <p:spPr>
          <a:xfrm>
            <a:off x="3718408" y="3227832"/>
            <a:ext cx="4754880" cy="457200"/>
          </a:xfrm>
          <a:prstGeom prst="rect">
            <a:avLst/>
          </a:prstGeom>
          <a:noFill/>
          <a:ln/>
        </p:spPr>
        <p:txBody>
          <a:bodyPr wrap="square" lIns="0" tIns="0" rIns="0" bIns="0" rtlCol="0" anchor="ctr"/>
          <a:lstStyle/>
          <a:p>
            <a:pPr algn="ctr" indent="0" marL="0">
              <a:buNone/>
            </a:pPr>
            <a:r>
              <a:rPr lang="en-US" sz="1100" i="1" dirty="0">
                <a:solidFill>
                  <a:srgbClr val="A63A2E"/>
                </a:solidFill>
                <a:latin typeface="Calibri" pitchFamily="34" charset="0"/>
                <a:ea typeface="Calibri" pitchFamily="34" charset="-122"/>
                <a:cs typeface="Calibri" pitchFamily="34" charset="-120"/>
              </a:rPr>
              <a:t>An exception falls here — reconciliation says “doesn’t match,” not why or how much</a:t>
            </a:r>
            <a:endParaRPr lang="en-US" sz="1100" dirty="0"/>
          </a:p>
        </p:txBody>
      </p:sp>
      <p:sp>
        <p:nvSpPr>
          <p:cNvPr id="21" name="Shape 18"/>
          <p:cNvSpPr/>
          <p:nvPr/>
        </p:nvSpPr>
        <p:spPr>
          <a:xfrm>
            <a:off x="691744" y="4018788"/>
            <a:ext cx="603504" cy="603504"/>
          </a:xfrm>
          <a:prstGeom prst="ellipse">
            <a:avLst/>
          </a:prstGeom>
          <a:solidFill>
            <a:srgbClr val="0F1428"/>
          </a:solidFill>
          <a:ln/>
        </p:spPr>
      </p:sp>
      <p:pic>
        <p:nvPicPr>
          <p:cNvPr id="22" name="Image 1" descr="preencoded.png">    </p:cNvPr>
          <p:cNvPicPr>
            <a:picLocks noChangeAspect="1"/>
          </p:cNvPicPr>
          <p:nvPr/>
        </p:nvPicPr>
        <p:blipFill>
          <a:blip r:embed="rId2"/>
          <a:stretch>
            <a:fillRect/>
          </a:stretch>
        </p:blipFill>
        <p:spPr>
          <a:xfrm>
            <a:off x="836585" y="4163629"/>
            <a:ext cx="313822" cy="313822"/>
          </a:xfrm>
          <a:prstGeom prst="rect">
            <a:avLst/>
          </a:prstGeom>
        </p:spPr>
      </p:pic>
      <p:sp>
        <p:nvSpPr>
          <p:cNvPr id="23" name="Text 19"/>
          <p:cNvSpPr txBox="1"/>
          <p:nvPr/>
        </p:nvSpPr>
        <p:spPr>
          <a:xfrm>
            <a:off x="1432408" y="3822192"/>
            <a:ext cx="4389120" cy="320040"/>
          </a:xfrm>
          <a:prstGeom prst="rect">
            <a:avLst/>
          </a:prstGeom>
          <a:noFill/>
          <a:ln/>
        </p:spPr>
        <p:txBody>
          <a:bodyPr wrap="square" lIns="0" tIns="0" rIns="0" bIns="0" rtlCol="0" anchor="ctr"/>
          <a:lstStyle/>
          <a:p>
            <a:pPr indent="0" marL="0">
              <a:buNone/>
            </a:pPr>
            <a:r>
              <a:rPr lang="en-US" sz="1350" b="1" dirty="0">
                <a:solidFill>
                  <a:srgbClr val="141B33"/>
                </a:solidFill>
                <a:latin typeface="Calibri" pitchFamily="34" charset="0"/>
                <a:ea typeface="Calibri" pitchFamily="34" charset="-122"/>
                <a:cs typeface="Calibri" pitchFamily="34" charset="-120"/>
              </a:rPr>
              <a:t>Fragmented data</a:t>
            </a:r>
            <a:endParaRPr lang="en-US" sz="1350" dirty="0"/>
          </a:p>
        </p:txBody>
      </p:sp>
      <p:sp>
        <p:nvSpPr>
          <p:cNvPr id="24" name="Text 20"/>
          <p:cNvSpPr txBox="1"/>
          <p:nvPr/>
        </p:nvSpPr>
        <p:spPr>
          <a:xfrm>
            <a:off x="1432408" y="4142232"/>
            <a:ext cx="4389120" cy="658368"/>
          </a:xfrm>
          <a:prstGeom prst="rect">
            <a:avLst/>
          </a:prstGeom>
          <a:noFill/>
          <a:ln/>
        </p:spPr>
        <p:txBody>
          <a:bodyPr wrap="square" lIns="0" tIns="0" rIns="0" bIns="0" rtlCol="0" anchor="ctr"/>
          <a:lstStyle/>
          <a:p>
            <a:pPr indent="0" marL="0">
              <a:lnSpc>
                <a:spcPct val="108000"/>
              </a:lnSpc>
              <a:buNone/>
            </a:pPr>
            <a:r>
              <a:rPr lang="en-US" sz="1100" dirty="0">
                <a:solidFill>
                  <a:srgbClr val="5B6584"/>
                </a:solidFill>
                <a:latin typeface="Calibri" pitchFamily="34" charset="0"/>
                <a:ea typeface="Calibri" pitchFamily="34" charset="-122"/>
                <a:cs typeface="Calibri" pitchFamily="34" charset="-120"/>
              </a:rPr>
              <a:t>Payments, settlements, refunds and disputes live in separate systems and timelines.</a:t>
            </a:r>
            <a:endParaRPr lang="en-US" sz="1100" dirty="0"/>
          </a:p>
        </p:txBody>
      </p:sp>
      <p:sp>
        <p:nvSpPr>
          <p:cNvPr id="25" name="Shape 21"/>
          <p:cNvSpPr/>
          <p:nvPr/>
        </p:nvSpPr>
        <p:spPr>
          <a:xfrm>
            <a:off x="6406744" y="4018788"/>
            <a:ext cx="603504" cy="603504"/>
          </a:xfrm>
          <a:prstGeom prst="ellipse">
            <a:avLst/>
          </a:prstGeom>
          <a:solidFill>
            <a:srgbClr val="0F1428"/>
          </a:solidFill>
          <a:ln/>
        </p:spPr>
      </p:sp>
      <p:pic>
        <p:nvPicPr>
          <p:cNvPr id="26" name="Image 2" descr="preencoded.png">    </p:cNvPr>
          <p:cNvPicPr>
            <a:picLocks noChangeAspect="1"/>
          </p:cNvPicPr>
          <p:nvPr/>
        </p:nvPicPr>
        <p:blipFill>
          <a:blip r:embed="rId3"/>
          <a:stretch>
            <a:fillRect/>
          </a:stretch>
        </p:blipFill>
        <p:spPr>
          <a:xfrm>
            <a:off x="6551585" y="4163629"/>
            <a:ext cx="313822" cy="313822"/>
          </a:xfrm>
          <a:prstGeom prst="rect">
            <a:avLst/>
          </a:prstGeom>
        </p:spPr>
      </p:pic>
      <p:sp>
        <p:nvSpPr>
          <p:cNvPr id="27" name="Text 22"/>
          <p:cNvSpPr txBox="1"/>
          <p:nvPr/>
        </p:nvSpPr>
        <p:spPr>
          <a:xfrm>
            <a:off x="7147408" y="3822192"/>
            <a:ext cx="4389120" cy="320040"/>
          </a:xfrm>
          <a:prstGeom prst="rect">
            <a:avLst/>
          </a:prstGeom>
          <a:noFill/>
          <a:ln/>
        </p:spPr>
        <p:txBody>
          <a:bodyPr wrap="square" lIns="0" tIns="0" rIns="0" bIns="0" rtlCol="0" anchor="ctr"/>
          <a:lstStyle/>
          <a:p>
            <a:pPr indent="0" marL="0">
              <a:buNone/>
            </a:pPr>
            <a:r>
              <a:rPr lang="en-US" sz="1350" b="1" dirty="0">
                <a:solidFill>
                  <a:srgbClr val="141B33"/>
                </a:solidFill>
                <a:latin typeface="Calibri" pitchFamily="34" charset="0"/>
                <a:ea typeface="Calibri" pitchFamily="34" charset="-122"/>
                <a:cs typeface="Calibri" pitchFamily="34" charset="-120"/>
              </a:rPr>
              <a:t>Manual investigation</a:t>
            </a:r>
            <a:endParaRPr lang="en-US" sz="1350" dirty="0"/>
          </a:p>
        </p:txBody>
      </p:sp>
      <p:sp>
        <p:nvSpPr>
          <p:cNvPr id="28" name="Text 23"/>
          <p:cNvSpPr txBox="1"/>
          <p:nvPr/>
        </p:nvSpPr>
        <p:spPr>
          <a:xfrm>
            <a:off x="7147408" y="4142232"/>
            <a:ext cx="4389120" cy="658368"/>
          </a:xfrm>
          <a:prstGeom prst="rect">
            <a:avLst/>
          </a:prstGeom>
          <a:noFill/>
          <a:ln/>
        </p:spPr>
        <p:txBody>
          <a:bodyPr wrap="square" lIns="0" tIns="0" rIns="0" bIns="0" rtlCol="0" anchor="ctr"/>
          <a:lstStyle/>
          <a:p>
            <a:pPr indent="0" marL="0">
              <a:lnSpc>
                <a:spcPct val="108000"/>
              </a:lnSpc>
              <a:buNone/>
            </a:pPr>
            <a:r>
              <a:rPr lang="en-US" sz="1100" dirty="0">
                <a:solidFill>
                  <a:srgbClr val="5B6584"/>
                </a:solidFill>
                <a:latin typeface="Calibri" pitchFamily="34" charset="0"/>
                <a:ea typeface="Calibri" pitchFamily="34" charset="-122"/>
                <a:cs typeface="Calibri" pitchFamily="34" charset="-120"/>
              </a:rPr>
              <a:t>Analysts re-derive the amount and the cause by hand, spreadsheet by spreadsheet.</a:t>
            </a:r>
            <a:endParaRPr lang="en-US" sz="1100" dirty="0"/>
          </a:p>
        </p:txBody>
      </p:sp>
      <p:sp>
        <p:nvSpPr>
          <p:cNvPr id="29" name="Shape 24"/>
          <p:cNvSpPr/>
          <p:nvPr/>
        </p:nvSpPr>
        <p:spPr>
          <a:xfrm>
            <a:off x="691744" y="5344668"/>
            <a:ext cx="603504" cy="603504"/>
          </a:xfrm>
          <a:prstGeom prst="ellipse">
            <a:avLst/>
          </a:prstGeom>
          <a:solidFill>
            <a:srgbClr val="0F1428"/>
          </a:solidFill>
          <a:ln/>
        </p:spPr>
      </p:sp>
      <p:pic>
        <p:nvPicPr>
          <p:cNvPr id="30" name="Image 3" descr="preencoded.png">    </p:cNvPr>
          <p:cNvPicPr>
            <a:picLocks noChangeAspect="1"/>
          </p:cNvPicPr>
          <p:nvPr/>
        </p:nvPicPr>
        <p:blipFill>
          <a:blip r:embed="rId4"/>
          <a:stretch>
            <a:fillRect/>
          </a:stretch>
        </p:blipFill>
        <p:spPr>
          <a:xfrm>
            <a:off x="836585" y="5489509"/>
            <a:ext cx="313822" cy="313822"/>
          </a:xfrm>
          <a:prstGeom prst="rect">
            <a:avLst/>
          </a:prstGeom>
        </p:spPr>
      </p:pic>
      <p:sp>
        <p:nvSpPr>
          <p:cNvPr id="31" name="Text 25"/>
          <p:cNvSpPr txBox="1"/>
          <p:nvPr/>
        </p:nvSpPr>
        <p:spPr>
          <a:xfrm>
            <a:off x="1432408" y="5148072"/>
            <a:ext cx="4389120" cy="320040"/>
          </a:xfrm>
          <a:prstGeom prst="rect">
            <a:avLst/>
          </a:prstGeom>
          <a:noFill/>
          <a:ln/>
        </p:spPr>
        <p:txBody>
          <a:bodyPr wrap="square" lIns="0" tIns="0" rIns="0" bIns="0" rtlCol="0" anchor="ctr"/>
          <a:lstStyle/>
          <a:p>
            <a:pPr indent="0" marL="0">
              <a:buNone/>
            </a:pPr>
            <a:r>
              <a:rPr lang="en-US" sz="1350" b="1" dirty="0">
                <a:solidFill>
                  <a:srgbClr val="141B33"/>
                </a:solidFill>
                <a:latin typeface="Calibri" pitchFamily="34" charset="0"/>
                <a:ea typeface="Calibri" pitchFamily="34" charset="-122"/>
                <a:cs typeface="Calibri" pitchFamily="34" charset="-120"/>
              </a:rPr>
              <a:t>Mismatch ≠ cause</a:t>
            </a:r>
            <a:endParaRPr lang="en-US" sz="1350" dirty="0"/>
          </a:p>
        </p:txBody>
      </p:sp>
      <p:sp>
        <p:nvSpPr>
          <p:cNvPr id="32" name="Text 26"/>
          <p:cNvSpPr txBox="1"/>
          <p:nvPr/>
        </p:nvSpPr>
        <p:spPr>
          <a:xfrm>
            <a:off x="1432408" y="5468112"/>
            <a:ext cx="4389120" cy="658368"/>
          </a:xfrm>
          <a:prstGeom prst="rect">
            <a:avLst/>
          </a:prstGeom>
          <a:noFill/>
          <a:ln/>
        </p:spPr>
        <p:txBody>
          <a:bodyPr wrap="square" lIns="0" tIns="0" rIns="0" bIns="0" rtlCol="0" anchor="ctr"/>
          <a:lstStyle/>
          <a:p>
            <a:pPr indent="0" marL="0">
              <a:lnSpc>
                <a:spcPct val="108000"/>
              </a:lnSpc>
              <a:buNone/>
            </a:pPr>
            <a:r>
              <a:rPr lang="en-US" sz="1100" dirty="0">
                <a:solidFill>
                  <a:srgbClr val="5B6584"/>
                </a:solidFill>
                <a:latin typeface="Calibri" pitchFamily="34" charset="0"/>
                <a:ea typeface="Calibri" pitchFamily="34" charset="-122"/>
                <a:cs typeface="Calibri" pitchFamily="34" charset="-120"/>
              </a:rPr>
              <a:t>Reconciliation flags that numbers disagree — not why, or how much is really at risk.</a:t>
            </a:r>
            <a:endParaRPr lang="en-US" sz="1100" dirty="0"/>
          </a:p>
        </p:txBody>
      </p:sp>
      <p:sp>
        <p:nvSpPr>
          <p:cNvPr id="33" name="Shape 27"/>
          <p:cNvSpPr/>
          <p:nvPr/>
        </p:nvSpPr>
        <p:spPr>
          <a:xfrm>
            <a:off x="6406744" y="5344668"/>
            <a:ext cx="603504" cy="603504"/>
          </a:xfrm>
          <a:prstGeom prst="ellipse">
            <a:avLst/>
          </a:prstGeom>
          <a:solidFill>
            <a:srgbClr val="0F1428"/>
          </a:solidFill>
          <a:ln/>
        </p:spPr>
      </p:sp>
      <p:pic>
        <p:nvPicPr>
          <p:cNvPr id="34" name="Image 4" descr="preencoded.png">    </p:cNvPr>
          <p:cNvPicPr>
            <a:picLocks noChangeAspect="1"/>
          </p:cNvPicPr>
          <p:nvPr/>
        </p:nvPicPr>
        <p:blipFill>
          <a:blip r:embed="rId5"/>
          <a:stretch>
            <a:fillRect/>
          </a:stretch>
        </p:blipFill>
        <p:spPr>
          <a:xfrm>
            <a:off x="6551585" y="5489509"/>
            <a:ext cx="313822" cy="313822"/>
          </a:xfrm>
          <a:prstGeom prst="rect">
            <a:avLst/>
          </a:prstGeom>
        </p:spPr>
      </p:pic>
      <p:sp>
        <p:nvSpPr>
          <p:cNvPr id="35" name="Text 28"/>
          <p:cNvSpPr txBox="1"/>
          <p:nvPr/>
        </p:nvSpPr>
        <p:spPr>
          <a:xfrm>
            <a:off x="7147408" y="5148072"/>
            <a:ext cx="4389120" cy="320040"/>
          </a:xfrm>
          <a:prstGeom prst="rect">
            <a:avLst/>
          </a:prstGeom>
          <a:noFill/>
          <a:ln/>
        </p:spPr>
        <p:txBody>
          <a:bodyPr wrap="square" lIns="0" tIns="0" rIns="0" bIns="0" rtlCol="0" anchor="ctr"/>
          <a:lstStyle/>
          <a:p>
            <a:pPr indent="0" marL="0">
              <a:buNone/>
            </a:pPr>
            <a:r>
              <a:rPr lang="en-US" sz="1350" b="1" dirty="0">
                <a:solidFill>
                  <a:srgbClr val="141B33"/>
                </a:solidFill>
                <a:latin typeface="Calibri" pitchFamily="34" charset="0"/>
                <a:ea typeface="Calibri" pitchFamily="34" charset="-122"/>
                <a:cs typeface="Calibri" pitchFamily="34" charset="-120"/>
              </a:rPr>
              <a:t>Slow resolution</a:t>
            </a:r>
            <a:endParaRPr lang="en-US" sz="1350" dirty="0"/>
          </a:p>
        </p:txBody>
      </p:sp>
      <p:sp>
        <p:nvSpPr>
          <p:cNvPr id="36" name="Text 29"/>
          <p:cNvSpPr txBox="1"/>
          <p:nvPr/>
        </p:nvSpPr>
        <p:spPr>
          <a:xfrm>
            <a:off x="7147408" y="5468112"/>
            <a:ext cx="4389120" cy="658368"/>
          </a:xfrm>
          <a:prstGeom prst="rect">
            <a:avLst/>
          </a:prstGeom>
          <a:noFill/>
          <a:ln/>
        </p:spPr>
        <p:txBody>
          <a:bodyPr wrap="square" lIns="0" tIns="0" rIns="0" bIns="0" rtlCol="0" anchor="ctr"/>
          <a:lstStyle/>
          <a:p>
            <a:pPr indent="0" marL="0">
              <a:lnSpc>
                <a:spcPct val="108000"/>
              </a:lnSpc>
              <a:buNone/>
            </a:pPr>
            <a:r>
              <a:rPr lang="en-US" sz="1100" dirty="0">
                <a:solidFill>
                  <a:srgbClr val="5B6584"/>
                </a:solidFill>
                <a:latin typeface="Calibri" pitchFamily="34" charset="0"/>
                <a:ea typeface="Calibri" pitchFamily="34" charset="-122"/>
                <a:cs typeface="Calibri" pitchFamily="34" charset="-120"/>
              </a:rPr>
              <a:t>While it sits under investigation, the money — and the merchant relationship — stays at risk.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60704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THE PRODUCT</a:t>
            </a:r>
            <a:endParaRPr lang="en-US" sz="1200" dirty="0"/>
          </a:p>
        </p:txBody>
      </p:sp>
      <p:sp>
        <p:nvSpPr>
          <p:cNvPr id="3" name="Text 1"/>
          <p:cNvSpPr txBox="1"/>
          <p:nvPr/>
        </p:nvSpPr>
        <p:spPr>
          <a:xfrm>
            <a:off x="548640" y="658368"/>
            <a:ext cx="1060704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One pipeline: from raw data to a safe, logged action</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03 / 12</a:t>
            </a:r>
            <a:endParaRPr lang="en-US" sz="900" dirty="0"/>
          </a:p>
        </p:txBody>
      </p:sp>
      <p:sp>
        <p:nvSpPr>
          <p:cNvPr id="6" name="Shape 4"/>
          <p:cNvSpPr/>
          <p:nvPr/>
        </p:nvSpPr>
        <p:spPr>
          <a:xfrm>
            <a:off x="870052" y="1965960"/>
            <a:ext cx="713232" cy="713232"/>
          </a:xfrm>
          <a:prstGeom prst="ellipse">
            <a:avLst/>
          </a:prstGeom>
          <a:solidFill>
            <a:srgbClr val="0F1428"/>
          </a:solidFill>
          <a:ln/>
        </p:spPr>
      </p:sp>
      <p:pic>
        <p:nvPicPr>
          <p:cNvPr id="7" name="Image 0" descr="preencoded.png">    </p:cNvPr>
          <p:cNvPicPr>
            <a:picLocks noChangeAspect="1"/>
          </p:cNvPicPr>
          <p:nvPr/>
        </p:nvPicPr>
        <p:blipFill>
          <a:blip r:embed="rId1"/>
          <a:stretch>
            <a:fillRect/>
          </a:stretch>
        </p:blipFill>
        <p:spPr>
          <a:xfrm>
            <a:off x="1041227" y="2137136"/>
            <a:ext cx="370881" cy="370881"/>
          </a:xfrm>
          <a:prstGeom prst="rect">
            <a:avLst/>
          </a:prstGeom>
        </p:spPr>
      </p:pic>
      <p:sp>
        <p:nvSpPr>
          <p:cNvPr id="8" name="Text 5"/>
          <p:cNvSpPr txBox="1"/>
          <p:nvPr/>
        </p:nvSpPr>
        <p:spPr>
          <a:xfrm>
            <a:off x="394564" y="2880360"/>
            <a:ext cx="1664208" cy="411480"/>
          </a:xfrm>
          <a:prstGeom prst="rect">
            <a:avLst/>
          </a:prstGeom>
          <a:noFill/>
          <a:ln/>
        </p:spPr>
        <p:txBody>
          <a:bodyPr wrap="square" lIns="0" tIns="0" rIns="0" bIns="0" rtlCol="0" anchor="ctr"/>
          <a:lstStyle/>
          <a:p>
            <a:pPr algn="ctr" indent="0" marL="0">
              <a:buNone/>
            </a:pPr>
            <a:r>
              <a:rPr lang="en-US" sz="1150" b="1" spc="50" kern="0" dirty="0">
                <a:solidFill>
                  <a:srgbClr val="141B33"/>
                </a:solidFill>
                <a:latin typeface="Calibri" pitchFamily="34" charset="0"/>
                <a:ea typeface="Calibri" pitchFamily="34" charset="-122"/>
                <a:cs typeface="Calibri" pitchFamily="34" charset="-120"/>
              </a:rPr>
              <a:t>DATA</a:t>
            </a:r>
            <a:endParaRPr lang="en-US" sz="1150" dirty="0"/>
          </a:p>
        </p:txBody>
      </p:sp>
      <p:sp>
        <p:nvSpPr>
          <p:cNvPr id="9" name="Text 6"/>
          <p:cNvSpPr txBox="1"/>
          <p:nvPr/>
        </p:nvSpPr>
        <p:spPr>
          <a:xfrm>
            <a:off x="412852" y="3300984"/>
            <a:ext cx="1627632" cy="1554480"/>
          </a:xfrm>
          <a:prstGeom prst="rect">
            <a:avLst/>
          </a:prstGeom>
          <a:noFill/>
          <a:ln/>
        </p:spPr>
        <p:txBody>
          <a:bodyPr wrap="square" lIns="0" tIns="0" rIns="0" bIns="0" rtlCol="0" anchor="ctr"/>
          <a:lstStyle/>
          <a:p>
            <a:pPr algn="ctr" indent="0" marL="0">
              <a:lnSpc>
                <a:spcPct val="112000"/>
              </a:lnSpc>
              <a:buNone/>
            </a:pPr>
            <a:r>
              <a:rPr lang="en-US" sz="1030" dirty="0">
                <a:solidFill>
                  <a:srgbClr val="5B6584"/>
                </a:solidFill>
                <a:latin typeface="Calibri" pitchFamily="34" charset="0"/>
                <a:ea typeface="Calibri" pitchFamily="34" charset="-122"/>
                <a:cs typeface="Calibri" pitchFamily="34" charset="-120"/>
              </a:rPr>
              <a:t>Payments, settlements, refunds, disputes, bank credits</a:t>
            </a:r>
            <a:endParaRPr lang="en-US" sz="1030" dirty="0"/>
          </a:p>
        </p:txBody>
      </p:sp>
      <p:sp>
        <p:nvSpPr>
          <p:cNvPr id="10" name="Shape 7"/>
          <p:cNvSpPr/>
          <p:nvPr/>
        </p:nvSpPr>
        <p:spPr>
          <a:xfrm>
            <a:off x="1965046" y="2242109"/>
            <a:ext cx="146304" cy="160934"/>
          </a:xfrm>
          <a:prstGeom prst="chevron">
            <a:avLst/>
          </a:prstGeom>
          <a:solidFill>
            <a:srgbClr val="C7CCE0"/>
          </a:solidFill>
          <a:ln/>
        </p:spPr>
      </p:sp>
      <p:sp>
        <p:nvSpPr>
          <p:cNvPr id="11" name="Shape 8"/>
          <p:cNvSpPr/>
          <p:nvPr/>
        </p:nvSpPr>
        <p:spPr>
          <a:xfrm>
            <a:off x="2493112" y="1965960"/>
            <a:ext cx="713232" cy="713232"/>
          </a:xfrm>
          <a:prstGeom prst="ellipse">
            <a:avLst/>
          </a:prstGeom>
          <a:solidFill>
            <a:srgbClr val="0F1428"/>
          </a:solidFill>
          <a:ln/>
        </p:spPr>
      </p:sp>
      <p:pic>
        <p:nvPicPr>
          <p:cNvPr id="12" name="Image 1" descr="preencoded.png">    </p:cNvPr>
          <p:cNvPicPr>
            <a:picLocks noChangeAspect="1"/>
          </p:cNvPicPr>
          <p:nvPr/>
        </p:nvPicPr>
        <p:blipFill>
          <a:blip r:embed="rId2"/>
          <a:stretch>
            <a:fillRect/>
          </a:stretch>
        </p:blipFill>
        <p:spPr>
          <a:xfrm>
            <a:off x="2664287" y="2137136"/>
            <a:ext cx="370881" cy="370881"/>
          </a:xfrm>
          <a:prstGeom prst="rect">
            <a:avLst/>
          </a:prstGeom>
        </p:spPr>
      </p:pic>
      <p:sp>
        <p:nvSpPr>
          <p:cNvPr id="13" name="Text 9"/>
          <p:cNvSpPr txBox="1"/>
          <p:nvPr/>
        </p:nvSpPr>
        <p:spPr>
          <a:xfrm>
            <a:off x="2017624" y="2880360"/>
            <a:ext cx="1664208" cy="411480"/>
          </a:xfrm>
          <a:prstGeom prst="rect">
            <a:avLst/>
          </a:prstGeom>
          <a:noFill/>
          <a:ln/>
        </p:spPr>
        <p:txBody>
          <a:bodyPr wrap="square" lIns="0" tIns="0" rIns="0" bIns="0" rtlCol="0" anchor="ctr"/>
          <a:lstStyle/>
          <a:p>
            <a:pPr algn="ctr" indent="0" marL="0">
              <a:buNone/>
            </a:pPr>
            <a:r>
              <a:rPr lang="en-US" sz="1150" b="1" spc="50" kern="0" dirty="0">
                <a:solidFill>
                  <a:srgbClr val="141B33"/>
                </a:solidFill>
                <a:latin typeface="Calibri" pitchFamily="34" charset="0"/>
                <a:ea typeface="Calibri" pitchFamily="34" charset="-122"/>
                <a:cs typeface="Calibri" pitchFamily="34" charset="-120"/>
              </a:rPr>
              <a:t>DETECTION</a:t>
            </a:r>
            <a:endParaRPr lang="en-US" sz="1150" dirty="0"/>
          </a:p>
        </p:txBody>
      </p:sp>
      <p:sp>
        <p:nvSpPr>
          <p:cNvPr id="14" name="Text 10"/>
          <p:cNvSpPr txBox="1"/>
          <p:nvPr/>
        </p:nvSpPr>
        <p:spPr>
          <a:xfrm>
            <a:off x="2035912" y="3300984"/>
            <a:ext cx="1627632" cy="1554480"/>
          </a:xfrm>
          <a:prstGeom prst="rect">
            <a:avLst/>
          </a:prstGeom>
          <a:noFill/>
          <a:ln/>
        </p:spPr>
        <p:txBody>
          <a:bodyPr wrap="square" lIns="0" tIns="0" rIns="0" bIns="0" rtlCol="0" anchor="ctr"/>
          <a:lstStyle/>
          <a:p>
            <a:pPr algn="ctr" indent="0" marL="0">
              <a:lnSpc>
                <a:spcPct val="112000"/>
              </a:lnSpc>
              <a:buNone/>
            </a:pPr>
            <a:r>
              <a:rPr lang="en-US" sz="1030" dirty="0">
                <a:solidFill>
                  <a:srgbClr val="5B6584"/>
                </a:solidFill>
                <a:latin typeface="Calibri" pitchFamily="34" charset="0"/>
                <a:ea typeface="Calibri" pitchFamily="34" charset="-122"/>
                <a:cs typeface="Calibri" pitchFamily="34" charset="-120"/>
              </a:rPr>
              <a:t>11 detectors — statistical rules plus a trained ML model</a:t>
            </a:r>
            <a:endParaRPr lang="en-US" sz="1030" dirty="0"/>
          </a:p>
        </p:txBody>
      </p:sp>
      <p:sp>
        <p:nvSpPr>
          <p:cNvPr id="15" name="Shape 11"/>
          <p:cNvSpPr/>
          <p:nvPr/>
        </p:nvSpPr>
        <p:spPr>
          <a:xfrm>
            <a:off x="3588106" y="2242109"/>
            <a:ext cx="146304" cy="160934"/>
          </a:xfrm>
          <a:prstGeom prst="chevron">
            <a:avLst/>
          </a:prstGeom>
          <a:solidFill>
            <a:srgbClr val="C7CCE0"/>
          </a:solidFill>
          <a:ln/>
        </p:spPr>
      </p:sp>
      <p:sp>
        <p:nvSpPr>
          <p:cNvPr id="16" name="Shape 12"/>
          <p:cNvSpPr/>
          <p:nvPr/>
        </p:nvSpPr>
        <p:spPr>
          <a:xfrm>
            <a:off x="4116172" y="1965960"/>
            <a:ext cx="713232" cy="713232"/>
          </a:xfrm>
          <a:prstGeom prst="ellipse">
            <a:avLst/>
          </a:prstGeom>
          <a:solidFill>
            <a:srgbClr val="0F1428"/>
          </a:solidFill>
          <a:ln/>
        </p:spPr>
      </p:sp>
      <p:pic>
        <p:nvPicPr>
          <p:cNvPr id="17" name="Image 2" descr="preencoded.png">    </p:cNvPr>
          <p:cNvPicPr>
            <a:picLocks noChangeAspect="1"/>
          </p:cNvPicPr>
          <p:nvPr/>
        </p:nvPicPr>
        <p:blipFill>
          <a:blip r:embed="rId3"/>
          <a:stretch>
            <a:fillRect/>
          </a:stretch>
        </p:blipFill>
        <p:spPr>
          <a:xfrm>
            <a:off x="4287347" y="2137136"/>
            <a:ext cx="370881" cy="370881"/>
          </a:xfrm>
          <a:prstGeom prst="rect">
            <a:avLst/>
          </a:prstGeom>
        </p:spPr>
      </p:pic>
      <p:sp>
        <p:nvSpPr>
          <p:cNvPr id="18" name="Text 13"/>
          <p:cNvSpPr txBox="1"/>
          <p:nvPr/>
        </p:nvSpPr>
        <p:spPr>
          <a:xfrm>
            <a:off x="3640684" y="2880360"/>
            <a:ext cx="1664208" cy="411480"/>
          </a:xfrm>
          <a:prstGeom prst="rect">
            <a:avLst/>
          </a:prstGeom>
          <a:noFill/>
          <a:ln/>
        </p:spPr>
        <p:txBody>
          <a:bodyPr wrap="square" lIns="0" tIns="0" rIns="0" bIns="0" rtlCol="0" anchor="ctr"/>
          <a:lstStyle/>
          <a:p>
            <a:pPr algn="ctr" indent="0" marL="0">
              <a:buNone/>
            </a:pPr>
            <a:r>
              <a:rPr lang="en-US" sz="1150" b="1" spc="50" kern="0" dirty="0">
                <a:solidFill>
                  <a:srgbClr val="141B33"/>
                </a:solidFill>
                <a:latin typeface="Calibri" pitchFamily="34" charset="0"/>
                <a:ea typeface="Calibri" pitchFamily="34" charset="-122"/>
                <a:cs typeface="Calibri" pitchFamily="34" charset="-120"/>
              </a:rPr>
              <a:t>MONEY AT RISK</a:t>
            </a:r>
            <a:endParaRPr lang="en-US" sz="1150" dirty="0"/>
          </a:p>
        </p:txBody>
      </p:sp>
      <p:sp>
        <p:nvSpPr>
          <p:cNvPr id="19" name="Text 14"/>
          <p:cNvSpPr txBox="1"/>
          <p:nvPr/>
        </p:nvSpPr>
        <p:spPr>
          <a:xfrm>
            <a:off x="3658972" y="3300984"/>
            <a:ext cx="1627632" cy="1554480"/>
          </a:xfrm>
          <a:prstGeom prst="rect">
            <a:avLst/>
          </a:prstGeom>
          <a:noFill/>
          <a:ln/>
        </p:spPr>
        <p:txBody>
          <a:bodyPr wrap="square" lIns="0" tIns="0" rIns="0" bIns="0" rtlCol="0" anchor="ctr"/>
          <a:lstStyle/>
          <a:p>
            <a:pPr algn="ctr" indent="0" marL="0">
              <a:lnSpc>
                <a:spcPct val="112000"/>
              </a:lnSpc>
              <a:buNone/>
            </a:pPr>
            <a:r>
              <a:rPr lang="en-US" sz="1030" dirty="0">
                <a:solidFill>
                  <a:srgbClr val="5B6584"/>
                </a:solidFill>
                <a:latin typeface="Calibri" pitchFamily="34" charset="0"/>
                <a:ea typeface="Calibri" pitchFamily="34" charset="-122"/>
                <a:cs typeface="Calibri" pitchFamily="34" charset="-120"/>
              </a:rPr>
              <a:t>Exact rupee amount, computed — never guessed</a:t>
            </a:r>
            <a:endParaRPr lang="en-US" sz="1030" dirty="0"/>
          </a:p>
        </p:txBody>
      </p:sp>
      <p:sp>
        <p:nvSpPr>
          <p:cNvPr id="20" name="Shape 15"/>
          <p:cNvSpPr/>
          <p:nvPr/>
        </p:nvSpPr>
        <p:spPr>
          <a:xfrm>
            <a:off x="5211166" y="2242109"/>
            <a:ext cx="146304" cy="160934"/>
          </a:xfrm>
          <a:prstGeom prst="chevron">
            <a:avLst/>
          </a:prstGeom>
          <a:solidFill>
            <a:srgbClr val="C7CCE0"/>
          </a:solidFill>
          <a:ln/>
        </p:spPr>
      </p:sp>
      <p:sp>
        <p:nvSpPr>
          <p:cNvPr id="21" name="Shape 16"/>
          <p:cNvSpPr/>
          <p:nvPr/>
        </p:nvSpPr>
        <p:spPr>
          <a:xfrm>
            <a:off x="5739232" y="1965960"/>
            <a:ext cx="713232" cy="713232"/>
          </a:xfrm>
          <a:prstGeom prst="ellipse">
            <a:avLst/>
          </a:prstGeom>
          <a:solidFill>
            <a:srgbClr val="0F1428"/>
          </a:solidFill>
          <a:ln/>
        </p:spPr>
      </p:sp>
      <p:pic>
        <p:nvPicPr>
          <p:cNvPr id="22" name="Image 3" descr="preencoded.png">    </p:cNvPr>
          <p:cNvPicPr>
            <a:picLocks noChangeAspect="1"/>
          </p:cNvPicPr>
          <p:nvPr/>
        </p:nvPicPr>
        <p:blipFill>
          <a:blip r:embed="rId4"/>
          <a:stretch>
            <a:fillRect/>
          </a:stretch>
        </p:blipFill>
        <p:spPr>
          <a:xfrm>
            <a:off x="5910407" y="2137136"/>
            <a:ext cx="370881" cy="370881"/>
          </a:xfrm>
          <a:prstGeom prst="rect">
            <a:avLst/>
          </a:prstGeom>
        </p:spPr>
      </p:pic>
      <p:sp>
        <p:nvSpPr>
          <p:cNvPr id="23" name="Text 17"/>
          <p:cNvSpPr txBox="1"/>
          <p:nvPr/>
        </p:nvSpPr>
        <p:spPr>
          <a:xfrm>
            <a:off x="5263744" y="2880360"/>
            <a:ext cx="1664208" cy="411480"/>
          </a:xfrm>
          <a:prstGeom prst="rect">
            <a:avLst/>
          </a:prstGeom>
          <a:noFill/>
          <a:ln/>
        </p:spPr>
        <p:txBody>
          <a:bodyPr wrap="square" lIns="0" tIns="0" rIns="0" bIns="0" rtlCol="0" anchor="ctr"/>
          <a:lstStyle/>
          <a:p>
            <a:pPr algn="ctr" indent="0" marL="0">
              <a:buNone/>
            </a:pPr>
            <a:r>
              <a:rPr lang="en-US" sz="1150" b="1" spc="50" kern="0" dirty="0">
                <a:solidFill>
                  <a:srgbClr val="141B33"/>
                </a:solidFill>
                <a:latin typeface="Calibri" pitchFamily="34" charset="0"/>
                <a:ea typeface="Calibri" pitchFamily="34" charset="-122"/>
                <a:cs typeface="Calibri" pitchFamily="34" charset="-120"/>
              </a:rPr>
              <a:t>ROOT CAUSE</a:t>
            </a:r>
            <a:endParaRPr lang="en-US" sz="1150" dirty="0"/>
          </a:p>
        </p:txBody>
      </p:sp>
      <p:sp>
        <p:nvSpPr>
          <p:cNvPr id="24" name="Text 18"/>
          <p:cNvSpPr txBox="1"/>
          <p:nvPr/>
        </p:nvSpPr>
        <p:spPr>
          <a:xfrm>
            <a:off x="5282032" y="3300984"/>
            <a:ext cx="1627632" cy="1554480"/>
          </a:xfrm>
          <a:prstGeom prst="rect">
            <a:avLst/>
          </a:prstGeom>
          <a:noFill/>
          <a:ln/>
        </p:spPr>
        <p:txBody>
          <a:bodyPr wrap="square" lIns="0" tIns="0" rIns="0" bIns="0" rtlCol="0" anchor="ctr"/>
          <a:lstStyle/>
          <a:p>
            <a:pPr algn="ctr" indent="0" marL="0">
              <a:lnSpc>
                <a:spcPct val="112000"/>
              </a:lnSpc>
              <a:buNone/>
            </a:pPr>
            <a:r>
              <a:rPr lang="en-US" sz="1030" dirty="0">
                <a:solidFill>
                  <a:srgbClr val="5B6584"/>
                </a:solidFill>
                <a:latin typeface="Calibri" pitchFamily="34" charset="0"/>
                <a:ea typeface="Calibri" pitchFamily="34" charset="-122"/>
                <a:cs typeface="Calibri" pitchFamily="34" charset="-120"/>
              </a:rPr>
              <a:t>Evidence-based, deterministic diagnosis</a:t>
            </a:r>
            <a:endParaRPr lang="en-US" sz="1030" dirty="0"/>
          </a:p>
        </p:txBody>
      </p:sp>
      <p:sp>
        <p:nvSpPr>
          <p:cNvPr id="25" name="Shape 19"/>
          <p:cNvSpPr/>
          <p:nvPr/>
        </p:nvSpPr>
        <p:spPr>
          <a:xfrm>
            <a:off x="6834226" y="2242109"/>
            <a:ext cx="146304" cy="160934"/>
          </a:xfrm>
          <a:prstGeom prst="chevron">
            <a:avLst/>
          </a:prstGeom>
          <a:solidFill>
            <a:srgbClr val="C7CCE0"/>
          </a:solidFill>
          <a:ln/>
        </p:spPr>
      </p:sp>
      <p:sp>
        <p:nvSpPr>
          <p:cNvPr id="26" name="Shape 20"/>
          <p:cNvSpPr/>
          <p:nvPr/>
        </p:nvSpPr>
        <p:spPr>
          <a:xfrm>
            <a:off x="7362292" y="1965960"/>
            <a:ext cx="713232" cy="713232"/>
          </a:xfrm>
          <a:prstGeom prst="ellipse">
            <a:avLst/>
          </a:prstGeom>
          <a:solidFill>
            <a:srgbClr val="0F1428"/>
          </a:solidFill>
          <a:ln/>
        </p:spPr>
      </p:sp>
      <p:pic>
        <p:nvPicPr>
          <p:cNvPr id="27" name="Image 4" descr="preencoded.png">    </p:cNvPr>
          <p:cNvPicPr>
            <a:picLocks noChangeAspect="1"/>
          </p:cNvPicPr>
          <p:nvPr/>
        </p:nvPicPr>
        <p:blipFill>
          <a:blip r:embed="rId5"/>
          <a:stretch>
            <a:fillRect/>
          </a:stretch>
        </p:blipFill>
        <p:spPr>
          <a:xfrm>
            <a:off x="7533467" y="2137136"/>
            <a:ext cx="370881" cy="370881"/>
          </a:xfrm>
          <a:prstGeom prst="rect">
            <a:avLst/>
          </a:prstGeom>
        </p:spPr>
      </p:pic>
      <p:sp>
        <p:nvSpPr>
          <p:cNvPr id="28" name="Text 21"/>
          <p:cNvSpPr txBox="1"/>
          <p:nvPr/>
        </p:nvSpPr>
        <p:spPr>
          <a:xfrm>
            <a:off x="6886804" y="2880360"/>
            <a:ext cx="1664208" cy="411480"/>
          </a:xfrm>
          <a:prstGeom prst="rect">
            <a:avLst/>
          </a:prstGeom>
          <a:noFill/>
          <a:ln/>
        </p:spPr>
        <p:txBody>
          <a:bodyPr wrap="square" lIns="0" tIns="0" rIns="0" bIns="0" rtlCol="0" anchor="ctr"/>
          <a:lstStyle/>
          <a:p>
            <a:pPr algn="ctr" indent="0" marL="0">
              <a:buNone/>
            </a:pPr>
            <a:r>
              <a:rPr lang="en-US" sz="1150" b="1" spc="50" kern="0" dirty="0">
                <a:solidFill>
                  <a:srgbClr val="141B33"/>
                </a:solidFill>
                <a:latin typeface="Calibri" pitchFamily="34" charset="0"/>
                <a:ea typeface="Calibri" pitchFamily="34" charset="-122"/>
                <a:cs typeface="Calibri" pitchFamily="34" charset="-120"/>
              </a:rPr>
              <a:t>DECISION</a:t>
            </a:r>
            <a:endParaRPr lang="en-US" sz="1150" dirty="0"/>
          </a:p>
        </p:txBody>
      </p:sp>
      <p:sp>
        <p:nvSpPr>
          <p:cNvPr id="29" name="Text 22"/>
          <p:cNvSpPr txBox="1"/>
          <p:nvPr/>
        </p:nvSpPr>
        <p:spPr>
          <a:xfrm>
            <a:off x="6905092" y="3300984"/>
            <a:ext cx="1627632" cy="1554480"/>
          </a:xfrm>
          <a:prstGeom prst="rect">
            <a:avLst/>
          </a:prstGeom>
          <a:noFill/>
          <a:ln/>
        </p:spPr>
        <p:txBody>
          <a:bodyPr wrap="square" lIns="0" tIns="0" rIns="0" bIns="0" rtlCol="0" anchor="ctr"/>
          <a:lstStyle/>
          <a:p>
            <a:pPr algn="ctr" indent="0" marL="0">
              <a:lnSpc>
                <a:spcPct val="112000"/>
              </a:lnSpc>
              <a:buNone/>
            </a:pPr>
            <a:r>
              <a:rPr lang="en-US" sz="1030" dirty="0">
                <a:solidFill>
                  <a:srgbClr val="5B6584"/>
                </a:solidFill>
                <a:latin typeface="Calibri" pitchFamily="34" charset="0"/>
                <a:ea typeface="Calibri" pitchFamily="34" charset="-122"/>
                <a:cs typeface="Calibri" pitchFamily="34" charset="-120"/>
              </a:rPr>
              <a:t>Confidence + amount → auto / review / escalate</a:t>
            </a:r>
            <a:endParaRPr lang="en-US" sz="1030" dirty="0"/>
          </a:p>
        </p:txBody>
      </p:sp>
      <p:sp>
        <p:nvSpPr>
          <p:cNvPr id="30" name="Shape 23"/>
          <p:cNvSpPr/>
          <p:nvPr/>
        </p:nvSpPr>
        <p:spPr>
          <a:xfrm>
            <a:off x="8457286" y="2242109"/>
            <a:ext cx="146304" cy="160934"/>
          </a:xfrm>
          <a:prstGeom prst="chevron">
            <a:avLst/>
          </a:prstGeom>
          <a:solidFill>
            <a:srgbClr val="C7CCE0"/>
          </a:solidFill>
          <a:ln/>
        </p:spPr>
      </p:sp>
      <p:sp>
        <p:nvSpPr>
          <p:cNvPr id="31" name="Shape 24"/>
          <p:cNvSpPr/>
          <p:nvPr/>
        </p:nvSpPr>
        <p:spPr>
          <a:xfrm>
            <a:off x="8985352" y="1965960"/>
            <a:ext cx="713232" cy="713232"/>
          </a:xfrm>
          <a:prstGeom prst="ellipse">
            <a:avLst/>
          </a:prstGeom>
          <a:solidFill>
            <a:srgbClr val="0F1428"/>
          </a:solidFill>
          <a:ln/>
        </p:spPr>
      </p:sp>
      <p:pic>
        <p:nvPicPr>
          <p:cNvPr id="32" name="Image 5" descr="preencoded.png">    </p:cNvPr>
          <p:cNvPicPr>
            <a:picLocks noChangeAspect="1"/>
          </p:cNvPicPr>
          <p:nvPr/>
        </p:nvPicPr>
        <p:blipFill>
          <a:blip r:embed="rId6"/>
          <a:stretch>
            <a:fillRect/>
          </a:stretch>
        </p:blipFill>
        <p:spPr>
          <a:xfrm>
            <a:off x="9156527" y="2137136"/>
            <a:ext cx="370881" cy="370881"/>
          </a:xfrm>
          <a:prstGeom prst="rect">
            <a:avLst/>
          </a:prstGeom>
        </p:spPr>
      </p:pic>
      <p:sp>
        <p:nvSpPr>
          <p:cNvPr id="33" name="Text 25"/>
          <p:cNvSpPr txBox="1"/>
          <p:nvPr/>
        </p:nvSpPr>
        <p:spPr>
          <a:xfrm>
            <a:off x="8509864" y="2880360"/>
            <a:ext cx="1664208" cy="411480"/>
          </a:xfrm>
          <a:prstGeom prst="rect">
            <a:avLst/>
          </a:prstGeom>
          <a:noFill/>
          <a:ln/>
        </p:spPr>
        <p:txBody>
          <a:bodyPr wrap="square" lIns="0" tIns="0" rIns="0" bIns="0" rtlCol="0" anchor="ctr"/>
          <a:lstStyle/>
          <a:p>
            <a:pPr algn="ctr" indent="0" marL="0">
              <a:buNone/>
            </a:pPr>
            <a:r>
              <a:rPr lang="en-US" sz="1150" b="1" spc="50" kern="0" dirty="0">
                <a:solidFill>
                  <a:srgbClr val="141B33"/>
                </a:solidFill>
                <a:latin typeface="Calibri" pitchFamily="34" charset="0"/>
                <a:ea typeface="Calibri" pitchFamily="34" charset="-122"/>
                <a:cs typeface="Calibri" pitchFamily="34" charset="-120"/>
              </a:rPr>
              <a:t>ACTION</a:t>
            </a:r>
            <a:endParaRPr lang="en-US" sz="1150" dirty="0"/>
          </a:p>
        </p:txBody>
      </p:sp>
      <p:sp>
        <p:nvSpPr>
          <p:cNvPr id="34" name="Text 26"/>
          <p:cNvSpPr txBox="1"/>
          <p:nvPr/>
        </p:nvSpPr>
        <p:spPr>
          <a:xfrm>
            <a:off x="8528152" y="3300984"/>
            <a:ext cx="1627632" cy="1554480"/>
          </a:xfrm>
          <a:prstGeom prst="rect">
            <a:avLst/>
          </a:prstGeom>
          <a:noFill/>
          <a:ln/>
        </p:spPr>
        <p:txBody>
          <a:bodyPr wrap="square" lIns="0" tIns="0" rIns="0" bIns="0" rtlCol="0" anchor="ctr"/>
          <a:lstStyle/>
          <a:p>
            <a:pPr algn="ctr" indent="0" marL="0">
              <a:lnSpc>
                <a:spcPct val="112000"/>
              </a:lnSpc>
              <a:buNone/>
            </a:pPr>
            <a:r>
              <a:rPr lang="en-US" sz="1030" dirty="0">
                <a:solidFill>
                  <a:srgbClr val="5B6584"/>
                </a:solidFill>
                <a:latin typeface="Calibri" pitchFamily="34" charset="0"/>
                <a:ea typeface="Calibri" pitchFamily="34" charset="-122"/>
                <a:cs typeface="Calibri" pitchFamily="34" charset="-120"/>
              </a:rPr>
              <a:t>8 bounded, reversible actions — never moves money</a:t>
            </a:r>
            <a:endParaRPr lang="en-US" sz="1030" dirty="0"/>
          </a:p>
        </p:txBody>
      </p:sp>
      <p:sp>
        <p:nvSpPr>
          <p:cNvPr id="35" name="Shape 27"/>
          <p:cNvSpPr/>
          <p:nvPr/>
        </p:nvSpPr>
        <p:spPr>
          <a:xfrm>
            <a:off x="10080346" y="2242109"/>
            <a:ext cx="146304" cy="160934"/>
          </a:xfrm>
          <a:prstGeom prst="chevron">
            <a:avLst/>
          </a:prstGeom>
          <a:solidFill>
            <a:srgbClr val="C7CCE0"/>
          </a:solidFill>
          <a:ln/>
        </p:spPr>
      </p:sp>
      <p:sp>
        <p:nvSpPr>
          <p:cNvPr id="36" name="Shape 28"/>
          <p:cNvSpPr/>
          <p:nvPr/>
        </p:nvSpPr>
        <p:spPr>
          <a:xfrm>
            <a:off x="10608412" y="1965960"/>
            <a:ext cx="713232" cy="713232"/>
          </a:xfrm>
          <a:prstGeom prst="ellipse">
            <a:avLst/>
          </a:prstGeom>
          <a:solidFill>
            <a:srgbClr val="0F1428"/>
          </a:solidFill>
          <a:ln/>
        </p:spPr>
      </p:sp>
      <p:pic>
        <p:nvPicPr>
          <p:cNvPr id="37" name="Image 6" descr="preencoded.png">    </p:cNvPr>
          <p:cNvPicPr>
            <a:picLocks noChangeAspect="1"/>
          </p:cNvPicPr>
          <p:nvPr/>
        </p:nvPicPr>
        <p:blipFill>
          <a:blip r:embed="rId7"/>
          <a:stretch>
            <a:fillRect/>
          </a:stretch>
        </p:blipFill>
        <p:spPr>
          <a:xfrm>
            <a:off x="10779587" y="2137136"/>
            <a:ext cx="370881" cy="370881"/>
          </a:xfrm>
          <a:prstGeom prst="rect">
            <a:avLst/>
          </a:prstGeom>
        </p:spPr>
      </p:pic>
      <p:sp>
        <p:nvSpPr>
          <p:cNvPr id="38" name="Text 29"/>
          <p:cNvSpPr txBox="1"/>
          <p:nvPr/>
        </p:nvSpPr>
        <p:spPr>
          <a:xfrm>
            <a:off x="10132924" y="2880360"/>
            <a:ext cx="1664208" cy="411480"/>
          </a:xfrm>
          <a:prstGeom prst="rect">
            <a:avLst/>
          </a:prstGeom>
          <a:noFill/>
          <a:ln/>
        </p:spPr>
        <p:txBody>
          <a:bodyPr wrap="square" lIns="0" tIns="0" rIns="0" bIns="0" rtlCol="0" anchor="ctr"/>
          <a:lstStyle/>
          <a:p>
            <a:pPr algn="ctr" indent="0" marL="0">
              <a:buNone/>
            </a:pPr>
            <a:r>
              <a:rPr lang="en-US" sz="1150" b="1" spc="50" kern="0" dirty="0">
                <a:solidFill>
                  <a:srgbClr val="141B33"/>
                </a:solidFill>
                <a:latin typeface="Calibri" pitchFamily="34" charset="0"/>
                <a:ea typeface="Calibri" pitchFamily="34" charset="-122"/>
                <a:cs typeface="Calibri" pitchFamily="34" charset="-120"/>
              </a:rPr>
              <a:t>AUDIT</a:t>
            </a:r>
            <a:endParaRPr lang="en-US" sz="1150" dirty="0"/>
          </a:p>
        </p:txBody>
      </p:sp>
      <p:sp>
        <p:nvSpPr>
          <p:cNvPr id="39" name="Text 30"/>
          <p:cNvSpPr txBox="1"/>
          <p:nvPr/>
        </p:nvSpPr>
        <p:spPr>
          <a:xfrm>
            <a:off x="10151212" y="3300984"/>
            <a:ext cx="1627632" cy="1554480"/>
          </a:xfrm>
          <a:prstGeom prst="rect">
            <a:avLst/>
          </a:prstGeom>
          <a:noFill/>
          <a:ln/>
        </p:spPr>
        <p:txBody>
          <a:bodyPr wrap="square" lIns="0" tIns="0" rIns="0" bIns="0" rtlCol="0" anchor="ctr"/>
          <a:lstStyle/>
          <a:p>
            <a:pPr algn="ctr" indent="0" marL="0">
              <a:lnSpc>
                <a:spcPct val="112000"/>
              </a:lnSpc>
              <a:buNone/>
            </a:pPr>
            <a:r>
              <a:rPr lang="en-US" sz="1030" dirty="0">
                <a:solidFill>
                  <a:srgbClr val="5B6584"/>
                </a:solidFill>
                <a:latin typeface="Calibri" pitchFamily="34" charset="0"/>
                <a:ea typeface="Calibri" pitchFamily="34" charset="-122"/>
                <a:cs typeface="Calibri" pitchFamily="34" charset="-120"/>
              </a:rPr>
              <a:t>Every decision logged, end to end</a:t>
            </a:r>
            <a:endParaRPr lang="en-US" sz="1030" dirty="0"/>
          </a:p>
        </p:txBody>
      </p:sp>
      <p:sp>
        <p:nvSpPr>
          <p:cNvPr id="40" name="Shape 31"/>
          <p:cNvSpPr/>
          <p:nvPr/>
        </p:nvSpPr>
        <p:spPr>
          <a:xfrm>
            <a:off x="1463040" y="5074920"/>
            <a:ext cx="9262872" cy="777240"/>
          </a:xfrm>
          <a:prstGeom prst="roundRect">
            <a:avLst>
              <a:gd name="adj" fmla="val 11765"/>
            </a:avLst>
          </a:prstGeom>
          <a:solidFill>
            <a:srgbClr val="0F1428"/>
          </a:solidFill>
          <a:ln/>
        </p:spPr>
      </p:sp>
      <p:sp>
        <p:nvSpPr>
          <p:cNvPr id="41" name="Text 32"/>
          <p:cNvSpPr txBox="1"/>
          <p:nvPr/>
        </p:nvSpPr>
        <p:spPr>
          <a:xfrm>
            <a:off x="1737360" y="5074920"/>
            <a:ext cx="8714232" cy="777240"/>
          </a:xfrm>
          <a:prstGeom prst="rect">
            <a:avLst/>
          </a:prstGeom>
          <a:noFill/>
          <a:ln/>
        </p:spPr>
        <p:txBody>
          <a:bodyPr wrap="square" lIns="0" tIns="0" rIns="0" bIns="0" rtlCol="0" anchor="ctr"/>
          <a:lstStyle/>
          <a:p>
            <a:pPr algn="ctr" indent="0" marL="0">
              <a:buNone/>
            </a:pPr>
            <a:r>
              <a:rPr lang="en-US" sz="1800" b="1" i="1" dirty="0">
                <a:solidFill>
                  <a:srgbClr val="FFFFFF"/>
                </a:solidFill>
                <a:latin typeface="Cambria" pitchFamily="34" charset="0"/>
                <a:ea typeface="Cambria" pitchFamily="34" charset="-122"/>
                <a:cs typeface="Cambria" pitchFamily="34" charset="-120"/>
              </a:rPr>
              <a:t>Every stage produces a number, a reason, or a record — never a guess.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60704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58368"/>
            <a:ext cx="1060704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Where the intelligence actually lives</a:t>
            </a:r>
            <a:endParaRPr lang="en-US" sz="3000" dirty="0"/>
          </a:p>
        </p:txBody>
      </p:sp>
      <p:sp>
        <p:nvSpPr>
          <p:cNvPr id="4" name="Shape 2"/>
          <p:cNvSpPr/>
          <p:nvPr/>
        </p:nvSpPr>
        <p:spPr>
          <a:xfrm>
            <a:off x="548640" y="1325880"/>
            <a:ext cx="146304" cy="146304"/>
          </a:xfrm>
          <a:prstGeom prst="ellipse">
            <a:avLst/>
          </a:prstGeom>
          <a:solidFill>
            <a:srgbClr val="8891AE"/>
          </a:solidFill>
          <a:ln/>
        </p:spPr>
      </p:sp>
      <p:sp>
        <p:nvSpPr>
          <p:cNvPr id="5" name="Text 3"/>
          <p:cNvSpPr txBox="1"/>
          <p:nvPr/>
        </p:nvSpPr>
        <p:spPr>
          <a:xfrm>
            <a:off x="749808" y="1243584"/>
            <a:ext cx="574243" cy="292608"/>
          </a:xfrm>
          <a:prstGeom prst="rect">
            <a:avLst/>
          </a:prstGeom>
          <a:noFill/>
          <a:ln/>
        </p:spPr>
        <p:txBody>
          <a:bodyPr wrap="square" lIns="0" tIns="0" rIns="0" bIns="0" rtlCol="0" anchor="ctr"/>
          <a:lstStyle/>
          <a:p>
            <a:pPr indent="0" marL="0">
              <a:buNone/>
            </a:pPr>
            <a:r>
              <a:rPr lang="en-US" sz="900" b="1" spc="50" kern="0" dirty="0">
                <a:solidFill>
                  <a:srgbClr val="5B6584"/>
                </a:solidFill>
                <a:latin typeface="Calibri" pitchFamily="34" charset="0"/>
                <a:ea typeface="Calibri" pitchFamily="34" charset="-122"/>
                <a:cs typeface="Calibri" pitchFamily="34" charset="-120"/>
              </a:rPr>
              <a:t>DATA</a:t>
            </a:r>
            <a:endParaRPr lang="en-US" sz="900" dirty="0"/>
          </a:p>
        </p:txBody>
      </p:sp>
      <p:sp>
        <p:nvSpPr>
          <p:cNvPr id="6" name="Shape 4"/>
          <p:cNvSpPr/>
          <p:nvPr/>
        </p:nvSpPr>
        <p:spPr>
          <a:xfrm>
            <a:off x="1580083" y="1325880"/>
            <a:ext cx="146304" cy="146304"/>
          </a:xfrm>
          <a:prstGeom prst="ellipse">
            <a:avLst/>
          </a:prstGeom>
          <a:solidFill>
            <a:srgbClr val="0F1428"/>
          </a:solidFill>
          <a:ln/>
        </p:spPr>
      </p:sp>
      <p:sp>
        <p:nvSpPr>
          <p:cNvPr id="7" name="Text 5"/>
          <p:cNvSpPr txBox="1"/>
          <p:nvPr/>
        </p:nvSpPr>
        <p:spPr>
          <a:xfrm>
            <a:off x="1781251" y="1243584"/>
            <a:ext cx="1698955" cy="292608"/>
          </a:xfrm>
          <a:prstGeom prst="rect">
            <a:avLst/>
          </a:prstGeom>
          <a:noFill/>
          <a:ln/>
        </p:spPr>
        <p:txBody>
          <a:bodyPr wrap="square" lIns="0" tIns="0" rIns="0" bIns="0" rtlCol="0" anchor="ctr"/>
          <a:lstStyle/>
          <a:p>
            <a:pPr indent="0" marL="0">
              <a:buNone/>
            </a:pPr>
            <a:r>
              <a:rPr lang="en-US" sz="900" b="1" spc="50" kern="0" dirty="0">
                <a:solidFill>
                  <a:srgbClr val="5B6584"/>
                </a:solidFill>
                <a:latin typeface="Calibri" pitchFamily="34" charset="0"/>
                <a:ea typeface="Calibri" pitchFamily="34" charset="-122"/>
                <a:cs typeface="Calibri" pitchFamily="34" charset="-120"/>
              </a:rPr>
              <a:t>DETERMINISTIC LOGIC</a:t>
            </a:r>
            <a:endParaRPr lang="en-US" sz="900" dirty="0"/>
          </a:p>
        </p:txBody>
      </p:sp>
      <p:sp>
        <p:nvSpPr>
          <p:cNvPr id="8" name="Shape 6"/>
          <p:cNvSpPr/>
          <p:nvPr/>
        </p:nvSpPr>
        <p:spPr>
          <a:xfrm>
            <a:off x="3736238" y="1325880"/>
            <a:ext cx="146304" cy="146304"/>
          </a:xfrm>
          <a:prstGeom prst="ellipse">
            <a:avLst/>
          </a:prstGeom>
          <a:solidFill>
            <a:srgbClr val="1FAE7A"/>
          </a:solidFill>
          <a:ln/>
        </p:spPr>
      </p:sp>
      <p:sp>
        <p:nvSpPr>
          <p:cNvPr id="9" name="Text 7"/>
          <p:cNvSpPr txBox="1"/>
          <p:nvPr/>
        </p:nvSpPr>
        <p:spPr>
          <a:xfrm>
            <a:off x="3937406" y="1243584"/>
            <a:ext cx="424282" cy="292608"/>
          </a:xfrm>
          <a:prstGeom prst="rect">
            <a:avLst/>
          </a:prstGeom>
          <a:noFill/>
          <a:ln/>
        </p:spPr>
        <p:txBody>
          <a:bodyPr wrap="square" lIns="0" tIns="0" rIns="0" bIns="0" rtlCol="0" anchor="ctr"/>
          <a:lstStyle/>
          <a:p>
            <a:pPr indent="0" marL="0">
              <a:buNone/>
            </a:pPr>
            <a:r>
              <a:rPr lang="en-US" sz="900" b="1" spc="50" kern="0" dirty="0">
                <a:solidFill>
                  <a:srgbClr val="5B6584"/>
                </a:solidFill>
                <a:latin typeface="Calibri" pitchFamily="34" charset="0"/>
                <a:ea typeface="Calibri" pitchFamily="34" charset="-122"/>
                <a:cs typeface="Calibri" pitchFamily="34" charset="-120"/>
              </a:rPr>
              <a:t>ML</a:t>
            </a:r>
            <a:endParaRPr lang="en-US" sz="900" dirty="0"/>
          </a:p>
        </p:txBody>
      </p:sp>
      <p:sp>
        <p:nvSpPr>
          <p:cNvPr id="10" name="Shape 8"/>
          <p:cNvSpPr/>
          <p:nvPr/>
        </p:nvSpPr>
        <p:spPr>
          <a:xfrm>
            <a:off x="4617720" y="1325880"/>
            <a:ext cx="146304" cy="146304"/>
          </a:xfrm>
          <a:prstGeom prst="ellipse">
            <a:avLst/>
          </a:prstGeom>
          <a:solidFill>
            <a:srgbClr val="B8791E"/>
          </a:solidFill>
          <a:ln/>
        </p:spPr>
      </p:sp>
      <p:sp>
        <p:nvSpPr>
          <p:cNvPr id="11" name="Text 9"/>
          <p:cNvSpPr txBox="1"/>
          <p:nvPr/>
        </p:nvSpPr>
        <p:spPr>
          <a:xfrm>
            <a:off x="4818888" y="1243584"/>
            <a:ext cx="499262" cy="292608"/>
          </a:xfrm>
          <a:prstGeom prst="rect">
            <a:avLst/>
          </a:prstGeom>
          <a:noFill/>
          <a:ln/>
        </p:spPr>
        <p:txBody>
          <a:bodyPr wrap="square" lIns="0" tIns="0" rIns="0" bIns="0" rtlCol="0" anchor="ctr"/>
          <a:lstStyle/>
          <a:p>
            <a:pPr indent="0" marL="0">
              <a:buNone/>
            </a:pPr>
            <a:r>
              <a:rPr lang="en-US" sz="900" b="1" spc="50" kern="0" dirty="0">
                <a:solidFill>
                  <a:srgbClr val="5B6584"/>
                </a:solidFill>
                <a:latin typeface="Calibri" pitchFamily="34" charset="0"/>
                <a:ea typeface="Calibri" pitchFamily="34" charset="-122"/>
                <a:cs typeface="Calibri" pitchFamily="34" charset="-120"/>
              </a:rPr>
              <a:t>LLM</a:t>
            </a:r>
            <a:endParaRPr lang="en-US" sz="900" dirty="0"/>
          </a:p>
        </p:txBody>
      </p:sp>
      <p:sp>
        <p:nvSpPr>
          <p:cNvPr id="12" name="Text 10"/>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13" name="Text 11"/>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04 / 12</a:t>
            </a:r>
            <a:endParaRPr lang="en-US" sz="900" dirty="0"/>
          </a:p>
        </p:txBody>
      </p:sp>
      <p:sp>
        <p:nvSpPr>
          <p:cNvPr id="14" name="Shape 12"/>
          <p:cNvSpPr/>
          <p:nvPr/>
        </p:nvSpPr>
        <p:spPr>
          <a:xfrm>
            <a:off x="712318" y="1874520"/>
            <a:ext cx="1691640" cy="1051560"/>
          </a:xfrm>
          <a:prstGeom prst="roundRect">
            <a:avLst>
              <a:gd name="adj" fmla="val 6087"/>
            </a:avLst>
          </a:prstGeom>
          <a:solidFill>
            <a:srgbClr val="8891AE"/>
          </a:solidFill>
          <a:ln/>
        </p:spPr>
      </p:sp>
      <p:sp>
        <p:nvSpPr>
          <p:cNvPr id="15" name="Text 13"/>
          <p:cNvSpPr txBox="1"/>
          <p:nvPr/>
        </p:nvSpPr>
        <p:spPr>
          <a:xfrm>
            <a:off x="803758" y="196596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Payment Data</a:t>
            </a:r>
            <a:endParaRPr lang="en-US" sz="1050" dirty="0"/>
          </a:p>
        </p:txBody>
      </p:sp>
      <p:sp>
        <p:nvSpPr>
          <p:cNvPr id="16" name="Text 14"/>
          <p:cNvSpPr txBox="1"/>
          <p:nvPr/>
        </p:nvSpPr>
        <p:spPr>
          <a:xfrm>
            <a:off x="785470" y="261518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(synthetic)</a:t>
            </a:r>
            <a:endParaRPr lang="en-US" sz="760" dirty="0"/>
          </a:p>
        </p:txBody>
      </p:sp>
      <p:sp>
        <p:nvSpPr>
          <p:cNvPr id="17" name="Shape 15"/>
          <p:cNvSpPr/>
          <p:nvPr/>
        </p:nvSpPr>
        <p:spPr>
          <a:xfrm>
            <a:off x="2401672" y="2329891"/>
            <a:ext cx="128016" cy="140818"/>
          </a:xfrm>
          <a:prstGeom prst="chevron">
            <a:avLst/>
          </a:prstGeom>
          <a:solidFill>
            <a:srgbClr val="C7CCE0"/>
          </a:solidFill>
          <a:ln/>
        </p:spPr>
      </p:sp>
      <p:sp>
        <p:nvSpPr>
          <p:cNvPr id="18" name="Shape 16"/>
          <p:cNvSpPr/>
          <p:nvPr/>
        </p:nvSpPr>
        <p:spPr>
          <a:xfrm>
            <a:off x="2527402" y="1874520"/>
            <a:ext cx="1691640" cy="1051560"/>
          </a:xfrm>
          <a:prstGeom prst="roundRect">
            <a:avLst>
              <a:gd name="adj" fmla="val 6087"/>
            </a:avLst>
          </a:prstGeom>
          <a:solidFill>
            <a:srgbClr val="8891AE"/>
          </a:solidFill>
          <a:ln/>
        </p:spPr>
      </p:sp>
      <p:sp>
        <p:nvSpPr>
          <p:cNvPr id="19" name="Text 17"/>
          <p:cNvSpPr txBox="1"/>
          <p:nvPr/>
        </p:nvSpPr>
        <p:spPr>
          <a:xfrm>
            <a:off x="2618842" y="196596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DataBundle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(SQLite)</a:t>
            </a:r>
            <a:endParaRPr lang="en-US" sz="1050" dirty="0"/>
          </a:p>
        </p:txBody>
      </p:sp>
      <p:sp>
        <p:nvSpPr>
          <p:cNvPr id="20" name="Text 18"/>
          <p:cNvSpPr txBox="1"/>
          <p:nvPr/>
        </p:nvSpPr>
        <p:spPr>
          <a:xfrm>
            <a:off x="2600554" y="261518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data_repo.py</a:t>
            </a:r>
            <a:endParaRPr lang="en-US" sz="760" dirty="0"/>
          </a:p>
        </p:txBody>
      </p:sp>
      <p:sp>
        <p:nvSpPr>
          <p:cNvPr id="21" name="Shape 19"/>
          <p:cNvSpPr/>
          <p:nvPr/>
        </p:nvSpPr>
        <p:spPr>
          <a:xfrm>
            <a:off x="4216756" y="2329891"/>
            <a:ext cx="128016" cy="140818"/>
          </a:xfrm>
          <a:prstGeom prst="chevron">
            <a:avLst/>
          </a:prstGeom>
          <a:solidFill>
            <a:srgbClr val="C7CCE0"/>
          </a:solidFill>
          <a:ln/>
        </p:spPr>
      </p:sp>
      <p:sp>
        <p:nvSpPr>
          <p:cNvPr id="22" name="Shape 20"/>
          <p:cNvSpPr/>
          <p:nvPr/>
        </p:nvSpPr>
        <p:spPr>
          <a:xfrm>
            <a:off x="4342486" y="1874520"/>
            <a:ext cx="1691640" cy="1051560"/>
          </a:xfrm>
          <a:prstGeom prst="roundRect">
            <a:avLst>
              <a:gd name="adj" fmla="val 6087"/>
            </a:avLst>
          </a:prstGeom>
          <a:solidFill>
            <a:srgbClr val="8891AE"/>
          </a:solidFill>
          <a:ln/>
        </p:spPr>
      </p:sp>
      <p:sp>
        <p:nvSpPr>
          <p:cNvPr id="23" name="Text 21"/>
          <p:cNvSpPr txBox="1"/>
          <p:nvPr/>
        </p:nvSpPr>
        <p:spPr>
          <a:xfrm>
            <a:off x="4433926" y="196596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24" name="Text 22"/>
          <p:cNvSpPr txBox="1"/>
          <p:nvPr/>
        </p:nvSpPr>
        <p:spPr>
          <a:xfrm>
            <a:off x="4415638" y="261518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13 features</a:t>
            </a:r>
            <a:endParaRPr lang="en-US" sz="760" dirty="0"/>
          </a:p>
        </p:txBody>
      </p:sp>
      <p:sp>
        <p:nvSpPr>
          <p:cNvPr id="25" name="Shape 23"/>
          <p:cNvSpPr/>
          <p:nvPr/>
        </p:nvSpPr>
        <p:spPr>
          <a:xfrm>
            <a:off x="6031840" y="2329891"/>
            <a:ext cx="128016" cy="140818"/>
          </a:xfrm>
          <a:prstGeom prst="chevron">
            <a:avLst/>
          </a:prstGeom>
          <a:solidFill>
            <a:srgbClr val="C7CCE0"/>
          </a:solidFill>
          <a:ln/>
        </p:spPr>
      </p:sp>
      <p:sp>
        <p:nvSpPr>
          <p:cNvPr id="26" name="Shape 24"/>
          <p:cNvSpPr/>
          <p:nvPr/>
        </p:nvSpPr>
        <p:spPr>
          <a:xfrm>
            <a:off x="6157570" y="1874520"/>
            <a:ext cx="1691640" cy="1051560"/>
          </a:xfrm>
          <a:prstGeom prst="roundRect">
            <a:avLst>
              <a:gd name="adj" fmla="val 6087"/>
            </a:avLst>
          </a:prstGeom>
          <a:solidFill>
            <a:srgbClr val="0F1428"/>
          </a:solidFill>
          <a:ln/>
        </p:spPr>
      </p:sp>
      <p:sp>
        <p:nvSpPr>
          <p:cNvPr id="27" name="Text 25"/>
          <p:cNvSpPr txBox="1"/>
          <p:nvPr/>
        </p:nvSpPr>
        <p:spPr>
          <a:xfrm>
            <a:off x="6249010" y="196596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Statistical</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Detectors</a:t>
            </a:r>
            <a:endParaRPr lang="en-US" sz="1050" dirty="0"/>
          </a:p>
        </p:txBody>
      </p:sp>
      <p:sp>
        <p:nvSpPr>
          <p:cNvPr id="28" name="Text 26"/>
          <p:cNvSpPr txBox="1"/>
          <p:nvPr/>
        </p:nvSpPr>
        <p:spPr>
          <a:xfrm>
            <a:off x="6230722" y="261518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10 detectors</a:t>
            </a:r>
            <a:endParaRPr lang="en-US" sz="760" dirty="0"/>
          </a:p>
        </p:txBody>
      </p:sp>
      <p:sp>
        <p:nvSpPr>
          <p:cNvPr id="29" name="Shape 27"/>
          <p:cNvSpPr/>
          <p:nvPr/>
        </p:nvSpPr>
        <p:spPr>
          <a:xfrm>
            <a:off x="7846924" y="2329891"/>
            <a:ext cx="128016" cy="140818"/>
          </a:xfrm>
          <a:prstGeom prst="chevron">
            <a:avLst/>
          </a:prstGeom>
          <a:solidFill>
            <a:srgbClr val="C7CCE0"/>
          </a:solidFill>
          <a:ln/>
        </p:spPr>
      </p:sp>
      <p:sp>
        <p:nvSpPr>
          <p:cNvPr id="30" name="Shape 28"/>
          <p:cNvSpPr/>
          <p:nvPr/>
        </p:nvSpPr>
        <p:spPr>
          <a:xfrm>
            <a:off x="7972654" y="1874520"/>
            <a:ext cx="1691640" cy="1051560"/>
          </a:xfrm>
          <a:prstGeom prst="roundRect">
            <a:avLst>
              <a:gd name="adj" fmla="val 6087"/>
            </a:avLst>
          </a:prstGeom>
          <a:solidFill>
            <a:srgbClr val="1FAE7A"/>
          </a:solidFill>
          <a:ln/>
        </p:spPr>
      </p:sp>
      <p:sp>
        <p:nvSpPr>
          <p:cNvPr id="31" name="Text 29"/>
          <p:cNvSpPr txBox="1"/>
          <p:nvPr/>
        </p:nvSpPr>
        <p:spPr>
          <a:xfrm>
            <a:off x="8064094" y="196596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Isolation</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Forest</a:t>
            </a:r>
            <a:endParaRPr lang="en-US" sz="1050" dirty="0"/>
          </a:p>
        </p:txBody>
      </p:sp>
      <p:sp>
        <p:nvSpPr>
          <p:cNvPr id="32" name="Text 30"/>
          <p:cNvSpPr txBox="1"/>
          <p:nvPr/>
        </p:nvSpPr>
        <p:spPr>
          <a:xfrm>
            <a:off x="8045806" y="261518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trained model</a:t>
            </a:r>
            <a:endParaRPr lang="en-US" sz="760" dirty="0"/>
          </a:p>
        </p:txBody>
      </p:sp>
      <p:sp>
        <p:nvSpPr>
          <p:cNvPr id="33" name="Shape 31"/>
          <p:cNvSpPr/>
          <p:nvPr/>
        </p:nvSpPr>
        <p:spPr>
          <a:xfrm>
            <a:off x="9662008" y="2329891"/>
            <a:ext cx="128016" cy="140818"/>
          </a:xfrm>
          <a:prstGeom prst="chevron">
            <a:avLst/>
          </a:prstGeom>
          <a:solidFill>
            <a:srgbClr val="C7CCE0"/>
          </a:solidFill>
          <a:ln/>
        </p:spPr>
      </p:sp>
      <p:sp>
        <p:nvSpPr>
          <p:cNvPr id="34" name="Shape 32"/>
          <p:cNvSpPr/>
          <p:nvPr/>
        </p:nvSpPr>
        <p:spPr>
          <a:xfrm>
            <a:off x="9787738" y="1874520"/>
            <a:ext cx="1691640" cy="1051560"/>
          </a:xfrm>
          <a:prstGeom prst="roundRect">
            <a:avLst>
              <a:gd name="adj" fmla="val 6087"/>
            </a:avLst>
          </a:prstGeom>
          <a:solidFill>
            <a:srgbClr val="0F1428"/>
          </a:solidFill>
          <a:ln/>
        </p:spPr>
      </p:sp>
      <p:sp>
        <p:nvSpPr>
          <p:cNvPr id="35" name="Text 33"/>
          <p:cNvSpPr txBox="1"/>
          <p:nvPr/>
        </p:nvSpPr>
        <p:spPr>
          <a:xfrm>
            <a:off x="9879178" y="196596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Ensemble</a:t>
            </a:r>
            <a:endParaRPr lang="en-US" sz="1050" dirty="0"/>
          </a:p>
        </p:txBody>
      </p:sp>
      <p:sp>
        <p:nvSpPr>
          <p:cNvPr id="36" name="Text 34"/>
          <p:cNvSpPr txBox="1"/>
          <p:nvPr/>
        </p:nvSpPr>
        <p:spPr>
          <a:xfrm>
            <a:off x="9860890" y="261518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rules OR ML</a:t>
            </a:r>
            <a:endParaRPr lang="en-US" sz="760" dirty="0"/>
          </a:p>
        </p:txBody>
      </p:sp>
      <p:sp>
        <p:nvSpPr>
          <p:cNvPr id="37" name="Shape 35"/>
          <p:cNvSpPr/>
          <p:nvPr/>
        </p:nvSpPr>
        <p:spPr>
          <a:xfrm>
            <a:off x="10633558" y="2926080"/>
            <a:ext cx="0" cy="297180"/>
          </a:xfrm>
          <a:prstGeom prst="line">
            <a:avLst/>
          </a:prstGeom>
          <a:noFill/>
          <a:ln w="19050">
            <a:solidFill>
              <a:srgbClr val="C7CCE0"/>
            </a:solidFill>
            <a:prstDash val="solid"/>
          </a:ln>
        </p:spPr>
      </p:sp>
      <p:sp>
        <p:nvSpPr>
          <p:cNvPr id="38" name="Shape 36"/>
          <p:cNvSpPr/>
          <p:nvPr/>
        </p:nvSpPr>
        <p:spPr>
          <a:xfrm>
            <a:off x="1558138" y="3223260"/>
            <a:ext cx="9075420" cy="0"/>
          </a:xfrm>
          <a:prstGeom prst="line">
            <a:avLst/>
          </a:prstGeom>
          <a:noFill/>
          <a:ln w="19050">
            <a:solidFill>
              <a:srgbClr val="C7CCE0"/>
            </a:solidFill>
            <a:prstDash val="solid"/>
          </a:ln>
        </p:spPr>
      </p:sp>
      <p:sp>
        <p:nvSpPr>
          <p:cNvPr id="39" name="Shape 37"/>
          <p:cNvSpPr/>
          <p:nvPr/>
        </p:nvSpPr>
        <p:spPr>
          <a:xfrm>
            <a:off x="1558138" y="3223260"/>
            <a:ext cx="0" cy="150876"/>
          </a:xfrm>
          <a:prstGeom prst="line">
            <a:avLst/>
          </a:prstGeom>
          <a:noFill/>
          <a:ln w="19050">
            <a:solidFill>
              <a:srgbClr val="C7CCE0"/>
            </a:solidFill>
            <a:prstDash val="solid"/>
          </a:ln>
        </p:spPr>
      </p:sp>
      <p:sp>
        <p:nvSpPr>
          <p:cNvPr id="40" name="Shape 38"/>
          <p:cNvSpPr/>
          <p:nvPr/>
        </p:nvSpPr>
        <p:spPr>
          <a:xfrm>
            <a:off x="1494130" y="3395167"/>
            <a:ext cx="128016" cy="140818"/>
          </a:xfrm>
          <a:prstGeom prst="chevron">
            <a:avLst/>
          </a:prstGeom>
          <a:solidFill>
            <a:srgbClr val="C7CCE0"/>
          </a:solidFill>
          <a:ln/>
        </p:spPr>
      </p:sp>
      <p:sp>
        <p:nvSpPr>
          <p:cNvPr id="41" name="Shape 39"/>
          <p:cNvSpPr/>
          <p:nvPr/>
        </p:nvSpPr>
        <p:spPr>
          <a:xfrm>
            <a:off x="712318" y="3520440"/>
            <a:ext cx="1691640" cy="1051560"/>
          </a:xfrm>
          <a:prstGeom prst="roundRect">
            <a:avLst>
              <a:gd name="adj" fmla="val 6087"/>
            </a:avLst>
          </a:prstGeom>
          <a:solidFill>
            <a:srgbClr val="0F1428"/>
          </a:solidFill>
          <a:ln/>
        </p:spPr>
      </p:sp>
      <p:sp>
        <p:nvSpPr>
          <p:cNvPr id="42" name="Text 40"/>
          <p:cNvSpPr txBox="1"/>
          <p:nvPr/>
        </p:nvSpPr>
        <p:spPr>
          <a:xfrm>
            <a:off x="803758" y="361188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Root Cause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Engine</a:t>
            </a:r>
            <a:endParaRPr lang="en-US" sz="1050" dirty="0"/>
          </a:p>
        </p:txBody>
      </p:sp>
      <p:sp>
        <p:nvSpPr>
          <p:cNvPr id="43" name="Text 41"/>
          <p:cNvSpPr txBox="1"/>
          <p:nvPr/>
        </p:nvSpPr>
        <p:spPr>
          <a:xfrm>
            <a:off x="785470" y="426110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waterfall logic</a:t>
            </a:r>
            <a:endParaRPr lang="en-US" sz="760" dirty="0"/>
          </a:p>
        </p:txBody>
      </p:sp>
      <p:sp>
        <p:nvSpPr>
          <p:cNvPr id="44" name="Shape 42"/>
          <p:cNvSpPr/>
          <p:nvPr/>
        </p:nvSpPr>
        <p:spPr>
          <a:xfrm>
            <a:off x="2401672" y="3975811"/>
            <a:ext cx="128016" cy="140818"/>
          </a:xfrm>
          <a:prstGeom prst="chevron">
            <a:avLst/>
          </a:prstGeom>
          <a:solidFill>
            <a:srgbClr val="C7CCE0"/>
          </a:solidFill>
          <a:ln/>
        </p:spPr>
      </p:sp>
      <p:sp>
        <p:nvSpPr>
          <p:cNvPr id="45" name="Shape 43"/>
          <p:cNvSpPr/>
          <p:nvPr/>
        </p:nvSpPr>
        <p:spPr>
          <a:xfrm>
            <a:off x="2527402" y="3520440"/>
            <a:ext cx="1691640" cy="1051560"/>
          </a:xfrm>
          <a:prstGeom prst="roundRect">
            <a:avLst>
              <a:gd name="adj" fmla="val 6087"/>
            </a:avLst>
          </a:prstGeom>
          <a:solidFill>
            <a:srgbClr val="0F1428"/>
          </a:solidFill>
          <a:ln/>
        </p:spPr>
      </p:sp>
      <p:sp>
        <p:nvSpPr>
          <p:cNvPr id="46" name="Text 44"/>
          <p:cNvSpPr txBox="1"/>
          <p:nvPr/>
        </p:nvSpPr>
        <p:spPr>
          <a:xfrm>
            <a:off x="2618842" y="361188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Action</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Engine</a:t>
            </a:r>
            <a:endParaRPr lang="en-US" sz="1050" dirty="0"/>
          </a:p>
        </p:txBody>
      </p:sp>
      <p:sp>
        <p:nvSpPr>
          <p:cNvPr id="47" name="Text 45"/>
          <p:cNvSpPr txBox="1"/>
          <p:nvPr/>
        </p:nvSpPr>
        <p:spPr>
          <a:xfrm>
            <a:off x="2600554" y="426110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8 allowlisted</a:t>
            </a:r>
            <a:endParaRPr lang="en-US" sz="760" dirty="0"/>
          </a:p>
        </p:txBody>
      </p:sp>
      <p:sp>
        <p:nvSpPr>
          <p:cNvPr id="48" name="Shape 46"/>
          <p:cNvSpPr/>
          <p:nvPr/>
        </p:nvSpPr>
        <p:spPr>
          <a:xfrm>
            <a:off x="4216756" y="3975811"/>
            <a:ext cx="128016" cy="140818"/>
          </a:xfrm>
          <a:prstGeom prst="chevron">
            <a:avLst/>
          </a:prstGeom>
          <a:solidFill>
            <a:srgbClr val="C7CCE0"/>
          </a:solidFill>
          <a:ln/>
        </p:spPr>
      </p:sp>
      <p:sp>
        <p:nvSpPr>
          <p:cNvPr id="49" name="Shape 47"/>
          <p:cNvSpPr/>
          <p:nvPr/>
        </p:nvSpPr>
        <p:spPr>
          <a:xfrm>
            <a:off x="4342486" y="3520440"/>
            <a:ext cx="1691640" cy="1051560"/>
          </a:xfrm>
          <a:prstGeom prst="roundRect">
            <a:avLst>
              <a:gd name="adj" fmla="val 6087"/>
            </a:avLst>
          </a:prstGeom>
          <a:solidFill>
            <a:srgbClr val="B8791E"/>
          </a:solidFill>
          <a:ln/>
        </p:spPr>
      </p:sp>
      <p:sp>
        <p:nvSpPr>
          <p:cNvPr id="50" name="Text 48"/>
          <p:cNvSpPr txBox="1"/>
          <p:nvPr/>
        </p:nvSpPr>
        <p:spPr>
          <a:xfrm>
            <a:off x="4433926" y="3611880"/>
            <a:ext cx="1508760" cy="667512"/>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LLM</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Narration</a:t>
            </a:r>
            <a:endParaRPr lang="en-US" sz="1050" dirty="0"/>
          </a:p>
        </p:txBody>
      </p:sp>
      <p:sp>
        <p:nvSpPr>
          <p:cNvPr id="51" name="Text 49"/>
          <p:cNvSpPr txBox="1"/>
          <p:nvPr/>
        </p:nvSpPr>
        <p:spPr>
          <a:xfrm>
            <a:off x="4415638" y="4261104"/>
            <a:ext cx="1545336" cy="274320"/>
          </a:xfrm>
          <a:prstGeom prst="rect">
            <a:avLst/>
          </a:prstGeom>
          <a:noFill/>
          <a:ln/>
        </p:spPr>
        <p:txBody>
          <a:bodyPr wrap="square" lIns="0" tIns="0" rIns="0" bIns="0" rtlCol="0" anchor="ctr"/>
          <a:lstStyle/>
          <a:p>
            <a:pPr algn="ctr" indent="0" marL="0">
              <a:buNone/>
            </a:pPr>
            <a:r>
              <a:rPr lang="en-US" sz="760" dirty="0">
                <a:solidFill>
                  <a:srgbClr val="FFFFFF">
                    <a:alpha val="88000"/>
                  </a:srgbClr>
                </a:solidFill>
                <a:latin typeface="Calibri" pitchFamily="34" charset="0"/>
                <a:ea typeface="Calibri" pitchFamily="34" charset="-122"/>
                <a:cs typeface="Calibri" pitchFamily="34" charset="-120"/>
              </a:rPr>
              <a:t>optional</a:t>
            </a:r>
            <a:endParaRPr lang="en-US" sz="760" dirty="0"/>
          </a:p>
        </p:txBody>
      </p:sp>
      <p:sp>
        <p:nvSpPr>
          <p:cNvPr id="52" name="Shape 50"/>
          <p:cNvSpPr/>
          <p:nvPr/>
        </p:nvSpPr>
        <p:spPr>
          <a:xfrm>
            <a:off x="6098134" y="3975811"/>
            <a:ext cx="128016" cy="140818"/>
          </a:xfrm>
          <a:prstGeom prst="chevron">
            <a:avLst/>
          </a:prstGeom>
          <a:solidFill>
            <a:srgbClr val="C7CCE0"/>
          </a:solidFill>
          <a:ln/>
        </p:spPr>
      </p:sp>
      <p:sp>
        <p:nvSpPr>
          <p:cNvPr id="53" name="Shape 51"/>
          <p:cNvSpPr/>
          <p:nvPr/>
        </p:nvSpPr>
        <p:spPr>
          <a:xfrm>
            <a:off x="6294730" y="3520440"/>
            <a:ext cx="2283714" cy="1051560"/>
          </a:xfrm>
          <a:prstGeom prst="roundRect">
            <a:avLst>
              <a:gd name="adj" fmla="val 6087"/>
            </a:avLst>
          </a:prstGeom>
          <a:solidFill>
            <a:srgbClr val="FFFFFF"/>
          </a:solidFill>
          <a:ln w="9525">
            <a:solidFill>
              <a:srgbClr val="0F1428"/>
            </a:solidFill>
            <a:prstDash val="solid"/>
          </a:ln>
        </p:spPr>
      </p:sp>
      <p:sp>
        <p:nvSpPr>
          <p:cNvPr id="54" name="Text 52"/>
          <p:cNvSpPr txBox="1"/>
          <p:nvPr/>
        </p:nvSpPr>
        <p:spPr>
          <a:xfrm>
            <a:off x="6386170" y="3611880"/>
            <a:ext cx="2100834" cy="274320"/>
          </a:xfrm>
          <a:prstGeom prst="rect">
            <a:avLst/>
          </a:prstGeom>
          <a:noFill/>
          <a:ln/>
        </p:spPr>
        <p:txBody>
          <a:bodyPr wrap="square" lIns="0" tIns="0" rIns="0" bIns="0" rtlCol="0" anchor="ctr"/>
          <a:lstStyle/>
          <a:p>
            <a:pPr algn="ctr" indent="0" marL="0">
              <a:buNone/>
            </a:pPr>
            <a:r>
              <a:rPr lang="en-US" sz="950" b="1" dirty="0">
                <a:solidFill>
                  <a:srgbClr val="141B33"/>
                </a:solidFill>
                <a:latin typeface="Calibri" pitchFamily="34" charset="0"/>
                <a:ea typeface="Calibri" pitchFamily="34" charset="-122"/>
                <a:cs typeface="Calibri" pitchFamily="34" charset="-120"/>
              </a:rPr>
              <a:t>Serving Layer</a:t>
            </a:r>
            <a:endParaRPr lang="en-US" sz="950" dirty="0"/>
          </a:p>
        </p:txBody>
      </p:sp>
      <p:sp>
        <p:nvSpPr>
          <p:cNvPr id="55" name="Text 53"/>
          <p:cNvSpPr txBox="1"/>
          <p:nvPr/>
        </p:nvSpPr>
        <p:spPr>
          <a:xfrm>
            <a:off x="6367882" y="3922776"/>
            <a:ext cx="2137410" cy="594360"/>
          </a:xfrm>
          <a:prstGeom prst="rect">
            <a:avLst/>
          </a:prstGeom>
          <a:noFill/>
          <a:ln/>
        </p:spPr>
        <p:txBody>
          <a:bodyPr wrap="square" lIns="0" tIns="0" rIns="0" bIns="0" rtlCol="0" anchor="ctr"/>
          <a:lstStyle/>
          <a:p>
            <a:pPr algn="ctr" indent="0" marL="0">
              <a:lnSpc>
                <a:spcPct val="105000"/>
              </a:lnSpc>
              <a:buNone/>
            </a:pPr>
            <a:r>
              <a:rPr lang="en-US" sz="850" dirty="0">
                <a:solidFill>
                  <a:srgbClr val="5B6584"/>
                </a:solidFill>
                <a:latin typeface="Calibri" pitchFamily="34" charset="0"/>
                <a:ea typeface="Calibri" pitchFamily="34" charset="-122"/>
                <a:cs typeface="Calibri" pitchFamily="34" charset="-120"/>
              </a:rPr>
              <a:t>FastAPI → React Dashboard</a:t>
            </a:r>
            <a:endParaRPr lang="en-US" sz="850" dirty="0"/>
          </a:p>
        </p:txBody>
      </p:sp>
      <p:sp>
        <p:nvSpPr>
          <p:cNvPr id="56" name="Shape 54"/>
          <p:cNvSpPr/>
          <p:nvPr/>
        </p:nvSpPr>
        <p:spPr>
          <a:xfrm>
            <a:off x="548640" y="4709160"/>
            <a:ext cx="11091672" cy="731520"/>
          </a:xfrm>
          <a:prstGeom prst="roundRect">
            <a:avLst>
              <a:gd name="adj" fmla="val 10000"/>
            </a:avLst>
          </a:prstGeom>
          <a:solidFill>
            <a:srgbClr val="FBF0DE"/>
          </a:solidFill>
          <a:ln/>
        </p:spPr>
      </p:sp>
      <p:sp>
        <p:nvSpPr>
          <p:cNvPr id="57" name="Text 55"/>
          <p:cNvSpPr txBox="1"/>
          <p:nvPr/>
        </p:nvSpPr>
        <p:spPr>
          <a:xfrm>
            <a:off x="822960" y="4709160"/>
            <a:ext cx="10515600" cy="731520"/>
          </a:xfrm>
          <a:prstGeom prst="rect">
            <a:avLst/>
          </a:prstGeom>
          <a:noFill/>
          <a:ln/>
        </p:spPr>
        <p:txBody>
          <a:bodyPr wrap="square" lIns="0" tIns="0" rIns="0" bIns="0" rtlCol="0" anchor="ctr"/>
          <a:lstStyle/>
          <a:p>
            <a:pPr indent="0" marL="0">
              <a:lnSpc>
                <a:spcPct val="108000"/>
              </a:lnSpc>
              <a:buNone/>
            </a:pPr>
            <a:r>
              <a:rPr lang="en-US" sz="1100" i="1" dirty="0">
                <a:solidFill>
                  <a:srgbClr val="5C4318"/>
                </a:solidFill>
                <a:latin typeface="Calibri" pitchFamily="34" charset="0"/>
                <a:ea typeface="Calibri" pitchFamily="34" charset="-122"/>
                <a:cs typeface="Calibri" pitchFamily="34" charset="-120"/>
              </a:rPr>
              <a:t>Claude never computes an amount, chooses a root cause, or executes an action — it only narrates facts already computed above it. No API key is configured in this build, so the deterministic template runs instead.</a:t>
            </a:r>
            <a:endParaRPr lang="en-US" sz="1100" dirty="0"/>
          </a:p>
        </p:txBody>
      </p:sp>
      <p:sp>
        <p:nvSpPr>
          <p:cNvPr id="58" name="Shape 56"/>
          <p:cNvSpPr/>
          <p:nvPr/>
        </p:nvSpPr>
        <p:spPr>
          <a:xfrm>
            <a:off x="548640" y="5532120"/>
            <a:ext cx="11091672" cy="749808"/>
          </a:xfrm>
          <a:prstGeom prst="roundRect">
            <a:avLst>
              <a:gd name="adj" fmla="val 9756"/>
            </a:avLst>
          </a:prstGeom>
          <a:solidFill>
            <a:srgbClr val="F5F6FA"/>
          </a:solidFill>
          <a:ln w="9525">
            <a:solidFill>
              <a:srgbClr val="E1E4EF"/>
            </a:solidFill>
            <a:prstDash val="solid"/>
          </a:ln>
        </p:spPr>
      </p:sp>
      <p:sp>
        <p:nvSpPr>
          <p:cNvPr id="59" name="Text 57"/>
          <p:cNvSpPr txBox="1"/>
          <p:nvPr/>
        </p:nvSpPr>
        <p:spPr>
          <a:xfrm>
            <a:off x="822960" y="5532120"/>
            <a:ext cx="10515600" cy="749808"/>
          </a:xfrm>
          <a:prstGeom prst="rect">
            <a:avLst/>
          </a:prstGeom>
          <a:noFill/>
          <a:ln/>
        </p:spPr>
        <p:txBody>
          <a:bodyPr wrap="square" lIns="0" tIns="0" rIns="0" bIns="0" rtlCol="0" anchor="ctr"/>
          <a:lstStyle/>
          <a:p>
            <a:pPr indent="0" marL="0">
              <a:lnSpc>
                <a:spcPct val="108000"/>
              </a:lnSpc>
              <a:buNone/>
            </a:pPr>
            <a:r>
              <a:rPr lang="en-US" sz="1030" b="1" dirty="0">
                <a:solidFill>
                  <a:srgbClr val="141B33"/>
                </a:solidFill>
                <a:latin typeface="Calibri" pitchFamily="34" charset="0"/>
                <a:ea typeface="Calibri" pitchFamily="34" charset="-122"/>
                <a:cs typeface="Calibri" pitchFamily="34" charset="-120"/>
              </a:rPr>
              <a:t>What the diagram is not: </a:t>
            </a:r>
            <a:pPr indent="0" marL="0">
              <a:lnSpc>
                <a:spcPct val="108000"/>
              </a:lnSpc>
              <a:buNone/>
            </a:pPr>
            <a:r>
              <a:rPr lang="en-US" sz="1030" dirty="0">
                <a:solidFill>
                  <a:srgbClr val="5B6584"/>
                </a:solidFill>
                <a:latin typeface="Calibri" pitchFamily="34" charset="0"/>
                <a:ea typeface="Calibri" pitchFamily="34" charset="-122"/>
                <a:cs typeface="Calibri" pitchFamily="34" charset="-120"/>
              </a:rPr>
              <a:t>the Isolation Forest node is the only trained model in the codebase; a second provider path exists for a live Razorpay Test Mode connection but it is an unwired stub, not shown above because nothing runs through it today.</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60704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THE INTELLIGENCE LAYER</a:t>
            </a:r>
            <a:endParaRPr lang="en-US" sz="1200" dirty="0"/>
          </a:p>
        </p:txBody>
      </p:sp>
      <p:sp>
        <p:nvSpPr>
          <p:cNvPr id="3" name="Text 1"/>
          <p:cNvSpPr txBox="1"/>
          <p:nvPr/>
        </p:nvSpPr>
        <p:spPr>
          <a:xfrm>
            <a:off x="548640" y="658368"/>
            <a:ext cx="1060704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Three layers of intelligence — one hard boundary</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05 / 12</a:t>
            </a:r>
            <a:endParaRPr lang="en-US" sz="900" dirty="0"/>
          </a:p>
        </p:txBody>
      </p:sp>
      <p:sp>
        <p:nvSpPr>
          <p:cNvPr id="6" name="Shape 4"/>
          <p:cNvSpPr/>
          <p:nvPr/>
        </p:nvSpPr>
        <p:spPr>
          <a:xfrm>
            <a:off x="540868" y="1600200"/>
            <a:ext cx="3520440" cy="3063240"/>
          </a:xfrm>
          <a:prstGeom prst="roundRect">
            <a:avLst>
              <a:gd name="adj" fmla="val 2985"/>
            </a:avLst>
          </a:prstGeom>
          <a:solidFill>
            <a:srgbClr val="F5F6FA"/>
          </a:solidFill>
          <a:ln w="9525">
            <a:solidFill>
              <a:srgbClr val="E1E4EF"/>
            </a:solidFill>
            <a:prstDash val="solid"/>
          </a:ln>
        </p:spPr>
      </p:sp>
      <p:sp>
        <p:nvSpPr>
          <p:cNvPr id="7" name="Shape 5"/>
          <p:cNvSpPr/>
          <p:nvPr/>
        </p:nvSpPr>
        <p:spPr>
          <a:xfrm>
            <a:off x="1971904" y="1837944"/>
            <a:ext cx="658368" cy="658368"/>
          </a:xfrm>
          <a:prstGeom prst="ellipse">
            <a:avLst/>
          </a:prstGeom>
          <a:solidFill>
            <a:srgbClr val="0F1428"/>
          </a:solidFill>
          <a:ln/>
        </p:spPr>
      </p:sp>
      <p:pic>
        <p:nvPicPr>
          <p:cNvPr id="8" name="Image 0" descr="preencoded.png">    </p:cNvPr>
          <p:cNvPicPr>
            <a:picLocks noChangeAspect="1"/>
          </p:cNvPicPr>
          <p:nvPr/>
        </p:nvPicPr>
        <p:blipFill>
          <a:blip r:embed="rId1"/>
          <a:stretch>
            <a:fillRect/>
          </a:stretch>
        </p:blipFill>
        <p:spPr>
          <a:xfrm>
            <a:off x="2129912" y="1995952"/>
            <a:ext cx="342351" cy="342351"/>
          </a:xfrm>
          <a:prstGeom prst="rect">
            <a:avLst/>
          </a:prstGeom>
        </p:spPr>
      </p:pic>
      <p:sp>
        <p:nvSpPr>
          <p:cNvPr id="9" name="Text 6"/>
          <p:cNvSpPr txBox="1"/>
          <p:nvPr/>
        </p:nvSpPr>
        <p:spPr>
          <a:xfrm>
            <a:off x="769468" y="2624328"/>
            <a:ext cx="3063240" cy="457200"/>
          </a:xfrm>
          <a:prstGeom prst="rect">
            <a:avLst/>
          </a:prstGeom>
          <a:noFill/>
          <a:ln/>
        </p:spPr>
        <p:txBody>
          <a:bodyPr wrap="square" lIns="0" tIns="0" rIns="0" bIns="0" rtlCol="0" anchor="ctr"/>
          <a:lstStyle/>
          <a:p>
            <a:pPr algn="ctr" indent="0" marL="0">
              <a:buNone/>
            </a:pPr>
            <a:r>
              <a:rPr lang="en-US" sz="1250" b="1" spc="50" kern="0" dirty="0">
                <a:solidFill>
                  <a:srgbClr val="141B33"/>
                </a:solidFill>
                <a:latin typeface="Calibri" pitchFamily="34" charset="0"/>
                <a:ea typeface="Calibri" pitchFamily="34" charset="-122"/>
                <a:cs typeface="Calibri" pitchFamily="34" charset="-120"/>
              </a:rPr>
              <a:t>STATISTICAL INTELLIGENCE</a:t>
            </a:r>
            <a:endParaRPr lang="en-US" sz="1250" dirty="0"/>
          </a:p>
        </p:txBody>
      </p:sp>
      <p:sp>
        <p:nvSpPr>
          <p:cNvPr id="10" name="Text 7"/>
          <p:cNvSpPr txBox="1"/>
          <p:nvPr/>
        </p:nvSpPr>
        <p:spPr>
          <a:xfrm>
            <a:off x="796900" y="3081528"/>
            <a:ext cx="3008376" cy="1051560"/>
          </a:xfrm>
          <a:prstGeom prst="rect">
            <a:avLst/>
          </a:prstGeom>
          <a:noFill/>
          <a:ln/>
        </p:spPr>
        <p:txBody>
          <a:bodyPr wrap="square" lIns="0" tIns="0" rIns="0" bIns="0" rtlCol="0" anchor="ctr"/>
          <a:lstStyle/>
          <a:p>
            <a:pPr algn="ctr" indent="0" marL="0">
              <a:lnSpc>
                <a:spcPct val="115000"/>
              </a:lnSpc>
              <a:buNone/>
            </a:pPr>
            <a:r>
              <a:rPr lang="en-US" sz="1100" dirty="0">
                <a:solidFill>
                  <a:srgbClr val="5B6584"/>
                </a:solidFill>
                <a:latin typeface="Calibri" pitchFamily="34" charset="0"/>
                <a:ea typeface="Calibri" pitchFamily="34" charset="-122"/>
                <a:cs typeface="Calibri" pitchFamily="34" charset="-120"/>
              </a:rPr>
              <a:t>Robust z-scores, EWMA-style trend baselines and ratio thresholds across 10 detectors — auditable constants, not learned weights.</a:t>
            </a:r>
            <a:endParaRPr lang="en-US" sz="1100" dirty="0"/>
          </a:p>
        </p:txBody>
      </p:sp>
      <p:sp>
        <p:nvSpPr>
          <p:cNvPr id="11" name="Text 8"/>
          <p:cNvSpPr txBox="1"/>
          <p:nvPr/>
        </p:nvSpPr>
        <p:spPr>
          <a:xfrm>
            <a:off x="769468" y="4160520"/>
            <a:ext cx="3063240" cy="411480"/>
          </a:xfrm>
          <a:prstGeom prst="rect">
            <a:avLst/>
          </a:prstGeom>
          <a:noFill/>
          <a:ln/>
        </p:spPr>
        <p:txBody>
          <a:bodyPr wrap="square" lIns="0" tIns="0" rIns="0" bIns="0" rtlCol="0" anchor="ctr"/>
          <a:lstStyle/>
          <a:p>
            <a:pPr algn="ctr" indent="0" marL="0">
              <a:buNone/>
            </a:pPr>
            <a:r>
              <a:rPr lang="en-US" sz="870" i="1" dirty="0">
                <a:solidFill>
                  <a:srgbClr val="8890AC"/>
                </a:solidFill>
                <a:latin typeface="Calibri" pitchFamily="34" charset="0"/>
                <a:ea typeface="Calibri" pitchFamily="34" charset="-122"/>
                <a:cs typeface="Calibri" pitchFamily="34" charset="-120"/>
              </a:rPr>
              <a:t>e.g. robust z-score on fee excess; EWMA refund-rate baseline</a:t>
            </a:r>
            <a:endParaRPr lang="en-US" sz="870" dirty="0"/>
          </a:p>
        </p:txBody>
      </p:sp>
      <p:sp>
        <p:nvSpPr>
          <p:cNvPr id="12" name="Shape 9"/>
          <p:cNvSpPr/>
          <p:nvPr/>
        </p:nvSpPr>
        <p:spPr>
          <a:xfrm>
            <a:off x="4335628" y="1600200"/>
            <a:ext cx="3520440" cy="3063240"/>
          </a:xfrm>
          <a:prstGeom prst="roundRect">
            <a:avLst>
              <a:gd name="adj" fmla="val 2985"/>
            </a:avLst>
          </a:prstGeom>
          <a:solidFill>
            <a:srgbClr val="F5F6FA"/>
          </a:solidFill>
          <a:ln w="9525">
            <a:solidFill>
              <a:srgbClr val="E1E4EF"/>
            </a:solidFill>
            <a:prstDash val="solid"/>
          </a:ln>
        </p:spPr>
      </p:sp>
      <p:sp>
        <p:nvSpPr>
          <p:cNvPr id="13" name="Shape 10"/>
          <p:cNvSpPr/>
          <p:nvPr/>
        </p:nvSpPr>
        <p:spPr>
          <a:xfrm>
            <a:off x="5766664" y="1837944"/>
            <a:ext cx="658368" cy="658368"/>
          </a:xfrm>
          <a:prstGeom prst="ellipse">
            <a:avLst/>
          </a:prstGeom>
          <a:solidFill>
            <a:srgbClr val="1FAE7A"/>
          </a:solidFill>
          <a:ln/>
        </p:spPr>
      </p:sp>
      <p:pic>
        <p:nvPicPr>
          <p:cNvPr id="14" name="Image 1" descr="preencoded.png">    </p:cNvPr>
          <p:cNvPicPr>
            <a:picLocks noChangeAspect="1"/>
          </p:cNvPicPr>
          <p:nvPr/>
        </p:nvPicPr>
        <p:blipFill>
          <a:blip r:embed="rId2"/>
          <a:stretch>
            <a:fillRect/>
          </a:stretch>
        </p:blipFill>
        <p:spPr>
          <a:xfrm>
            <a:off x="5924672" y="1995952"/>
            <a:ext cx="342351" cy="342351"/>
          </a:xfrm>
          <a:prstGeom prst="rect">
            <a:avLst/>
          </a:prstGeom>
        </p:spPr>
      </p:pic>
      <p:sp>
        <p:nvSpPr>
          <p:cNvPr id="15" name="Text 11"/>
          <p:cNvSpPr txBox="1"/>
          <p:nvPr/>
        </p:nvSpPr>
        <p:spPr>
          <a:xfrm>
            <a:off x="4564228" y="2624328"/>
            <a:ext cx="3063240" cy="457200"/>
          </a:xfrm>
          <a:prstGeom prst="rect">
            <a:avLst/>
          </a:prstGeom>
          <a:noFill/>
          <a:ln/>
        </p:spPr>
        <p:txBody>
          <a:bodyPr wrap="square" lIns="0" tIns="0" rIns="0" bIns="0" rtlCol="0" anchor="ctr"/>
          <a:lstStyle/>
          <a:p>
            <a:pPr algn="ctr" indent="0" marL="0">
              <a:buNone/>
            </a:pPr>
            <a:r>
              <a:rPr lang="en-US" sz="1250" b="1" spc="50" kern="0" dirty="0">
                <a:solidFill>
                  <a:srgbClr val="141B33"/>
                </a:solidFill>
                <a:latin typeface="Calibri" pitchFamily="34" charset="0"/>
                <a:ea typeface="Calibri" pitchFamily="34" charset="-122"/>
                <a:cs typeface="Calibri" pitchFamily="34" charset="-120"/>
              </a:rPr>
              <a:t>ML INTELLIGENCE</a:t>
            </a:r>
            <a:endParaRPr lang="en-US" sz="1250" dirty="0"/>
          </a:p>
        </p:txBody>
      </p:sp>
      <p:sp>
        <p:nvSpPr>
          <p:cNvPr id="16" name="Text 12"/>
          <p:cNvSpPr txBox="1"/>
          <p:nvPr/>
        </p:nvSpPr>
        <p:spPr>
          <a:xfrm>
            <a:off x="4591660" y="3081528"/>
            <a:ext cx="3008376" cy="1051560"/>
          </a:xfrm>
          <a:prstGeom prst="rect">
            <a:avLst/>
          </a:prstGeom>
          <a:noFill/>
          <a:ln/>
        </p:spPr>
        <p:txBody>
          <a:bodyPr wrap="square" lIns="0" tIns="0" rIns="0" bIns="0" rtlCol="0" anchor="ctr"/>
          <a:lstStyle/>
          <a:p>
            <a:pPr algn="ctr" indent="0" marL="0">
              <a:lnSpc>
                <a:spcPct val="115000"/>
              </a:lnSpc>
              <a:buNone/>
            </a:pPr>
            <a:r>
              <a:rPr lang="en-US" sz="1100" dirty="0">
                <a:solidFill>
                  <a:srgbClr val="5B6584"/>
                </a:solidFill>
                <a:latin typeface="Calibri" pitchFamily="34" charset="0"/>
                <a:ea typeface="Calibri" pitchFamily="34" charset="-122"/>
                <a:cs typeface="Calibri" pitchFamily="34" charset="-120"/>
              </a:rPr>
              <a:t>A trained sklearn Isolation Forest over 13 engineered merchant-day features. Fit on a time period the model is never scored on.</a:t>
            </a:r>
            <a:endParaRPr lang="en-US" sz="1100" dirty="0"/>
          </a:p>
        </p:txBody>
      </p:sp>
      <p:sp>
        <p:nvSpPr>
          <p:cNvPr id="17" name="Text 13"/>
          <p:cNvSpPr txBox="1"/>
          <p:nvPr/>
        </p:nvSpPr>
        <p:spPr>
          <a:xfrm>
            <a:off x="4564228" y="4160520"/>
            <a:ext cx="3063240" cy="411480"/>
          </a:xfrm>
          <a:prstGeom prst="rect">
            <a:avLst/>
          </a:prstGeom>
          <a:noFill/>
          <a:ln/>
        </p:spPr>
        <p:txBody>
          <a:bodyPr wrap="square" lIns="0" tIns="0" rIns="0" bIns="0" rtlCol="0" anchor="ctr"/>
          <a:lstStyle/>
          <a:p>
            <a:pPr algn="ctr" indent="0" marL="0">
              <a:buNone/>
            </a:pPr>
            <a:r>
              <a:rPr lang="en-US" sz="870" i="1" dirty="0">
                <a:solidFill>
                  <a:srgbClr val="8890AC"/>
                </a:solidFill>
                <a:latin typeface="Calibri" pitchFamily="34" charset="0"/>
                <a:ea typeface="Calibri" pitchFamily="34" charset="-122"/>
                <a:cs typeface="Calibri" pitchFamily="34" charset="-120"/>
              </a:rPr>
              <a:t>Scoped to exactly one detector: merchant-day behavioral anomaly</a:t>
            </a:r>
            <a:endParaRPr lang="en-US" sz="870" dirty="0"/>
          </a:p>
        </p:txBody>
      </p:sp>
      <p:sp>
        <p:nvSpPr>
          <p:cNvPr id="18" name="Shape 14"/>
          <p:cNvSpPr/>
          <p:nvPr/>
        </p:nvSpPr>
        <p:spPr>
          <a:xfrm>
            <a:off x="8130388" y="1600200"/>
            <a:ext cx="3520440" cy="3063240"/>
          </a:xfrm>
          <a:prstGeom prst="roundRect">
            <a:avLst>
              <a:gd name="adj" fmla="val 2985"/>
            </a:avLst>
          </a:prstGeom>
          <a:solidFill>
            <a:srgbClr val="F5F6FA"/>
          </a:solidFill>
          <a:ln w="9525">
            <a:solidFill>
              <a:srgbClr val="E1E4EF"/>
            </a:solidFill>
            <a:prstDash val="solid"/>
          </a:ln>
        </p:spPr>
      </p:sp>
      <p:sp>
        <p:nvSpPr>
          <p:cNvPr id="19" name="Shape 15"/>
          <p:cNvSpPr/>
          <p:nvPr/>
        </p:nvSpPr>
        <p:spPr>
          <a:xfrm>
            <a:off x="9561424" y="1837944"/>
            <a:ext cx="658368" cy="658368"/>
          </a:xfrm>
          <a:prstGeom prst="ellipse">
            <a:avLst/>
          </a:prstGeom>
          <a:solidFill>
            <a:srgbClr val="B8791E"/>
          </a:solidFill>
          <a:ln/>
        </p:spPr>
      </p:sp>
      <p:pic>
        <p:nvPicPr>
          <p:cNvPr id="20" name="Image 2" descr="preencoded.png">    </p:cNvPr>
          <p:cNvPicPr>
            <a:picLocks noChangeAspect="1"/>
          </p:cNvPicPr>
          <p:nvPr/>
        </p:nvPicPr>
        <p:blipFill>
          <a:blip r:embed="rId3"/>
          <a:stretch>
            <a:fillRect/>
          </a:stretch>
        </p:blipFill>
        <p:spPr>
          <a:xfrm>
            <a:off x="9719432" y="1995952"/>
            <a:ext cx="342351" cy="342351"/>
          </a:xfrm>
          <a:prstGeom prst="rect">
            <a:avLst/>
          </a:prstGeom>
        </p:spPr>
      </p:pic>
      <p:sp>
        <p:nvSpPr>
          <p:cNvPr id="21" name="Text 16"/>
          <p:cNvSpPr txBox="1"/>
          <p:nvPr/>
        </p:nvSpPr>
        <p:spPr>
          <a:xfrm>
            <a:off x="8358988" y="2624328"/>
            <a:ext cx="3063240" cy="457200"/>
          </a:xfrm>
          <a:prstGeom prst="rect">
            <a:avLst/>
          </a:prstGeom>
          <a:noFill/>
          <a:ln/>
        </p:spPr>
        <p:txBody>
          <a:bodyPr wrap="square" lIns="0" tIns="0" rIns="0" bIns="0" rtlCol="0" anchor="ctr"/>
          <a:lstStyle/>
          <a:p>
            <a:pPr algn="ctr" indent="0" marL="0">
              <a:buNone/>
            </a:pPr>
            <a:r>
              <a:rPr lang="en-US" sz="1250" b="1" spc="50" kern="0" dirty="0">
                <a:solidFill>
                  <a:srgbClr val="141B33"/>
                </a:solidFill>
                <a:latin typeface="Calibri" pitchFamily="34" charset="0"/>
                <a:ea typeface="Calibri" pitchFamily="34" charset="-122"/>
                <a:cs typeface="Calibri" pitchFamily="34" charset="-120"/>
              </a:rPr>
              <a:t>GENERATIVE AI</a:t>
            </a:r>
            <a:endParaRPr lang="en-US" sz="1250" dirty="0"/>
          </a:p>
        </p:txBody>
      </p:sp>
      <p:sp>
        <p:nvSpPr>
          <p:cNvPr id="22" name="Text 17"/>
          <p:cNvSpPr txBox="1"/>
          <p:nvPr/>
        </p:nvSpPr>
        <p:spPr>
          <a:xfrm>
            <a:off x="8386420" y="3081528"/>
            <a:ext cx="3008376" cy="1051560"/>
          </a:xfrm>
          <a:prstGeom prst="rect">
            <a:avLst/>
          </a:prstGeom>
          <a:noFill/>
          <a:ln/>
        </p:spPr>
        <p:txBody>
          <a:bodyPr wrap="square" lIns="0" tIns="0" rIns="0" bIns="0" rtlCol="0" anchor="ctr"/>
          <a:lstStyle/>
          <a:p>
            <a:pPr algn="ctr" indent="0" marL="0">
              <a:lnSpc>
                <a:spcPct val="115000"/>
              </a:lnSpc>
              <a:buNone/>
            </a:pPr>
            <a:r>
              <a:rPr lang="en-US" sz="1100" dirty="0">
                <a:solidFill>
                  <a:srgbClr val="5B6584"/>
                </a:solidFill>
                <a:latin typeface="Calibri" pitchFamily="34" charset="0"/>
                <a:ea typeface="Calibri" pitchFamily="34" charset="-122"/>
                <a:cs typeface="Calibri" pitchFamily="34" charset="-120"/>
              </a:rPr>
              <a:t>Claude narrates facts that are already computed. It cannot introduce a number, ID, or cause that isn’t handed to it.</a:t>
            </a:r>
            <a:endParaRPr lang="en-US" sz="1100" dirty="0"/>
          </a:p>
        </p:txBody>
      </p:sp>
      <p:sp>
        <p:nvSpPr>
          <p:cNvPr id="23" name="Text 18"/>
          <p:cNvSpPr txBox="1"/>
          <p:nvPr/>
        </p:nvSpPr>
        <p:spPr>
          <a:xfrm>
            <a:off x="8358988" y="4160520"/>
            <a:ext cx="3063240" cy="411480"/>
          </a:xfrm>
          <a:prstGeom prst="rect">
            <a:avLst/>
          </a:prstGeom>
          <a:noFill/>
          <a:ln/>
        </p:spPr>
        <p:txBody>
          <a:bodyPr wrap="square" lIns="0" tIns="0" rIns="0" bIns="0" rtlCol="0" anchor="ctr"/>
          <a:lstStyle/>
          <a:p>
            <a:pPr algn="ctr" indent="0" marL="0">
              <a:buNone/>
            </a:pPr>
            <a:r>
              <a:rPr lang="en-US" sz="870" i="1" dirty="0">
                <a:solidFill>
                  <a:srgbClr val="8890AC"/>
                </a:solidFill>
                <a:latin typeface="Calibri" pitchFamily="34" charset="0"/>
                <a:ea typeface="Calibri" pitchFamily="34" charset="-122"/>
                <a:cs typeface="Calibri" pitchFamily="34" charset="-120"/>
              </a:rPr>
              <a:t>No API key configured in this build — template narration runs instead</a:t>
            </a:r>
            <a:endParaRPr lang="en-US" sz="870" dirty="0"/>
          </a:p>
        </p:txBody>
      </p:sp>
      <p:sp>
        <p:nvSpPr>
          <p:cNvPr id="24" name="Shape 19"/>
          <p:cNvSpPr/>
          <p:nvPr/>
        </p:nvSpPr>
        <p:spPr>
          <a:xfrm>
            <a:off x="548640" y="5074920"/>
            <a:ext cx="11091672" cy="1051560"/>
          </a:xfrm>
          <a:prstGeom prst="roundRect">
            <a:avLst>
              <a:gd name="adj" fmla="val 8696"/>
            </a:avLst>
          </a:prstGeom>
          <a:solidFill>
            <a:srgbClr val="0F1428"/>
          </a:solidFill>
          <a:ln/>
        </p:spPr>
      </p:sp>
      <p:sp>
        <p:nvSpPr>
          <p:cNvPr id="25" name="Text 20"/>
          <p:cNvSpPr txBox="1"/>
          <p:nvPr/>
        </p:nvSpPr>
        <p:spPr>
          <a:xfrm>
            <a:off x="822960" y="5074920"/>
            <a:ext cx="10515600" cy="1051560"/>
          </a:xfrm>
          <a:prstGeom prst="rect">
            <a:avLst/>
          </a:prstGeom>
          <a:noFill/>
          <a:ln/>
        </p:spPr>
        <p:txBody>
          <a:bodyPr wrap="square" lIns="0" tIns="0" rIns="0" bIns="0" rtlCol="0" anchor="ctr"/>
          <a:lstStyle/>
          <a:p>
            <a:pPr algn="ctr" indent="0" marL="0">
              <a:buNone/>
            </a:pPr>
            <a:r>
              <a:rPr lang="en-US" sz="2400" b="1" dirty="0">
                <a:solidFill>
                  <a:srgbClr val="1FAE7A"/>
                </a:solidFill>
                <a:latin typeface="Cambria" pitchFamily="34" charset="0"/>
                <a:ea typeface="Cambria" pitchFamily="34" charset="-122"/>
                <a:cs typeface="Cambria" pitchFamily="34" charset="-120"/>
              </a:rPr>
              <a:t>ML detects.   </a:t>
            </a:r>
            <a:pPr algn="ctr" indent="0" marL="0">
              <a:buNone/>
            </a:pPr>
            <a:r>
              <a:rPr lang="en-US" sz="2400" b="1" dirty="0">
                <a:solidFill>
                  <a:srgbClr val="FFFFFF"/>
                </a:solidFill>
                <a:latin typeface="Cambria" pitchFamily="34" charset="0"/>
                <a:ea typeface="Cambria" pitchFamily="34" charset="-122"/>
                <a:cs typeface="Cambria" pitchFamily="34" charset="-120"/>
              </a:rPr>
              <a:t>Deterministic controls decide.   </a:t>
            </a:r>
            <a:pPr algn="ctr" indent="0" marL="0">
              <a:buNone/>
            </a:pPr>
            <a:r>
              <a:rPr lang="en-US" sz="2400" b="1" dirty="0">
                <a:solidFill>
                  <a:srgbClr val="E3B15C"/>
                </a:solidFill>
                <a:latin typeface="Cambria" pitchFamily="34" charset="0"/>
                <a:ea typeface="Cambria" pitchFamily="34" charset="-122"/>
                <a:cs typeface="Cambria" pitchFamily="34" charset="-120"/>
              </a:rPr>
              <a:t>LLM explains.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88136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PRODUCT WALKTHROUGH</a:t>
            </a:r>
            <a:endParaRPr lang="en-US" sz="1200" dirty="0"/>
          </a:p>
        </p:txBody>
      </p:sp>
      <p:sp>
        <p:nvSpPr>
          <p:cNvPr id="3" name="Text 1"/>
          <p:cNvSpPr txBox="1"/>
          <p:nvPr/>
        </p:nvSpPr>
        <p:spPr>
          <a:xfrm>
            <a:off x="548640" y="658368"/>
            <a:ext cx="1088136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One merchant. One anomaly. Eight steps to a logged decision.</a:t>
            </a:r>
            <a:endParaRPr lang="en-US" sz="3000" dirty="0"/>
          </a:p>
        </p:txBody>
      </p:sp>
      <p:sp>
        <p:nvSpPr>
          <p:cNvPr id="4" name="Text 2"/>
          <p:cNvSpPr txBox="1"/>
          <p:nvPr/>
        </p:nvSpPr>
        <p:spPr>
          <a:xfrm>
            <a:off x="548640" y="1207008"/>
            <a:ext cx="10607040" cy="292608"/>
          </a:xfrm>
          <a:prstGeom prst="rect">
            <a:avLst/>
          </a:prstGeom>
          <a:noFill/>
          <a:ln/>
        </p:spPr>
        <p:txBody>
          <a:bodyPr wrap="square" lIns="0" tIns="0" rIns="0" bIns="0" rtlCol="0" anchor="ctr"/>
          <a:lstStyle/>
          <a:p>
            <a:pPr indent="0" marL="0">
              <a:buNone/>
            </a:pPr>
            <a:r>
              <a:rPr lang="en-US" sz="1150" i="1" dirty="0">
                <a:solidFill>
                  <a:srgbClr val="5B6584"/>
                </a:solidFill>
                <a:latin typeface="Calibri" pitchFamily="34" charset="0"/>
                <a:ea typeface="Calibri" pitchFamily="34" charset="-122"/>
                <a:cs typeface="Calibri" pitchFamily="34" charset="-120"/>
              </a:rPr>
              <a:t>Illustrative run through the pipeline’s own detector and threshold logic — refund-rate-spike scenario.</a:t>
            </a:r>
            <a:endParaRPr lang="en-US" sz="1150" dirty="0"/>
          </a:p>
        </p:txBody>
      </p:sp>
      <p:sp>
        <p:nvSpPr>
          <p:cNvPr id="5" name="Text 3"/>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6" name="Text 4"/>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06 / 12</a:t>
            </a:r>
            <a:endParaRPr lang="en-US" sz="900" dirty="0"/>
          </a:p>
        </p:txBody>
      </p:sp>
      <p:sp>
        <p:nvSpPr>
          <p:cNvPr id="7" name="Shape 5"/>
          <p:cNvSpPr/>
          <p:nvPr/>
        </p:nvSpPr>
        <p:spPr>
          <a:xfrm>
            <a:off x="563728" y="1810512"/>
            <a:ext cx="384048" cy="384048"/>
          </a:xfrm>
          <a:prstGeom prst="ellipse">
            <a:avLst/>
          </a:prstGeom>
          <a:solidFill>
            <a:srgbClr val="0F1428"/>
          </a:solidFill>
          <a:ln/>
        </p:spPr>
      </p:sp>
      <p:sp>
        <p:nvSpPr>
          <p:cNvPr id="8" name="Text 6"/>
          <p:cNvSpPr txBox="1"/>
          <p:nvPr/>
        </p:nvSpPr>
        <p:spPr>
          <a:xfrm>
            <a:off x="563728" y="1810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75792" y="1755648"/>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Baseline</a:t>
            </a:r>
            <a:endParaRPr lang="en-US" sz="1250" dirty="0"/>
          </a:p>
        </p:txBody>
      </p:sp>
      <p:sp>
        <p:nvSpPr>
          <p:cNvPr id="10" name="Text 8"/>
          <p:cNvSpPr txBox="1"/>
          <p:nvPr/>
        </p:nvSpPr>
        <p:spPr>
          <a:xfrm>
            <a:off x="1075792" y="2039112"/>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Merchant’s refund rate tracks a stable daily average for 50+ days.</a:t>
            </a:r>
            <a:endParaRPr lang="en-US" sz="1000" dirty="0"/>
          </a:p>
        </p:txBody>
      </p:sp>
      <p:sp>
        <p:nvSpPr>
          <p:cNvPr id="11" name="Shape 9"/>
          <p:cNvSpPr/>
          <p:nvPr/>
        </p:nvSpPr>
        <p:spPr>
          <a:xfrm>
            <a:off x="563728" y="2743200"/>
            <a:ext cx="384048" cy="384048"/>
          </a:xfrm>
          <a:prstGeom prst="ellipse">
            <a:avLst/>
          </a:prstGeom>
          <a:solidFill>
            <a:srgbClr val="0F1428"/>
          </a:solidFill>
          <a:ln/>
        </p:spPr>
      </p:sp>
      <p:sp>
        <p:nvSpPr>
          <p:cNvPr id="12" name="Text 10"/>
          <p:cNvSpPr txBox="1"/>
          <p:nvPr/>
        </p:nvSpPr>
        <p:spPr>
          <a:xfrm>
            <a:off x="563728"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75792" y="2688336"/>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Spike appears</a:t>
            </a:r>
            <a:endParaRPr lang="en-US" sz="1250" dirty="0"/>
          </a:p>
        </p:txBody>
      </p:sp>
      <p:sp>
        <p:nvSpPr>
          <p:cNvPr id="14" name="Text 12"/>
          <p:cNvSpPr txBox="1"/>
          <p:nvPr/>
        </p:nvSpPr>
        <p:spPr>
          <a:xfrm>
            <a:off x="1075792" y="2971800"/>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Last 7 days: refund rate ≥ 2.5× baseline, z-score ≥ 1.2, on enough recent volume to trust it.</a:t>
            </a:r>
            <a:endParaRPr lang="en-US" sz="1000" dirty="0"/>
          </a:p>
        </p:txBody>
      </p:sp>
      <p:sp>
        <p:nvSpPr>
          <p:cNvPr id="15" name="Shape 13"/>
          <p:cNvSpPr/>
          <p:nvPr/>
        </p:nvSpPr>
        <p:spPr>
          <a:xfrm>
            <a:off x="563728" y="3675888"/>
            <a:ext cx="384048" cy="384048"/>
          </a:xfrm>
          <a:prstGeom prst="ellipse">
            <a:avLst/>
          </a:prstGeom>
          <a:solidFill>
            <a:srgbClr val="0F1428"/>
          </a:solidFill>
          <a:ln/>
        </p:spPr>
      </p:sp>
      <p:sp>
        <p:nvSpPr>
          <p:cNvPr id="16" name="Text 14"/>
          <p:cNvSpPr txBox="1"/>
          <p:nvPr/>
        </p:nvSpPr>
        <p:spPr>
          <a:xfrm>
            <a:off x="563728"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075792" y="3621024"/>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Features computed</a:t>
            </a:r>
            <a:endParaRPr lang="en-US" sz="1250" dirty="0"/>
          </a:p>
        </p:txBody>
      </p:sp>
      <p:sp>
        <p:nvSpPr>
          <p:cNvPr id="18" name="Text 16"/>
          <p:cNvSpPr txBox="1"/>
          <p:nvPr/>
        </p:nvSpPr>
        <p:spPr>
          <a:xfrm>
            <a:off x="1075792" y="3904488"/>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Feature pipeline builds refund_rate_z30, fee_excess_ratio, avg_delay_days for the same merchant-day.</a:t>
            </a:r>
            <a:endParaRPr lang="en-US" sz="1000" dirty="0"/>
          </a:p>
        </p:txBody>
      </p:sp>
      <p:sp>
        <p:nvSpPr>
          <p:cNvPr id="19" name="Shape 17"/>
          <p:cNvSpPr/>
          <p:nvPr/>
        </p:nvSpPr>
        <p:spPr>
          <a:xfrm>
            <a:off x="563728" y="4608576"/>
            <a:ext cx="384048" cy="384048"/>
          </a:xfrm>
          <a:prstGeom prst="ellipse">
            <a:avLst/>
          </a:prstGeom>
          <a:solidFill>
            <a:srgbClr val="0F1428"/>
          </a:solidFill>
          <a:ln/>
        </p:spPr>
      </p:sp>
      <p:sp>
        <p:nvSpPr>
          <p:cNvPr id="20" name="Text 18"/>
          <p:cNvSpPr txBox="1"/>
          <p:nvPr/>
        </p:nvSpPr>
        <p:spPr>
          <a:xfrm>
            <a:off x="563728"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075792" y="4553712"/>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Detection fires</a:t>
            </a:r>
            <a:endParaRPr lang="en-US" sz="1250" dirty="0"/>
          </a:p>
        </p:txBody>
      </p:sp>
      <p:sp>
        <p:nvSpPr>
          <p:cNvPr id="22" name="Text 20"/>
          <p:cNvSpPr txBox="1"/>
          <p:nvPr/>
        </p:nvSpPr>
        <p:spPr>
          <a:xfrm>
            <a:off x="1075792" y="4837176"/>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detect_refund_rate_spike (rule) and the Isolation Forest ensemble both evaluate the merchant.</a:t>
            </a:r>
            <a:endParaRPr lang="en-US" sz="1000" dirty="0"/>
          </a:p>
        </p:txBody>
      </p:sp>
      <p:sp>
        <p:nvSpPr>
          <p:cNvPr id="23" name="Shape 21"/>
          <p:cNvSpPr/>
          <p:nvPr/>
        </p:nvSpPr>
        <p:spPr>
          <a:xfrm>
            <a:off x="6370168" y="1810512"/>
            <a:ext cx="384048" cy="384048"/>
          </a:xfrm>
          <a:prstGeom prst="ellipse">
            <a:avLst/>
          </a:prstGeom>
          <a:solidFill>
            <a:srgbClr val="0F1428"/>
          </a:solidFill>
          <a:ln/>
        </p:spPr>
      </p:sp>
      <p:sp>
        <p:nvSpPr>
          <p:cNvPr id="24" name="Text 22"/>
          <p:cNvSpPr txBox="1"/>
          <p:nvPr/>
        </p:nvSpPr>
        <p:spPr>
          <a:xfrm>
            <a:off x="6370168" y="1810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882232" y="1755648"/>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Money at risk</a:t>
            </a:r>
            <a:endParaRPr lang="en-US" sz="1250" dirty="0"/>
          </a:p>
        </p:txBody>
      </p:sp>
      <p:sp>
        <p:nvSpPr>
          <p:cNvPr id="26" name="Text 24"/>
          <p:cNvSpPr txBox="1"/>
          <p:nvPr/>
        </p:nvSpPr>
        <p:spPr>
          <a:xfrm>
            <a:off x="6882232" y="2039112"/>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Incremental exposure computed exactly: (recent rate − baseline rate) × recent refund volume.</a:t>
            </a:r>
            <a:endParaRPr lang="en-US" sz="1000" dirty="0"/>
          </a:p>
        </p:txBody>
      </p:sp>
      <p:sp>
        <p:nvSpPr>
          <p:cNvPr id="27" name="Shape 25"/>
          <p:cNvSpPr/>
          <p:nvPr/>
        </p:nvSpPr>
        <p:spPr>
          <a:xfrm>
            <a:off x="6370168" y="2743200"/>
            <a:ext cx="384048" cy="384048"/>
          </a:xfrm>
          <a:prstGeom prst="ellipse">
            <a:avLst/>
          </a:prstGeom>
          <a:solidFill>
            <a:srgbClr val="0F1428"/>
          </a:solidFill>
          <a:ln/>
        </p:spPr>
      </p:sp>
      <p:sp>
        <p:nvSpPr>
          <p:cNvPr id="28" name="Text 26"/>
          <p:cNvSpPr txBox="1"/>
          <p:nvPr/>
        </p:nvSpPr>
        <p:spPr>
          <a:xfrm>
            <a:off x="6370168"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txBox="1"/>
          <p:nvPr/>
        </p:nvSpPr>
        <p:spPr>
          <a:xfrm>
            <a:off x="6882232" y="2688336"/>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Root cause</a:t>
            </a:r>
            <a:endParaRPr lang="en-US" sz="1250" dirty="0"/>
          </a:p>
        </p:txBody>
      </p:sp>
      <p:sp>
        <p:nvSpPr>
          <p:cNvPr id="30" name="Text 28"/>
          <p:cNvSpPr txBox="1"/>
          <p:nvPr/>
        </p:nvSpPr>
        <p:spPr>
          <a:xfrm>
            <a:off x="6882232" y="2971800"/>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Merchant-level anomaly: the detector’s own finding stands as the root cause — no separate guess.</a:t>
            </a:r>
            <a:endParaRPr lang="en-US" sz="1000" dirty="0"/>
          </a:p>
        </p:txBody>
      </p:sp>
      <p:sp>
        <p:nvSpPr>
          <p:cNvPr id="31" name="Shape 29"/>
          <p:cNvSpPr/>
          <p:nvPr/>
        </p:nvSpPr>
        <p:spPr>
          <a:xfrm>
            <a:off x="6370168" y="3675888"/>
            <a:ext cx="384048" cy="384048"/>
          </a:xfrm>
          <a:prstGeom prst="ellipse">
            <a:avLst/>
          </a:prstGeom>
          <a:solidFill>
            <a:srgbClr val="0F1428"/>
          </a:solidFill>
          <a:ln/>
        </p:spPr>
      </p:sp>
      <p:sp>
        <p:nvSpPr>
          <p:cNvPr id="32" name="Text 30"/>
          <p:cNvSpPr txBox="1"/>
          <p:nvPr/>
        </p:nvSpPr>
        <p:spPr>
          <a:xfrm>
            <a:off x="6370168"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3" name="Text 31"/>
          <p:cNvSpPr txBox="1"/>
          <p:nvPr/>
        </p:nvSpPr>
        <p:spPr>
          <a:xfrm>
            <a:off x="6882232" y="3621024"/>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Decision &amp; action</a:t>
            </a:r>
            <a:endParaRPr lang="en-US" sz="1250" dirty="0"/>
          </a:p>
        </p:txBody>
      </p:sp>
      <p:sp>
        <p:nvSpPr>
          <p:cNvPr id="34" name="Text 32"/>
          <p:cNvSpPr txBox="1"/>
          <p:nvPr/>
        </p:nvSpPr>
        <p:spPr>
          <a:xfrm>
            <a:off x="6882232" y="3904488"/>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Confidence + amount route it to REVIEW_REQUIRED → generate_merchant_alert is queued.</a:t>
            </a:r>
            <a:endParaRPr lang="en-US" sz="1000" dirty="0"/>
          </a:p>
        </p:txBody>
      </p:sp>
      <p:sp>
        <p:nvSpPr>
          <p:cNvPr id="35" name="Shape 33"/>
          <p:cNvSpPr/>
          <p:nvPr/>
        </p:nvSpPr>
        <p:spPr>
          <a:xfrm>
            <a:off x="6370168" y="4608576"/>
            <a:ext cx="384048" cy="384048"/>
          </a:xfrm>
          <a:prstGeom prst="ellipse">
            <a:avLst/>
          </a:prstGeom>
          <a:solidFill>
            <a:srgbClr val="0F1428"/>
          </a:solidFill>
          <a:ln/>
        </p:spPr>
      </p:sp>
      <p:sp>
        <p:nvSpPr>
          <p:cNvPr id="36" name="Text 34"/>
          <p:cNvSpPr txBox="1"/>
          <p:nvPr/>
        </p:nvSpPr>
        <p:spPr>
          <a:xfrm>
            <a:off x="6370168" y="4608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7" name="Text 35"/>
          <p:cNvSpPr txBox="1"/>
          <p:nvPr/>
        </p:nvSpPr>
        <p:spPr>
          <a:xfrm>
            <a:off x="6882232" y="4553712"/>
            <a:ext cx="4745736" cy="292608"/>
          </a:xfrm>
          <a:prstGeom prst="rect">
            <a:avLst/>
          </a:prstGeom>
          <a:noFill/>
          <a:ln/>
        </p:spPr>
        <p:txBody>
          <a:bodyPr wrap="square" lIns="0" tIns="0" rIns="0" bIns="0" rtlCol="0" anchor="ctr"/>
          <a:lstStyle/>
          <a:p>
            <a:pPr indent="0" marL="0">
              <a:buNone/>
            </a:pPr>
            <a:r>
              <a:rPr lang="en-US" sz="1250" b="1" dirty="0">
                <a:solidFill>
                  <a:srgbClr val="141B33"/>
                </a:solidFill>
                <a:latin typeface="Calibri" pitchFamily="34" charset="0"/>
                <a:ea typeface="Calibri" pitchFamily="34" charset="-122"/>
                <a:cs typeface="Calibri" pitchFamily="34" charset="-120"/>
              </a:rPr>
              <a:t>Audit</a:t>
            </a:r>
            <a:endParaRPr lang="en-US" sz="1250" dirty="0"/>
          </a:p>
        </p:txBody>
      </p:sp>
      <p:sp>
        <p:nvSpPr>
          <p:cNvPr id="38" name="Text 36"/>
          <p:cNvSpPr txBox="1"/>
          <p:nvPr/>
        </p:nvSpPr>
        <p:spPr>
          <a:xfrm>
            <a:off x="6882232" y="4837176"/>
            <a:ext cx="4745736" cy="566928"/>
          </a:xfrm>
          <a:prstGeom prst="rect">
            <a:avLst/>
          </a:prstGeom>
          <a:noFill/>
          <a:ln/>
        </p:spPr>
        <p:txBody>
          <a:bodyPr wrap="square" lIns="0" tIns="0" rIns="0" bIns="0" rtlCol="0" anchor="ctr"/>
          <a:lstStyle/>
          <a:p>
            <a:pPr indent="0" marL="0">
              <a:lnSpc>
                <a:spcPct val="105000"/>
              </a:lnSpc>
              <a:buNone/>
            </a:pPr>
            <a:r>
              <a:rPr lang="en-US" sz="1000" dirty="0">
                <a:solidFill>
                  <a:srgbClr val="5B6584"/>
                </a:solidFill>
                <a:latin typeface="Calibri" pitchFamily="34" charset="0"/>
                <a:ea typeface="Calibri" pitchFamily="34" charset="-122"/>
                <a:cs typeface="Calibri" pitchFamily="34" charset="-120"/>
              </a:rPr>
              <a:t>An AuditEvent is logged — detector, evidence, confidence, decision — visible end to end.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88136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PROOF</a:t>
            </a:r>
            <a:endParaRPr lang="en-US" sz="1200" dirty="0"/>
          </a:p>
        </p:txBody>
      </p:sp>
      <p:sp>
        <p:nvSpPr>
          <p:cNvPr id="3" name="Text 1"/>
          <p:cNvSpPr txBox="1"/>
          <p:nvPr/>
        </p:nvSpPr>
        <p:spPr>
          <a:xfrm>
            <a:off x="548640" y="658368"/>
            <a:ext cx="1088136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Measured on a held-out set the thresholds never saw</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07 / 12</a:t>
            </a:r>
            <a:endParaRPr lang="en-US" sz="900" dirty="0"/>
          </a:p>
        </p:txBody>
      </p:sp>
      <p:sp>
        <p:nvSpPr>
          <p:cNvPr id="6" name="Shape 4"/>
          <p:cNvSpPr/>
          <p:nvPr/>
        </p:nvSpPr>
        <p:spPr>
          <a:xfrm>
            <a:off x="513436" y="1207008"/>
            <a:ext cx="2130552" cy="749808"/>
          </a:xfrm>
          <a:prstGeom prst="roundRect">
            <a:avLst>
              <a:gd name="adj" fmla="val 9756"/>
            </a:avLst>
          </a:prstGeom>
          <a:solidFill>
            <a:srgbClr val="F5F6FA"/>
          </a:solidFill>
          <a:ln w="9525">
            <a:solidFill>
              <a:srgbClr val="E1E4EF"/>
            </a:solidFill>
            <a:prstDash val="solid"/>
          </a:ln>
        </p:spPr>
      </p:sp>
      <p:sp>
        <p:nvSpPr>
          <p:cNvPr id="7" name="Text 5"/>
          <p:cNvSpPr txBox="1"/>
          <p:nvPr/>
        </p:nvSpPr>
        <p:spPr>
          <a:xfrm>
            <a:off x="513436" y="1261872"/>
            <a:ext cx="2130552" cy="384048"/>
          </a:xfrm>
          <a:prstGeom prst="rect">
            <a:avLst/>
          </a:prstGeom>
          <a:noFill/>
          <a:ln/>
        </p:spPr>
        <p:txBody>
          <a:bodyPr wrap="square" lIns="0" tIns="0" rIns="0" bIns="0" rtlCol="0" anchor="ctr"/>
          <a:lstStyle/>
          <a:p>
            <a:pPr algn="ctr" indent="0" marL="0">
              <a:buNone/>
            </a:pPr>
            <a:r>
              <a:rPr lang="en-US" sz="1900" b="1" dirty="0">
                <a:solidFill>
                  <a:srgbClr val="141B33"/>
                </a:solidFill>
                <a:latin typeface="Cambria" pitchFamily="34" charset="0"/>
                <a:ea typeface="Cambria" pitchFamily="34" charset="-122"/>
                <a:cs typeface="Cambria" pitchFamily="34" charset="-120"/>
              </a:rPr>
              <a:t>45</a:t>
            </a:r>
            <a:endParaRPr lang="en-US" sz="1900" dirty="0"/>
          </a:p>
        </p:txBody>
      </p:sp>
      <p:sp>
        <p:nvSpPr>
          <p:cNvPr id="8" name="Text 6"/>
          <p:cNvSpPr txBox="1"/>
          <p:nvPr/>
        </p:nvSpPr>
        <p:spPr>
          <a:xfrm>
            <a:off x="513436" y="1645920"/>
            <a:ext cx="2130552" cy="256032"/>
          </a:xfrm>
          <a:prstGeom prst="rect">
            <a:avLst/>
          </a:prstGeom>
          <a:noFill/>
          <a:ln/>
        </p:spPr>
        <p:txBody>
          <a:bodyPr wrap="square" lIns="0" tIns="0" rIns="0" bIns="0" rtlCol="0" anchor="ctr"/>
          <a:lstStyle/>
          <a:p>
            <a:pPr algn="ctr" indent="0" marL="0">
              <a:buNone/>
            </a:pPr>
            <a:r>
              <a:rPr lang="en-US" sz="800" spc="50" kern="0" dirty="0">
                <a:solidFill>
                  <a:srgbClr val="5B6584"/>
                </a:solidFill>
                <a:latin typeface="Calibri" pitchFamily="34" charset="0"/>
                <a:ea typeface="Calibri" pitchFamily="34" charset="-122"/>
                <a:cs typeface="Calibri" pitchFamily="34" charset="-120"/>
              </a:rPr>
              <a:t>MERCHANTS</a:t>
            </a:r>
            <a:endParaRPr lang="en-US" sz="800" dirty="0"/>
          </a:p>
        </p:txBody>
      </p:sp>
      <p:sp>
        <p:nvSpPr>
          <p:cNvPr id="9" name="Shape 7"/>
          <p:cNvSpPr/>
          <p:nvPr/>
        </p:nvSpPr>
        <p:spPr>
          <a:xfrm>
            <a:off x="2772004" y="1207008"/>
            <a:ext cx="2130552" cy="749808"/>
          </a:xfrm>
          <a:prstGeom prst="roundRect">
            <a:avLst>
              <a:gd name="adj" fmla="val 9756"/>
            </a:avLst>
          </a:prstGeom>
          <a:solidFill>
            <a:srgbClr val="F5F6FA"/>
          </a:solidFill>
          <a:ln w="9525">
            <a:solidFill>
              <a:srgbClr val="E1E4EF"/>
            </a:solidFill>
            <a:prstDash val="solid"/>
          </a:ln>
        </p:spPr>
      </p:sp>
      <p:sp>
        <p:nvSpPr>
          <p:cNvPr id="10" name="Text 8"/>
          <p:cNvSpPr txBox="1"/>
          <p:nvPr/>
        </p:nvSpPr>
        <p:spPr>
          <a:xfrm>
            <a:off x="2772004" y="1261872"/>
            <a:ext cx="2130552" cy="384048"/>
          </a:xfrm>
          <a:prstGeom prst="rect">
            <a:avLst/>
          </a:prstGeom>
          <a:noFill/>
          <a:ln/>
        </p:spPr>
        <p:txBody>
          <a:bodyPr wrap="square" lIns="0" tIns="0" rIns="0" bIns="0" rtlCol="0" anchor="ctr"/>
          <a:lstStyle/>
          <a:p>
            <a:pPr algn="ctr" indent="0" marL="0">
              <a:buNone/>
            </a:pPr>
            <a:r>
              <a:rPr lang="en-US" sz="1900" b="1" dirty="0">
                <a:solidFill>
                  <a:srgbClr val="141B33"/>
                </a:solidFill>
                <a:latin typeface="Cambria" pitchFamily="34" charset="0"/>
                <a:ea typeface="Cambria" pitchFamily="34" charset="-122"/>
                <a:cs typeface="Cambria" pitchFamily="34" charset="-120"/>
              </a:rPr>
              <a:t>11,398</a:t>
            </a:r>
            <a:endParaRPr lang="en-US" sz="1900" dirty="0"/>
          </a:p>
        </p:txBody>
      </p:sp>
      <p:sp>
        <p:nvSpPr>
          <p:cNvPr id="11" name="Text 9"/>
          <p:cNvSpPr txBox="1"/>
          <p:nvPr/>
        </p:nvSpPr>
        <p:spPr>
          <a:xfrm>
            <a:off x="2772004" y="1645920"/>
            <a:ext cx="2130552" cy="256032"/>
          </a:xfrm>
          <a:prstGeom prst="rect">
            <a:avLst/>
          </a:prstGeom>
          <a:noFill/>
          <a:ln/>
        </p:spPr>
        <p:txBody>
          <a:bodyPr wrap="square" lIns="0" tIns="0" rIns="0" bIns="0" rtlCol="0" anchor="ctr"/>
          <a:lstStyle/>
          <a:p>
            <a:pPr algn="ctr" indent="0" marL="0">
              <a:buNone/>
            </a:pPr>
            <a:r>
              <a:rPr lang="en-US" sz="800" spc="50" kern="0" dirty="0">
                <a:solidFill>
                  <a:srgbClr val="5B6584"/>
                </a:solidFill>
                <a:latin typeface="Calibri" pitchFamily="34" charset="0"/>
                <a:ea typeface="Calibri" pitchFamily="34" charset="-122"/>
                <a:cs typeface="Calibri" pitchFamily="34" charset="-120"/>
              </a:rPr>
              <a:t>PAYMENTS</a:t>
            </a:r>
            <a:endParaRPr lang="en-US" sz="800" dirty="0"/>
          </a:p>
        </p:txBody>
      </p:sp>
      <p:sp>
        <p:nvSpPr>
          <p:cNvPr id="12" name="Shape 10"/>
          <p:cNvSpPr/>
          <p:nvPr/>
        </p:nvSpPr>
        <p:spPr>
          <a:xfrm>
            <a:off x="5030572" y="1207008"/>
            <a:ext cx="2130552" cy="749808"/>
          </a:xfrm>
          <a:prstGeom prst="roundRect">
            <a:avLst>
              <a:gd name="adj" fmla="val 9756"/>
            </a:avLst>
          </a:prstGeom>
          <a:solidFill>
            <a:srgbClr val="F5F6FA"/>
          </a:solidFill>
          <a:ln w="9525">
            <a:solidFill>
              <a:srgbClr val="E1E4EF"/>
            </a:solidFill>
            <a:prstDash val="solid"/>
          </a:ln>
        </p:spPr>
      </p:sp>
      <p:sp>
        <p:nvSpPr>
          <p:cNvPr id="13" name="Text 11"/>
          <p:cNvSpPr txBox="1"/>
          <p:nvPr/>
        </p:nvSpPr>
        <p:spPr>
          <a:xfrm>
            <a:off x="5030572" y="1261872"/>
            <a:ext cx="2130552" cy="384048"/>
          </a:xfrm>
          <a:prstGeom prst="rect">
            <a:avLst/>
          </a:prstGeom>
          <a:noFill/>
          <a:ln/>
        </p:spPr>
        <p:txBody>
          <a:bodyPr wrap="square" lIns="0" tIns="0" rIns="0" bIns="0" rtlCol="0" anchor="ctr"/>
          <a:lstStyle/>
          <a:p>
            <a:pPr algn="ctr" indent="0" marL="0">
              <a:buNone/>
            </a:pPr>
            <a:r>
              <a:rPr lang="en-US" sz="1900" b="1" dirty="0">
                <a:solidFill>
                  <a:srgbClr val="141B33"/>
                </a:solidFill>
                <a:latin typeface="Cambria" pitchFamily="34" charset="0"/>
                <a:ea typeface="Cambria" pitchFamily="34" charset="-122"/>
                <a:cs typeface="Cambria" pitchFamily="34" charset="-120"/>
              </a:rPr>
              <a:t>16</a:t>
            </a:r>
            <a:endParaRPr lang="en-US" sz="1900" dirty="0"/>
          </a:p>
        </p:txBody>
      </p:sp>
      <p:sp>
        <p:nvSpPr>
          <p:cNvPr id="14" name="Text 12"/>
          <p:cNvSpPr txBox="1"/>
          <p:nvPr/>
        </p:nvSpPr>
        <p:spPr>
          <a:xfrm>
            <a:off x="5030572" y="1645920"/>
            <a:ext cx="2130552" cy="256032"/>
          </a:xfrm>
          <a:prstGeom prst="rect">
            <a:avLst/>
          </a:prstGeom>
          <a:noFill/>
          <a:ln/>
        </p:spPr>
        <p:txBody>
          <a:bodyPr wrap="square" lIns="0" tIns="0" rIns="0" bIns="0" rtlCol="0" anchor="ctr"/>
          <a:lstStyle/>
          <a:p>
            <a:pPr algn="ctr" indent="0" marL="0">
              <a:buNone/>
            </a:pPr>
            <a:r>
              <a:rPr lang="en-US" sz="800" spc="50" kern="0" dirty="0">
                <a:solidFill>
                  <a:srgbClr val="5B6584"/>
                </a:solidFill>
                <a:latin typeface="Calibri" pitchFamily="34" charset="0"/>
                <a:ea typeface="Calibri" pitchFamily="34" charset="-122"/>
                <a:cs typeface="Calibri" pitchFamily="34" charset="-120"/>
              </a:rPr>
              <a:t>ANOMALY SCENARIOS</a:t>
            </a:r>
            <a:endParaRPr lang="en-US" sz="800" dirty="0"/>
          </a:p>
        </p:txBody>
      </p:sp>
      <p:sp>
        <p:nvSpPr>
          <p:cNvPr id="15" name="Shape 13"/>
          <p:cNvSpPr/>
          <p:nvPr/>
        </p:nvSpPr>
        <p:spPr>
          <a:xfrm>
            <a:off x="7289140" y="1207008"/>
            <a:ext cx="2130552" cy="749808"/>
          </a:xfrm>
          <a:prstGeom prst="roundRect">
            <a:avLst>
              <a:gd name="adj" fmla="val 9756"/>
            </a:avLst>
          </a:prstGeom>
          <a:solidFill>
            <a:srgbClr val="F5F6FA"/>
          </a:solidFill>
          <a:ln w="9525">
            <a:solidFill>
              <a:srgbClr val="E1E4EF"/>
            </a:solidFill>
            <a:prstDash val="solid"/>
          </a:ln>
        </p:spPr>
      </p:sp>
      <p:sp>
        <p:nvSpPr>
          <p:cNvPr id="16" name="Text 14"/>
          <p:cNvSpPr txBox="1"/>
          <p:nvPr/>
        </p:nvSpPr>
        <p:spPr>
          <a:xfrm>
            <a:off x="7289140" y="1261872"/>
            <a:ext cx="2130552" cy="384048"/>
          </a:xfrm>
          <a:prstGeom prst="rect">
            <a:avLst/>
          </a:prstGeom>
          <a:noFill/>
          <a:ln/>
        </p:spPr>
        <p:txBody>
          <a:bodyPr wrap="square" lIns="0" tIns="0" rIns="0" bIns="0" rtlCol="0" anchor="ctr"/>
          <a:lstStyle/>
          <a:p>
            <a:pPr algn="ctr" indent="0" marL="0">
              <a:buNone/>
            </a:pPr>
            <a:r>
              <a:rPr lang="en-US" sz="1900" b="1" dirty="0">
                <a:solidFill>
                  <a:srgbClr val="141B33"/>
                </a:solidFill>
                <a:latin typeface="Cambria" pitchFamily="34" charset="0"/>
                <a:ea typeface="Cambria" pitchFamily="34" charset="-122"/>
                <a:cs typeface="Cambria" pitchFamily="34" charset="-120"/>
              </a:rPr>
              <a:t>307</a:t>
            </a:r>
            <a:endParaRPr lang="en-US" sz="1900" dirty="0"/>
          </a:p>
        </p:txBody>
      </p:sp>
      <p:sp>
        <p:nvSpPr>
          <p:cNvPr id="17" name="Text 15"/>
          <p:cNvSpPr txBox="1"/>
          <p:nvPr/>
        </p:nvSpPr>
        <p:spPr>
          <a:xfrm>
            <a:off x="7289140" y="1645920"/>
            <a:ext cx="2130552" cy="256032"/>
          </a:xfrm>
          <a:prstGeom prst="rect">
            <a:avLst/>
          </a:prstGeom>
          <a:noFill/>
          <a:ln/>
        </p:spPr>
        <p:txBody>
          <a:bodyPr wrap="square" lIns="0" tIns="0" rIns="0" bIns="0" rtlCol="0" anchor="ctr"/>
          <a:lstStyle/>
          <a:p>
            <a:pPr algn="ctr" indent="0" marL="0">
              <a:buNone/>
            </a:pPr>
            <a:r>
              <a:rPr lang="en-US" sz="800" spc="50" kern="0" dirty="0">
                <a:solidFill>
                  <a:srgbClr val="5B6584"/>
                </a:solidFill>
                <a:latin typeface="Calibri" pitchFamily="34" charset="0"/>
                <a:ea typeface="Calibri" pitchFamily="34" charset="-122"/>
                <a:cs typeface="Calibri" pitchFamily="34" charset="-120"/>
              </a:rPr>
              <a:t>HOLDOUT LABELS</a:t>
            </a:r>
            <a:endParaRPr lang="en-US" sz="800" dirty="0"/>
          </a:p>
        </p:txBody>
      </p:sp>
      <p:sp>
        <p:nvSpPr>
          <p:cNvPr id="18" name="Shape 16"/>
          <p:cNvSpPr/>
          <p:nvPr/>
        </p:nvSpPr>
        <p:spPr>
          <a:xfrm>
            <a:off x="9547708" y="1207008"/>
            <a:ext cx="2130552" cy="749808"/>
          </a:xfrm>
          <a:prstGeom prst="roundRect">
            <a:avLst>
              <a:gd name="adj" fmla="val 9756"/>
            </a:avLst>
          </a:prstGeom>
          <a:solidFill>
            <a:srgbClr val="F5F6FA"/>
          </a:solidFill>
          <a:ln w="9525">
            <a:solidFill>
              <a:srgbClr val="E1E4EF"/>
            </a:solidFill>
            <a:prstDash val="solid"/>
          </a:ln>
        </p:spPr>
      </p:sp>
      <p:sp>
        <p:nvSpPr>
          <p:cNvPr id="19" name="Text 17"/>
          <p:cNvSpPr txBox="1"/>
          <p:nvPr/>
        </p:nvSpPr>
        <p:spPr>
          <a:xfrm>
            <a:off x="9547708" y="1261872"/>
            <a:ext cx="2130552" cy="384048"/>
          </a:xfrm>
          <a:prstGeom prst="rect">
            <a:avLst/>
          </a:prstGeom>
          <a:noFill/>
          <a:ln/>
        </p:spPr>
        <p:txBody>
          <a:bodyPr wrap="square" lIns="0" tIns="0" rIns="0" bIns="0" rtlCol="0" anchor="ctr"/>
          <a:lstStyle/>
          <a:p>
            <a:pPr algn="ctr" indent="0" marL="0">
              <a:buNone/>
            </a:pPr>
            <a:r>
              <a:rPr lang="en-US" sz="1900" b="1" dirty="0">
                <a:solidFill>
                  <a:srgbClr val="141B33"/>
                </a:solidFill>
                <a:latin typeface="Cambria" pitchFamily="34" charset="0"/>
                <a:ea typeface="Cambria" pitchFamily="34" charset="-122"/>
                <a:cs typeface="Cambria" pitchFamily="34" charset="-120"/>
              </a:rPr>
              <a:t>53</a:t>
            </a:r>
            <a:endParaRPr lang="en-US" sz="1900" dirty="0"/>
          </a:p>
        </p:txBody>
      </p:sp>
      <p:sp>
        <p:nvSpPr>
          <p:cNvPr id="20" name="Text 18"/>
          <p:cNvSpPr txBox="1"/>
          <p:nvPr/>
        </p:nvSpPr>
        <p:spPr>
          <a:xfrm>
            <a:off x="9547708" y="1645920"/>
            <a:ext cx="2130552" cy="256032"/>
          </a:xfrm>
          <a:prstGeom prst="rect">
            <a:avLst/>
          </a:prstGeom>
          <a:noFill/>
          <a:ln/>
        </p:spPr>
        <p:txBody>
          <a:bodyPr wrap="square" lIns="0" tIns="0" rIns="0" bIns="0" rtlCol="0" anchor="ctr"/>
          <a:lstStyle/>
          <a:p>
            <a:pPr algn="ctr" indent="0" marL="0">
              <a:buNone/>
            </a:pPr>
            <a:r>
              <a:rPr lang="en-US" sz="800" spc="50" kern="0" dirty="0">
                <a:solidFill>
                  <a:srgbClr val="5B6584"/>
                </a:solidFill>
                <a:latin typeface="Calibri" pitchFamily="34" charset="0"/>
                <a:ea typeface="Calibri" pitchFamily="34" charset="-122"/>
                <a:cs typeface="Calibri" pitchFamily="34" charset="-120"/>
              </a:rPr>
              <a:t>BACKEND TESTS</a:t>
            </a:r>
            <a:endParaRPr lang="en-US" sz="800" dirty="0"/>
          </a:p>
        </p:txBody>
      </p:sp>
      <p:sp>
        <p:nvSpPr>
          <p:cNvPr id="21" name="Shape 19"/>
          <p:cNvSpPr/>
          <p:nvPr/>
        </p:nvSpPr>
        <p:spPr>
          <a:xfrm>
            <a:off x="548640" y="2103120"/>
            <a:ext cx="5074920" cy="3127248"/>
          </a:xfrm>
          <a:prstGeom prst="roundRect">
            <a:avLst>
              <a:gd name="adj" fmla="val 2924"/>
            </a:avLst>
          </a:prstGeom>
          <a:solidFill>
            <a:srgbClr val="F5F6FA"/>
          </a:solidFill>
          <a:ln w="9525">
            <a:solidFill>
              <a:srgbClr val="E1E4EF"/>
            </a:solidFill>
            <a:prstDash val="solid"/>
          </a:ln>
        </p:spPr>
      </p:sp>
      <p:sp>
        <p:nvSpPr>
          <p:cNvPr id="22" name="Text 20"/>
          <p:cNvSpPr txBox="1"/>
          <p:nvPr/>
        </p:nvSpPr>
        <p:spPr>
          <a:xfrm>
            <a:off x="804672" y="2267712"/>
            <a:ext cx="4562856" cy="292608"/>
          </a:xfrm>
          <a:prstGeom prst="rect">
            <a:avLst/>
          </a:prstGeom>
          <a:noFill/>
          <a:ln/>
        </p:spPr>
        <p:txBody>
          <a:bodyPr wrap="square" lIns="0" tIns="0" rIns="0" bIns="0" rtlCol="0" anchor="ctr"/>
          <a:lstStyle/>
          <a:p>
            <a:pPr indent="0" marL="0">
              <a:buNone/>
            </a:pPr>
            <a:r>
              <a:rPr lang="en-US" sz="1200" b="1" dirty="0">
                <a:solidFill>
                  <a:srgbClr val="141B33"/>
                </a:solidFill>
                <a:latin typeface="Calibri" pitchFamily="34" charset="0"/>
                <a:ea typeface="Calibri" pitchFamily="34" charset="-122"/>
                <a:cs typeface="Calibri" pitchFamily="34" charset="-120"/>
              </a:rPr>
              <a:t>System-wide holdout evaluation · 307 labels</a:t>
            </a:r>
            <a:endParaRPr lang="en-US" sz="1200" dirty="0"/>
          </a:p>
        </p:txBody>
      </p:sp>
      <p:sp>
        <p:nvSpPr>
          <p:cNvPr id="23" name="Text 21"/>
          <p:cNvSpPr txBox="1"/>
          <p:nvPr/>
        </p:nvSpPr>
        <p:spPr>
          <a:xfrm>
            <a:off x="804672" y="2633472"/>
            <a:ext cx="3246120" cy="274320"/>
          </a:xfrm>
          <a:prstGeom prst="rect">
            <a:avLst/>
          </a:prstGeom>
          <a:noFill/>
          <a:ln/>
        </p:spPr>
        <p:txBody>
          <a:bodyPr wrap="square" lIns="0" tIns="0" rIns="0" bIns="0" rtlCol="0" anchor="ctr"/>
          <a:lstStyle/>
          <a:p>
            <a:pPr indent="0" marL="0">
              <a:buNone/>
            </a:pPr>
            <a:r>
              <a:rPr lang="en-US" sz="1050" dirty="0">
                <a:solidFill>
                  <a:srgbClr val="5B6584"/>
                </a:solidFill>
                <a:latin typeface="Calibri" pitchFamily="34" charset="0"/>
                <a:ea typeface="Calibri" pitchFamily="34" charset="-122"/>
                <a:cs typeface="Calibri" pitchFamily="34" charset="-120"/>
              </a:rPr>
              <a:t>Precision</a:t>
            </a:r>
            <a:endParaRPr lang="en-US" sz="1050" dirty="0"/>
          </a:p>
        </p:txBody>
      </p:sp>
      <p:sp>
        <p:nvSpPr>
          <p:cNvPr id="24" name="Text 22"/>
          <p:cNvSpPr txBox="1"/>
          <p:nvPr/>
        </p:nvSpPr>
        <p:spPr>
          <a:xfrm>
            <a:off x="3931920" y="2633472"/>
            <a:ext cx="1463040" cy="274320"/>
          </a:xfrm>
          <a:prstGeom prst="rect">
            <a:avLst/>
          </a:prstGeom>
          <a:noFill/>
          <a:ln/>
        </p:spPr>
        <p:txBody>
          <a:bodyPr wrap="square" lIns="0" tIns="0" rIns="0" bIns="0" rtlCol="0" anchor="ctr"/>
          <a:lstStyle/>
          <a:p>
            <a:pPr algn="r" indent="0" marL="0">
              <a:buNone/>
            </a:pPr>
            <a:r>
              <a:rPr lang="en-US" sz="1150" b="1" dirty="0">
                <a:solidFill>
                  <a:srgbClr val="141B33"/>
                </a:solidFill>
                <a:latin typeface="Calibri" pitchFamily="34" charset="0"/>
                <a:ea typeface="Calibri" pitchFamily="34" charset="-122"/>
                <a:cs typeface="Calibri" pitchFamily="34" charset="-120"/>
              </a:rPr>
              <a:t>100%</a:t>
            </a:r>
            <a:endParaRPr lang="en-US" sz="1150" dirty="0"/>
          </a:p>
        </p:txBody>
      </p:sp>
      <p:sp>
        <p:nvSpPr>
          <p:cNvPr id="25" name="Text 23"/>
          <p:cNvSpPr txBox="1"/>
          <p:nvPr/>
        </p:nvSpPr>
        <p:spPr>
          <a:xfrm>
            <a:off x="804672" y="2907792"/>
            <a:ext cx="3246120" cy="274320"/>
          </a:xfrm>
          <a:prstGeom prst="rect">
            <a:avLst/>
          </a:prstGeom>
          <a:noFill/>
          <a:ln/>
        </p:spPr>
        <p:txBody>
          <a:bodyPr wrap="square" lIns="0" tIns="0" rIns="0" bIns="0" rtlCol="0" anchor="ctr"/>
          <a:lstStyle/>
          <a:p>
            <a:pPr indent="0" marL="0">
              <a:buNone/>
            </a:pPr>
            <a:r>
              <a:rPr lang="en-US" sz="1050" dirty="0">
                <a:solidFill>
                  <a:srgbClr val="5B6584"/>
                </a:solidFill>
                <a:latin typeface="Calibri" pitchFamily="34" charset="0"/>
                <a:ea typeface="Calibri" pitchFamily="34" charset="-122"/>
                <a:cs typeface="Calibri" pitchFamily="34" charset="-120"/>
              </a:rPr>
              <a:t>Recall</a:t>
            </a:r>
            <a:endParaRPr lang="en-US" sz="1050" dirty="0"/>
          </a:p>
        </p:txBody>
      </p:sp>
      <p:sp>
        <p:nvSpPr>
          <p:cNvPr id="26" name="Text 24"/>
          <p:cNvSpPr txBox="1"/>
          <p:nvPr/>
        </p:nvSpPr>
        <p:spPr>
          <a:xfrm>
            <a:off x="3931920" y="2907792"/>
            <a:ext cx="1463040" cy="274320"/>
          </a:xfrm>
          <a:prstGeom prst="rect">
            <a:avLst/>
          </a:prstGeom>
          <a:noFill/>
          <a:ln/>
        </p:spPr>
        <p:txBody>
          <a:bodyPr wrap="square" lIns="0" tIns="0" rIns="0" bIns="0" rtlCol="0" anchor="ctr"/>
          <a:lstStyle/>
          <a:p>
            <a:pPr algn="r" indent="0" marL="0">
              <a:buNone/>
            </a:pPr>
            <a:r>
              <a:rPr lang="en-US" sz="1150" b="1" dirty="0">
                <a:solidFill>
                  <a:srgbClr val="141B33"/>
                </a:solidFill>
                <a:latin typeface="Calibri" pitchFamily="34" charset="0"/>
                <a:ea typeface="Calibri" pitchFamily="34" charset="-122"/>
                <a:cs typeface="Calibri" pitchFamily="34" charset="-120"/>
              </a:rPr>
              <a:t>77%</a:t>
            </a:r>
            <a:endParaRPr lang="en-US" sz="1150" dirty="0"/>
          </a:p>
        </p:txBody>
      </p:sp>
      <p:sp>
        <p:nvSpPr>
          <p:cNvPr id="27" name="Text 25"/>
          <p:cNvSpPr txBox="1"/>
          <p:nvPr/>
        </p:nvSpPr>
        <p:spPr>
          <a:xfrm>
            <a:off x="804672" y="3182112"/>
            <a:ext cx="3246120" cy="274320"/>
          </a:xfrm>
          <a:prstGeom prst="rect">
            <a:avLst/>
          </a:prstGeom>
          <a:noFill/>
          <a:ln/>
        </p:spPr>
        <p:txBody>
          <a:bodyPr wrap="square" lIns="0" tIns="0" rIns="0" bIns="0" rtlCol="0" anchor="ctr"/>
          <a:lstStyle/>
          <a:p>
            <a:pPr indent="0" marL="0">
              <a:buNone/>
            </a:pPr>
            <a:r>
              <a:rPr lang="en-US" sz="1050" dirty="0">
                <a:solidFill>
                  <a:srgbClr val="5B6584"/>
                </a:solidFill>
                <a:latin typeface="Calibri" pitchFamily="34" charset="0"/>
                <a:ea typeface="Calibri" pitchFamily="34" charset="-122"/>
                <a:cs typeface="Calibri" pitchFamily="34" charset="-120"/>
              </a:rPr>
              <a:t>F1</a:t>
            </a:r>
            <a:endParaRPr lang="en-US" sz="1050" dirty="0"/>
          </a:p>
        </p:txBody>
      </p:sp>
      <p:sp>
        <p:nvSpPr>
          <p:cNvPr id="28" name="Text 26"/>
          <p:cNvSpPr txBox="1"/>
          <p:nvPr/>
        </p:nvSpPr>
        <p:spPr>
          <a:xfrm>
            <a:off x="3931920" y="3182112"/>
            <a:ext cx="1463040" cy="274320"/>
          </a:xfrm>
          <a:prstGeom prst="rect">
            <a:avLst/>
          </a:prstGeom>
          <a:noFill/>
          <a:ln/>
        </p:spPr>
        <p:txBody>
          <a:bodyPr wrap="square" lIns="0" tIns="0" rIns="0" bIns="0" rtlCol="0" anchor="ctr"/>
          <a:lstStyle/>
          <a:p>
            <a:pPr algn="r" indent="0" marL="0">
              <a:buNone/>
            </a:pPr>
            <a:r>
              <a:rPr lang="en-US" sz="1150" b="1" dirty="0">
                <a:solidFill>
                  <a:srgbClr val="141B33"/>
                </a:solidFill>
                <a:latin typeface="Calibri" pitchFamily="34" charset="0"/>
                <a:ea typeface="Calibri" pitchFamily="34" charset="-122"/>
                <a:cs typeface="Calibri" pitchFamily="34" charset="-120"/>
              </a:rPr>
              <a:t>87%</a:t>
            </a:r>
            <a:endParaRPr lang="en-US" sz="1150" dirty="0"/>
          </a:p>
        </p:txBody>
      </p:sp>
      <p:sp>
        <p:nvSpPr>
          <p:cNvPr id="29" name="Text 27"/>
          <p:cNvSpPr txBox="1"/>
          <p:nvPr/>
        </p:nvSpPr>
        <p:spPr>
          <a:xfrm>
            <a:off x="804672" y="3456432"/>
            <a:ext cx="3246120" cy="274320"/>
          </a:xfrm>
          <a:prstGeom prst="rect">
            <a:avLst/>
          </a:prstGeom>
          <a:noFill/>
          <a:ln/>
        </p:spPr>
        <p:txBody>
          <a:bodyPr wrap="square" lIns="0" tIns="0" rIns="0" bIns="0" rtlCol="0" anchor="ctr"/>
          <a:lstStyle/>
          <a:p>
            <a:pPr indent="0" marL="0">
              <a:buNone/>
            </a:pPr>
            <a:r>
              <a:rPr lang="en-US" sz="1050" dirty="0">
                <a:solidFill>
                  <a:srgbClr val="5B6584"/>
                </a:solidFill>
                <a:latin typeface="Calibri" pitchFamily="34" charset="0"/>
                <a:ea typeface="Calibri" pitchFamily="34" charset="-122"/>
                <a:cs typeface="Calibri" pitchFamily="34" charset="-120"/>
              </a:rPr>
              <a:t>False positive rate</a:t>
            </a:r>
            <a:endParaRPr lang="en-US" sz="1050" dirty="0"/>
          </a:p>
        </p:txBody>
      </p:sp>
      <p:sp>
        <p:nvSpPr>
          <p:cNvPr id="30" name="Text 28"/>
          <p:cNvSpPr txBox="1"/>
          <p:nvPr/>
        </p:nvSpPr>
        <p:spPr>
          <a:xfrm>
            <a:off x="3931920" y="3456432"/>
            <a:ext cx="1463040" cy="274320"/>
          </a:xfrm>
          <a:prstGeom prst="rect">
            <a:avLst/>
          </a:prstGeom>
          <a:noFill/>
          <a:ln/>
        </p:spPr>
        <p:txBody>
          <a:bodyPr wrap="square" lIns="0" tIns="0" rIns="0" bIns="0" rtlCol="0" anchor="ctr"/>
          <a:lstStyle/>
          <a:p>
            <a:pPr algn="r" indent="0" marL="0">
              <a:buNone/>
            </a:pPr>
            <a:r>
              <a:rPr lang="en-US" sz="1150" b="1" dirty="0">
                <a:solidFill>
                  <a:srgbClr val="141B33"/>
                </a:solidFill>
                <a:latin typeface="Calibri" pitchFamily="34" charset="0"/>
                <a:ea typeface="Calibri" pitchFamily="34" charset="-122"/>
                <a:cs typeface="Calibri" pitchFamily="34" charset="-120"/>
              </a:rPr>
              <a:t>0%</a:t>
            </a:r>
            <a:endParaRPr lang="en-US" sz="1150" dirty="0"/>
          </a:p>
        </p:txBody>
      </p:sp>
      <p:sp>
        <p:nvSpPr>
          <p:cNvPr id="31" name="Text 29"/>
          <p:cNvSpPr txBox="1"/>
          <p:nvPr/>
        </p:nvSpPr>
        <p:spPr>
          <a:xfrm>
            <a:off x="804672" y="3730752"/>
            <a:ext cx="3246120" cy="274320"/>
          </a:xfrm>
          <a:prstGeom prst="rect">
            <a:avLst/>
          </a:prstGeom>
          <a:noFill/>
          <a:ln/>
        </p:spPr>
        <p:txBody>
          <a:bodyPr wrap="square" lIns="0" tIns="0" rIns="0" bIns="0" rtlCol="0" anchor="ctr"/>
          <a:lstStyle/>
          <a:p>
            <a:pPr indent="0" marL="0">
              <a:buNone/>
            </a:pPr>
            <a:r>
              <a:rPr lang="en-US" sz="1050" dirty="0">
                <a:solidFill>
                  <a:srgbClr val="5B6584"/>
                </a:solidFill>
                <a:latin typeface="Calibri" pitchFamily="34" charset="0"/>
                <a:ea typeface="Calibri" pitchFamily="34" charset="-122"/>
                <a:cs typeface="Calibri" pitchFamily="34" charset="-120"/>
              </a:rPr>
              <a:t>Root-cause accuracy*</a:t>
            </a:r>
            <a:endParaRPr lang="en-US" sz="1050" dirty="0"/>
          </a:p>
        </p:txBody>
      </p:sp>
      <p:sp>
        <p:nvSpPr>
          <p:cNvPr id="32" name="Text 30"/>
          <p:cNvSpPr txBox="1"/>
          <p:nvPr/>
        </p:nvSpPr>
        <p:spPr>
          <a:xfrm>
            <a:off x="3931920" y="3730752"/>
            <a:ext cx="1463040" cy="274320"/>
          </a:xfrm>
          <a:prstGeom prst="rect">
            <a:avLst/>
          </a:prstGeom>
          <a:noFill/>
          <a:ln/>
        </p:spPr>
        <p:txBody>
          <a:bodyPr wrap="square" lIns="0" tIns="0" rIns="0" bIns="0" rtlCol="0" anchor="ctr"/>
          <a:lstStyle/>
          <a:p>
            <a:pPr algn="r" indent="0" marL="0">
              <a:buNone/>
            </a:pPr>
            <a:r>
              <a:rPr lang="en-US" sz="1150" b="1" dirty="0">
                <a:solidFill>
                  <a:srgbClr val="141B33"/>
                </a:solidFill>
                <a:latin typeface="Calibri" pitchFamily="34" charset="0"/>
                <a:ea typeface="Calibri" pitchFamily="34" charset="-122"/>
                <a:cs typeface="Calibri" pitchFamily="34" charset="-120"/>
              </a:rPr>
              <a:t>96%</a:t>
            </a:r>
            <a:endParaRPr lang="en-US" sz="1150" dirty="0"/>
          </a:p>
        </p:txBody>
      </p:sp>
      <p:sp>
        <p:nvSpPr>
          <p:cNvPr id="33" name="Text 31"/>
          <p:cNvSpPr txBox="1"/>
          <p:nvPr/>
        </p:nvSpPr>
        <p:spPr>
          <a:xfrm>
            <a:off x="804672" y="4005072"/>
            <a:ext cx="3246120" cy="274320"/>
          </a:xfrm>
          <a:prstGeom prst="rect">
            <a:avLst/>
          </a:prstGeom>
          <a:noFill/>
          <a:ln/>
        </p:spPr>
        <p:txBody>
          <a:bodyPr wrap="square" lIns="0" tIns="0" rIns="0" bIns="0" rtlCol="0" anchor="ctr"/>
          <a:lstStyle/>
          <a:p>
            <a:pPr indent="0" marL="0">
              <a:buNone/>
            </a:pPr>
            <a:r>
              <a:rPr lang="en-US" sz="1050" dirty="0">
                <a:solidFill>
                  <a:srgbClr val="5B6584"/>
                </a:solidFill>
                <a:latin typeface="Calibri" pitchFamily="34" charset="0"/>
                <a:ea typeface="Calibri" pitchFamily="34" charset="-122"/>
                <a:cs typeface="Calibri" pitchFamily="34" charset="-120"/>
              </a:rPr>
              <a:t>Money-at-risk error (MAPE)</a:t>
            </a:r>
            <a:endParaRPr lang="en-US" sz="1050" dirty="0"/>
          </a:p>
        </p:txBody>
      </p:sp>
      <p:sp>
        <p:nvSpPr>
          <p:cNvPr id="34" name="Text 32"/>
          <p:cNvSpPr txBox="1"/>
          <p:nvPr/>
        </p:nvSpPr>
        <p:spPr>
          <a:xfrm>
            <a:off x="3931920" y="4005072"/>
            <a:ext cx="1463040" cy="274320"/>
          </a:xfrm>
          <a:prstGeom prst="rect">
            <a:avLst/>
          </a:prstGeom>
          <a:noFill/>
          <a:ln/>
        </p:spPr>
        <p:txBody>
          <a:bodyPr wrap="square" lIns="0" tIns="0" rIns="0" bIns="0" rtlCol="0" anchor="ctr"/>
          <a:lstStyle/>
          <a:p>
            <a:pPr algn="r" indent="0" marL="0">
              <a:buNone/>
            </a:pPr>
            <a:r>
              <a:rPr lang="en-US" sz="1150" b="1" dirty="0">
                <a:solidFill>
                  <a:srgbClr val="141B33"/>
                </a:solidFill>
                <a:latin typeface="Calibri" pitchFamily="34" charset="0"/>
                <a:ea typeface="Calibri" pitchFamily="34" charset="-122"/>
                <a:cs typeface="Calibri" pitchFamily="34" charset="-120"/>
              </a:rPr>
              <a:t>0.35%</a:t>
            </a:r>
            <a:endParaRPr lang="en-US" sz="1150" dirty="0"/>
          </a:p>
        </p:txBody>
      </p:sp>
      <p:sp>
        <p:nvSpPr>
          <p:cNvPr id="35" name="Text 33"/>
          <p:cNvSpPr txBox="1"/>
          <p:nvPr/>
        </p:nvSpPr>
        <p:spPr>
          <a:xfrm>
            <a:off x="804672" y="4279392"/>
            <a:ext cx="3246120" cy="274320"/>
          </a:xfrm>
          <a:prstGeom prst="rect">
            <a:avLst/>
          </a:prstGeom>
          <a:noFill/>
          <a:ln/>
        </p:spPr>
        <p:txBody>
          <a:bodyPr wrap="square" lIns="0" tIns="0" rIns="0" bIns="0" rtlCol="0" anchor="ctr"/>
          <a:lstStyle/>
          <a:p>
            <a:pPr indent="0" marL="0">
              <a:buNone/>
            </a:pPr>
            <a:r>
              <a:rPr lang="en-US" sz="1050" dirty="0">
                <a:solidFill>
                  <a:srgbClr val="5B6584"/>
                </a:solidFill>
                <a:latin typeface="Calibri" pitchFamily="34" charset="0"/>
                <a:ea typeface="Calibri" pitchFamily="34" charset="-122"/>
                <a:cs typeface="Calibri" pitchFamily="34" charset="-120"/>
              </a:rPr>
              <a:t>Throughput</a:t>
            </a:r>
            <a:endParaRPr lang="en-US" sz="1050" dirty="0"/>
          </a:p>
        </p:txBody>
      </p:sp>
      <p:sp>
        <p:nvSpPr>
          <p:cNvPr id="36" name="Text 34"/>
          <p:cNvSpPr txBox="1"/>
          <p:nvPr/>
        </p:nvSpPr>
        <p:spPr>
          <a:xfrm>
            <a:off x="3931920" y="4279392"/>
            <a:ext cx="1463040" cy="274320"/>
          </a:xfrm>
          <a:prstGeom prst="rect">
            <a:avLst/>
          </a:prstGeom>
          <a:noFill/>
          <a:ln/>
        </p:spPr>
        <p:txBody>
          <a:bodyPr wrap="square" lIns="0" tIns="0" rIns="0" bIns="0" rtlCol="0" anchor="ctr"/>
          <a:lstStyle/>
          <a:p>
            <a:pPr algn="r" indent="0" marL="0">
              <a:buNone/>
            </a:pPr>
            <a:r>
              <a:rPr lang="en-US" sz="1150" b="1" dirty="0">
                <a:solidFill>
                  <a:srgbClr val="141B33"/>
                </a:solidFill>
                <a:latin typeface="Calibri" pitchFamily="34" charset="0"/>
                <a:ea typeface="Calibri" pitchFamily="34" charset="-122"/>
                <a:cs typeface="Calibri" pitchFamily="34" charset="-120"/>
              </a:rPr>
              <a:t>~4,200 rec/s</a:t>
            </a:r>
            <a:endParaRPr lang="en-US" sz="1150" dirty="0"/>
          </a:p>
        </p:txBody>
      </p:sp>
      <p:sp>
        <p:nvSpPr>
          <p:cNvPr id="37" name="Text 35"/>
          <p:cNvSpPr txBox="1"/>
          <p:nvPr/>
        </p:nvSpPr>
        <p:spPr>
          <a:xfrm>
            <a:off x="804672" y="4645152"/>
            <a:ext cx="4562856" cy="493776"/>
          </a:xfrm>
          <a:prstGeom prst="rect">
            <a:avLst/>
          </a:prstGeom>
          <a:noFill/>
          <a:ln/>
        </p:spPr>
        <p:txBody>
          <a:bodyPr wrap="square" lIns="0" tIns="0" rIns="0" bIns="0" rtlCol="0" anchor="ctr"/>
          <a:lstStyle/>
          <a:p>
            <a:pPr indent="0" marL="0">
              <a:lnSpc>
                <a:spcPct val="110000"/>
              </a:lnSpc>
              <a:buNone/>
            </a:pPr>
            <a:r>
              <a:rPr lang="en-US" sz="860" i="1" dirty="0">
                <a:solidFill>
                  <a:srgbClr val="5B6584"/>
                </a:solidFill>
                <a:latin typeface="Calibri" pitchFamily="34" charset="0"/>
                <a:ea typeface="Calibri" pitchFamily="34" charset="-122"/>
                <a:cs typeface="Calibri" pitchFamily="34" charset="-120"/>
              </a:rPr>
              <a:t>*on true positives actually caught, not on every injected anomaly. Weakest categories: fee_anomaly 62% recall, settlement_variance 46% recall — reported as measured, not tuned away.</a:t>
            </a:r>
            <a:endParaRPr lang="en-US" sz="860" dirty="0"/>
          </a:p>
        </p:txBody>
      </p:sp>
      <p:sp>
        <p:nvSpPr>
          <p:cNvPr id="38" name="Shape 36"/>
          <p:cNvSpPr/>
          <p:nvPr/>
        </p:nvSpPr>
        <p:spPr>
          <a:xfrm>
            <a:off x="5852160" y="2103120"/>
            <a:ext cx="5788152" cy="3127248"/>
          </a:xfrm>
          <a:prstGeom prst="roundRect">
            <a:avLst>
              <a:gd name="adj" fmla="val 2924"/>
            </a:avLst>
          </a:prstGeom>
          <a:solidFill>
            <a:srgbClr val="F5F6FA"/>
          </a:solidFill>
          <a:ln w="9525">
            <a:solidFill>
              <a:srgbClr val="E1E4EF"/>
            </a:solidFill>
            <a:prstDash val="solid"/>
          </a:ln>
        </p:spPr>
      </p:sp>
      <p:sp>
        <p:nvSpPr>
          <p:cNvPr id="39" name="Text 37"/>
          <p:cNvSpPr txBox="1"/>
          <p:nvPr/>
        </p:nvSpPr>
        <p:spPr>
          <a:xfrm>
            <a:off x="6108192" y="2267712"/>
            <a:ext cx="5276088" cy="320040"/>
          </a:xfrm>
          <a:prstGeom prst="rect">
            <a:avLst/>
          </a:prstGeom>
          <a:noFill/>
          <a:ln/>
        </p:spPr>
        <p:txBody>
          <a:bodyPr wrap="square" lIns="0" tIns="0" rIns="0" bIns="0" rtlCol="0" anchor="ctr"/>
          <a:lstStyle/>
          <a:p>
            <a:pPr indent="0" marL="0">
              <a:buNone/>
            </a:pPr>
            <a:r>
              <a:rPr lang="en-US" sz="1200" b="1" dirty="0">
                <a:solidFill>
                  <a:srgbClr val="141B33"/>
                </a:solidFill>
                <a:latin typeface="Calibri" pitchFamily="34" charset="0"/>
                <a:ea typeface="Calibri" pitchFamily="34" charset="-122"/>
                <a:cs typeface="Calibri" pitchFamily="34" charset="-120"/>
              </a:rPr>
              <a:t>Merchant-anomaly detector comparison</a:t>
            </a:r>
            <a:endParaRPr lang="en-US" sz="1200" dirty="0"/>
          </a:p>
        </p:txBody>
      </p:sp>
      <p:graphicFrame>
        <p:nvGraphicFramePr>
          <p:cNvPr id="40" name="Chart 0" descr=""/>
          <p:cNvGraphicFramePr/>
          <p:nvPr/>
        </p:nvGraphicFramePr>
        <p:xfrm>
          <a:off x="6053328" y="2633472"/>
          <a:ext cx="5385816" cy="2441448"/>
        </p:xfrm>
        <a:graphic xmlns:a="http://schemas.openxmlformats.org/drawingml/2006/main">
          <a:graphicData uri="http://schemas.openxmlformats.org/drawingml/2006/chart">
            <c:chart xmlns:c="http://schemas.openxmlformats.org/drawingml/2006/chart" r:id="rId1"/>
          </a:graphicData>
        </a:graphic>
      </p:graphicFrame>
      <p:sp>
        <p:nvSpPr>
          <p:cNvPr id="41" name="Shape 38"/>
          <p:cNvSpPr/>
          <p:nvPr/>
        </p:nvSpPr>
        <p:spPr>
          <a:xfrm>
            <a:off x="548640" y="5394960"/>
            <a:ext cx="11091672" cy="777240"/>
          </a:xfrm>
          <a:prstGeom prst="roundRect">
            <a:avLst>
              <a:gd name="adj" fmla="val 9412"/>
            </a:avLst>
          </a:prstGeom>
          <a:solidFill>
            <a:srgbClr val="FBF0DE"/>
          </a:solidFill>
          <a:ln/>
        </p:spPr>
      </p:sp>
      <p:sp>
        <p:nvSpPr>
          <p:cNvPr id="42" name="Text 39"/>
          <p:cNvSpPr txBox="1"/>
          <p:nvPr/>
        </p:nvSpPr>
        <p:spPr>
          <a:xfrm>
            <a:off x="822960" y="5394960"/>
            <a:ext cx="10543032" cy="777240"/>
          </a:xfrm>
          <a:prstGeom prst="rect">
            <a:avLst/>
          </a:prstGeom>
          <a:noFill/>
          <a:ln/>
        </p:spPr>
        <p:txBody>
          <a:bodyPr wrap="square" lIns="0" tIns="0" rIns="0" bIns="0" rtlCol="0" anchor="ctr"/>
          <a:lstStyle/>
          <a:p>
            <a:pPr indent="0" marL="0">
              <a:lnSpc>
                <a:spcPct val="110000"/>
              </a:lnSpc>
              <a:buNone/>
            </a:pPr>
            <a:r>
              <a:rPr lang="en-US" sz="1150" b="1" dirty="0">
                <a:solidFill>
                  <a:srgbClr val="5C4318"/>
                </a:solidFill>
                <a:latin typeface="Calibri" pitchFamily="34" charset="0"/>
                <a:ea typeface="Calibri" pitchFamily="34" charset="-122"/>
                <a:cs typeface="Calibri" pitchFamily="34" charset="-120"/>
              </a:rPr>
              <a:t>Early directional benchmark — 6 positive / 12 negative holdout merchants. </a:t>
            </a:r>
            <a:pPr indent="0" marL="0">
              <a:lnSpc>
                <a:spcPct val="110000"/>
              </a:lnSpc>
              <a:buNone/>
            </a:pPr>
            <a:r>
              <a:rPr lang="en-US" sz="1150" dirty="0">
                <a:solidFill>
                  <a:srgbClr val="5C4318"/>
                </a:solidFill>
                <a:latin typeface="Calibri" pitchFamily="34" charset="0"/>
                <a:ea typeface="Calibri" pitchFamily="34" charset="-122"/>
                <a:cs typeface="Calibri" pitchFamily="34" charset="-120"/>
              </a:rPr>
              <a:t>The ensemble raises recall (33%→67%) but nearly triples the false-positive rate (25%→67%). Not statistically powered; not production-ready.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88136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DIFFERENTIATION</a:t>
            </a:r>
            <a:endParaRPr lang="en-US" sz="1200" dirty="0"/>
          </a:p>
        </p:txBody>
      </p:sp>
      <p:sp>
        <p:nvSpPr>
          <p:cNvPr id="3" name="Text 1"/>
          <p:cNvSpPr txBox="1"/>
          <p:nvPr/>
        </p:nvSpPr>
        <p:spPr>
          <a:xfrm>
            <a:off x="548640" y="658368"/>
            <a:ext cx="1088136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Five things a red dot on a dashboard doesn’t give you</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08 / 12</a:t>
            </a:r>
            <a:endParaRPr lang="en-US" sz="900" dirty="0"/>
          </a:p>
        </p:txBody>
      </p:sp>
      <p:sp>
        <p:nvSpPr>
          <p:cNvPr id="6" name="Shape 4"/>
          <p:cNvSpPr/>
          <p:nvPr/>
        </p:nvSpPr>
        <p:spPr>
          <a:xfrm>
            <a:off x="621792" y="1764792"/>
            <a:ext cx="548640" cy="548640"/>
          </a:xfrm>
          <a:prstGeom prst="ellipse">
            <a:avLst/>
          </a:prstGeom>
          <a:solidFill>
            <a:srgbClr val="0F1428"/>
          </a:solidFill>
          <a:ln/>
        </p:spPr>
      </p:sp>
      <p:pic>
        <p:nvPicPr>
          <p:cNvPr id="7" name="Image 0" descr="preencoded.png">    </p:cNvPr>
          <p:cNvPicPr>
            <a:picLocks noChangeAspect="1"/>
          </p:cNvPicPr>
          <p:nvPr/>
        </p:nvPicPr>
        <p:blipFill>
          <a:blip r:embed="rId1"/>
          <a:stretch>
            <a:fillRect/>
          </a:stretch>
        </p:blipFill>
        <p:spPr>
          <a:xfrm>
            <a:off x="753466" y="1896466"/>
            <a:ext cx="285293" cy="285293"/>
          </a:xfrm>
          <a:prstGeom prst="rect">
            <a:avLst/>
          </a:prstGeom>
        </p:spPr>
      </p:pic>
      <p:sp>
        <p:nvSpPr>
          <p:cNvPr id="8" name="Text 5"/>
          <p:cNvSpPr txBox="1"/>
          <p:nvPr/>
        </p:nvSpPr>
        <p:spPr>
          <a:xfrm>
            <a:off x="1298448" y="1673352"/>
            <a:ext cx="5650992" cy="310896"/>
          </a:xfrm>
          <a:prstGeom prst="rect">
            <a:avLst/>
          </a:prstGeom>
          <a:noFill/>
          <a:ln/>
        </p:spPr>
        <p:txBody>
          <a:bodyPr wrap="square" lIns="0" tIns="0" rIns="0" bIns="0" rtlCol="0" anchor="ctr"/>
          <a:lstStyle/>
          <a:p>
            <a:pPr indent="0" marL="0">
              <a:buNone/>
            </a:pPr>
            <a:r>
              <a:rPr lang="en-US" sz="1400" b="1" dirty="0">
                <a:solidFill>
                  <a:srgbClr val="141B33"/>
                </a:solidFill>
                <a:latin typeface="Calibri" pitchFamily="34" charset="0"/>
                <a:ea typeface="Calibri" pitchFamily="34" charset="-122"/>
                <a:cs typeface="Calibri" pitchFamily="34" charset="-120"/>
              </a:rPr>
              <a:t>Detect</a:t>
            </a:r>
            <a:endParaRPr lang="en-US" sz="1400" dirty="0"/>
          </a:p>
        </p:txBody>
      </p:sp>
      <p:sp>
        <p:nvSpPr>
          <p:cNvPr id="9" name="Text 6"/>
          <p:cNvSpPr txBox="1"/>
          <p:nvPr/>
        </p:nvSpPr>
        <p:spPr>
          <a:xfrm>
            <a:off x="1298448" y="1965960"/>
            <a:ext cx="5650992" cy="411480"/>
          </a:xfrm>
          <a:prstGeom prst="rect">
            <a:avLst/>
          </a:prstGeom>
          <a:noFill/>
          <a:ln/>
        </p:spPr>
        <p:txBody>
          <a:bodyPr wrap="square" lIns="0" tIns="0" rIns="0" bIns="0" rtlCol="0" anchor="ctr"/>
          <a:lstStyle/>
          <a:p>
            <a:pPr indent="0" marL="0">
              <a:buNone/>
            </a:pPr>
            <a:r>
              <a:rPr lang="en-US" sz="1100" dirty="0">
                <a:solidFill>
                  <a:srgbClr val="5B6584"/>
                </a:solidFill>
                <a:latin typeface="Calibri" pitchFamily="34" charset="0"/>
                <a:ea typeface="Calibri" pitchFamily="34" charset="-122"/>
                <a:cs typeface="Calibri" pitchFamily="34" charset="-120"/>
              </a:rPr>
              <a:t>Multiple independent anomaly signals, not one rule</a:t>
            </a:r>
            <a:endParaRPr lang="en-US" sz="1100" dirty="0"/>
          </a:p>
        </p:txBody>
      </p:sp>
      <p:sp>
        <p:nvSpPr>
          <p:cNvPr id="10" name="Shape 7"/>
          <p:cNvSpPr/>
          <p:nvPr/>
        </p:nvSpPr>
        <p:spPr>
          <a:xfrm>
            <a:off x="621792" y="2551176"/>
            <a:ext cx="548640" cy="548640"/>
          </a:xfrm>
          <a:prstGeom prst="ellipse">
            <a:avLst/>
          </a:prstGeom>
          <a:solidFill>
            <a:srgbClr val="0F1428"/>
          </a:solidFill>
          <a:ln/>
        </p:spPr>
      </p:sp>
      <p:pic>
        <p:nvPicPr>
          <p:cNvPr id="11" name="Image 1" descr="preencoded.png">    </p:cNvPr>
          <p:cNvPicPr>
            <a:picLocks noChangeAspect="1"/>
          </p:cNvPicPr>
          <p:nvPr/>
        </p:nvPicPr>
        <p:blipFill>
          <a:blip r:embed="rId2"/>
          <a:stretch>
            <a:fillRect/>
          </a:stretch>
        </p:blipFill>
        <p:spPr>
          <a:xfrm>
            <a:off x="753466" y="2682850"/>
            <a:ext cx="285293" cy="285293"/>
          </a:xfrm>
          <a:prstGeom prst="rect">
            <a:avLst/>
          </a:prstGeom>
        </p:spPr>
      </p:pic>
      <p:sp>
        <p:nvSpPr>
          <p:cNvPr id="12" name="Text 8"/>
          <p:cNvSpPr txBox="1"/>
          <p:nvPr/>
        </p:nvSpPr>
        <p:spPr>
          <a:xfrm>
            <a:off x="1298448" y="2459736"/>
            <a:ext cx="5650992" cy="310896"/>
          </a:xfrm>
          <a:prstGeom prst="rect">
            <a:avLst/>
          </a:prstGeom>
          <a:noFill/>
          <a:ln/>
        </p:spPr>
        <p:txBody>
          <a:bodyPr wrap="square" lIns="0" tIns="0" rIns="0" bIns="0" rtlCol="0" anchor="ctr"/>
          <a:lstStyle/>
          <a:p>
            <a:pPr indent="0" marL="0">
              <a:buNone/>
            </a:pPr>
            <a:r>
              <a:rPr lang="en-US" sz="1400" b="1" dirty="0">
                <a:solidFill>
                  <a:srgbClr val="141B33"/>
                </a:solidFill>
                <a:latin typeface="Calibri" pitchFamily="34" charset="0"/>
                <a:ea typeface="Calibri" pitchFamily="34" charset="-122"/>
                <a:cs typeface="Calibri" pitchFamily="34" charset="-120"/>
              </a:rPr>
              <a:t>Quantify</a:t>
            </a:r>
            <a:endParaRPr lang="en-US" sz="1400" dirty="0"/>
          </a:p>
        </p:txBody>
      </p:sp>
      <p:sp>
        <p:nvSpPr>
          <p:cNvPr id="13" name="Text 9"/>
          <p:cNvSpPr txBox="1"/>
          <p:nvPr/>
        </p:nvSpPr>
        <p:spPr>
          <a:xfrm>
            <a:off x="1298448" y="2752344"/>
            <a:ext cx="5650992" cy="411480"/>
          </a:xfrm>
          <a:prstGeom prst="rect">
            <a:avLst/>
          </a:prstGeom>
          <a:noFill/>
          <a:ln/>
        </p:spPr>
        <p:txBody>
          <a:bodyPr wrap="square" lIns="0" tIns="0" rIns="0" bIns="0" rtlCol="0" anchor="ctr"/>
          <a:lstStyle/>
          <a:p>
            <a:pPr indent="0" marL="0">
              <a:buNone/>
            </a:pPr>
            <a:r>
              <a:rPr lang="en-US" sz="1100" dirty="0">
                <a:solidFill>
                  <a:srgbClr val="5B6584"/>
                </a:solidFill>
                <a:latin typeface="Calibri" pitchFamily="34" charset="0"/>
                <a:ea typeface="Calibri" pitchFamily="34" charset="-122"/>
                <a:cs typeface="Calibri" pitchFamily="34" charset="-120"/>
              </a:rPr>
              <a:t>Exact money-at-risk computed from the underlying transactions</a:t>
            </a:r>
            <a:endParaRPr lang="en-US" sz="1100" dirty="0"/>
          </a:p>
        </p:txBody>
      </p:sp>
      <p:sp>
        <p:nvSpPr>
          <p:cNvPr id="14" name="Shape 10"/>
          <p:cNvSpPr/>
          <p:nvPr/>
        </p:nvSpPr>
        <p:spPr>
          <a:xfrm>
            <a:off x="621792" y="3337560"/>
            <a:ext cx="548640" cy="548640"/>
          </a:xfrm>
          <a:prstGeom prst="ellipse">
            <a:avLst/>
          </a:prstGeom>
          <a:solidFill>
            <a:srgbClr val="0F1428"/>
          </a:solidFill>
          <a:ln/>
        </p:spPr>
      </p:sp>
      <p:pic>
        <p:nvPicPr>
          <p:cNvPr id="15" name="Image 2" descr="preencoded.png">    </p:cNvPr>
          <p:cNvPicPr>
            <a:picLocks noChangeAspect="1"/>
          </p:cNvPicPr>
          <p:nvPr/>
        </p:nvPicPr>
        <p:blipFill>
          <a:blip r:embed="rId3"/>
          <a:stretch>
            <a:fillRect/>
          </a:stretch>
        </p:blipFill>
        <p:spPr>
          <a:xfrm>
            <a:off x="753466" y="3469234"/>
            <a:ext cx="285293" cy="285293"/>
          </a:xfrm>
          <a:prstGeom prst="rect">
            <a:avLst/>
          </a:prstGeom>
        </p:spPr>
      </p:pic>
      <p:sp>
        <p:nvSpPr>
          <p:cNvPr id="16" name="Text 11"/>
          <p:cNvSpPr txBox="1"/>
          <p:nvPr/>
        </p:nvSpPr>
        <p:spPr>
          <a:xfrm>
            <a:off x="1298448" y="3246120"/>
            <a:ext cx="5650992" cy="310896"/>
          </a:xfrm>
          <a:prstGeom prst="rect">
            <a:avLst/>
          </a:prstGeom>
          <a:noFill/>
          <a:ln/>
        </p:spPr>
        <p:txBody>
          <a:bodyPr wrap="square" lIns="0" tIns="0" rIns="0" bIns="0" rtlCol="0" anchor="ctr"/>
          <a:lstStyle/>
          <a:p>
            <a:pPr indent="0" marL="0">
              <a:buNone/>
            </a:pPr>
            <a:r>
              <a:rPr lang="en-US" sz="1400" b="1" dirty="0">
                <a:solidFill>
                  <a:srgbClr val="141B33"/>
                </a:solidFill>
                <a:latin typeface="Calibri" pitchFamily="34" charset="0"/>
                <a:ea typeface="Calibri" pitchFamily="34" charset="-122"/>
                <a:cs typeface="Calibri" pitchFamily="34" charset="-120"/>
              </a:rPr>
              <a:t>Explain</a:t>
            </a:r>
            <a:endParaRPr lang="en-US" sz="1400" dirty="0"/>
          </a:p>
        </p:txBody>
      </p:sp>
      <p:sp>
        <p:nvSpPr>
          <p:cNvPr id="17" name="Text 12"/>
          <p:cNvSpPr txBox="1"/>
          <p:nvPr/>
        </p:nvSpPr>
        <p:spPr>
          <a:xfrm>
            <a:off x="1298448" y="3538728"/>
            <a:ext cx="5650992" cy="411480"/>
          </a:xfrm>
          <a:prstGeom prst="rect">
            <a:avLst/>
          </a:prstGeom>
          <a:noFill/>
          <a:ln/>
        </p:spPr>
        <p:txBody>
          <a:bodyPr wrap="square" lIns="0" tIns="0" rIns="0" bIns="0" rtlCol="0" anchor="ctr"/>
          <a:lstStyle/>
          <a:p>
            <a:pPr indent="0" marL="0">
              <a:buNone/>
            </a:pPr>
            <a:r>
              <a:rPr lang="en-US" sz="1100" dirty="0">
                <a:solidFill>
                  <a:srgbClr val="5B6584"/>
                </a:solidFill>
                <a:latin typeface="Calibri" pitchFamily="34" charset="0"/>
                <a:ea typeface="Calibri" pitchFamily="34" charset="-122"/>
                <a:cs typeface="Calibri" pitchFamily="34" charset="-120"/>
              </a:rPr>
              <a:t>Evidence-backed root cause, not a bare confidence score</a:t>
            </a:r>
            <a:endParaRPr lang="en-US" sz="1100" dirty="0"/>
          </a:p>
        </p:txBody>
      </p:sp>
      <p:sp>
        <p:nvSpPr>
          <p:cNvPr id="18" name="Shape 13"/>
          <p:cNvSpPr/>
          <p:nvPr/>
        </p:nvSpPr>
        <p:spPr>
          <a:xfrm>
            <a:off x="621792" y="4123944"/>
            <a:ext cx="548640" cy="548640"/>
          </a:xfrm>
          <a:prstGeom prst="ellipse">
            <a:avLst/>
          </a:prstGeom>
          <a:solidFill>
            <a:srgbClr val="0F1428"/>
          </a:solidFill>
          <a:ln/>
        </p:spPr>
      </p:sp>
      <p:pic>
        <p:nvPicPr>
          <p:cNvPr id="19" name="Image 3" descr="preencoded.png">    </p:cNvPr>
          <p:cNvPicPr>
            <a:picLocks noChangeAspect="1"/>
          </p:cNvPicPr>
          <p:nvPr/>
        </p:nvPicPr>
        <p:blipFill>
          <a:blip r:embed="rId4"/>
          <a:stretch>
            <a:fillRect/>
          </a:stretch>
        </p:blipFill>
        <p:spPr>
          <a:xfrm>
            <a:off x="753466" y="4255618"/>
            <a:ext cx="285293" cy="285293"/>
          </a:xfrm>
          <a:prstGeom prst="rect">
            <a:avLst/>
          </a:prstGeom>
        </p:spPr>
      </p:pic>
      <p:sp>
        <p:nvSpPr>
          <p:cNvPr id="20" name="Text 14"/>
          <p:cNvSpPr txBox="1"/>
          <p:nvPr/>
        </p:nvSpPr>
        <p:spPr>
          <a:xfrm>
            <a:off x="1298448" y="4032504"/>
            <a:ext cx="5650992" cy="310896"/>
          </a:xfrm>
          <a:prstGeom prst="rect">
            <a:avLst/>
          </a:prstGeom>
          <a:noFill/>
          <a:ln/>
        </p:spPr>
        <p:txBody>
          <a:bodyPr wrap="square" lIns="0" tIns="0" rIns="0" bIns="0" rtlCol="0" anchor="ctr"/>
          <a:lstStyle/>
          <a:p>
            <a:pPr indent="0" marL="0">
              <a:buNone/>
            </a:pPr>
            <a:r>
              <a:rPr lang="en-US" sz="1400" b="1" dirty="0">
                <a:solidFill>
                  <a:srgbClr val="141B33"/>
                </a:solidFill>
                <a:latin typeface="Calibri" pitchFamily="34" charset="0"/>
                <a:ea typeface="Calibri" pitchFamily="34" charset="-122"/>
                <a:cs typeface="Calibri" pitchFamily="34" charset="-120"/>
              </a:rPr>
              <a:t>Act</a:t>
            </a:r>
            <a:endParaRPr lang="en-US" sz="1400" dirty="0"/>
          </a:p>
        </p:txBody>
      </p:sp>
      <p:sp>
        <p:nvSpPr>
          <p:cNvPr id="21" name="Text 15"/>
          <p:cNvSpPr txBox="1"/>
          <p:nvPr/>
        </p:nvSpPr>
        <p:spPr>
          <a:xfrm>
            <a:off x="1298448" y="4325112"/>
            <a:ext cx="5650992" cy="411480"/>
          </a:xfrm>
          <a:prstGeom prst="rect">
            <a:avLst/>
          </a:prstGeom>
          <a:noFill/>
          <a:ln/>
        </p:spPr>
        <p:txBody>
          <a:bodyPr wrap="square" lIns="0" tIns="0" rIns="0" bIns="0" rtlCol="0" anchor="ctr"/>
          <a:lstStyle/>
          <a:p>
            <a:pPr indent="0" marL="0">
              <a:buNone/>
            </a:pPr>
            <a:r>
              <a:rPr lang="en-US" sz="1100" dirty="0">
                <a:solidFill>
                  <a:srgbClr val="5B6584"/>
                </a:solidFill>
                <a:latin typeface="Calibri" pitchFamily="34" charset="0"/>
                <a:ea typeface="Calibri" pitchFamily="34" charset="-122"/>
                <a:cs typeface="Calibri" pitchFamily="34" charset="-120"/>
              </a:rPr>
              <a:t>A bounded, reversible action policy — never moves money</a:t>
            </a:r>
            <a:endParaRPr lang="en-US" sz="1100" dirty="0"/>
          </a:p>
        </p:txBody>
      </p:sp>
      <p:sp>
        <p:nvSpPr>
          <p:cNvPr id="22" name="Shape 16"/>
          <p:cNvSpPr/>
          <p:nvPr/>
        </p:nvSpPr>
        <p:spPr>
          <a:xfrm>
            <a:off x="621792" y="4910328"/>
            <a:ext cx="548640" cy="548640"/>
          </a:xfrm>
          <a:prstGeom prst="ellipse">
            <a:avLst/>
          </a:prstGeom>
          <a:solidFill>
            <a:srgbClr val="0F1428"/>
          </a:solidFill>
          <a:ln/>
        </p:spPr>
      </p:sp>
      <p:pic>
        <p:nvPicPr>
          <p:cNvPr id="23" name="Image 4" descr="preencoded.png">    </p:cNvPr>
          <p:cNvPicPr>
            <a:picLocks noChangeAspect="1"/>
          </p:cNvPicPr>
          <p:nvPr/>
        </p:nvPicPr>
        <p:blipFill>
          <a:blip r:embed="rId5"/>
          <a:stretch>
            <a:fillRect/>
          </a:stretch>
        </p:blipFill>
        <p:spPr>
          <a:xfrm>
            <a:off x="753466" y="5042002"/>
            <a:ext cx="285293" cy="285293"/>
          </a:xfrm>
          <a:prstGeom prst="rect">
            <a:avLst/>
          </a:prstGeom>
        </p:spPr>
      </p:pic>
      <p:sp>
        <p:nvSpPr>
          <p:cNvPr id="24" name="Text 17"/>
          <p:cNvSpPr txBox="1"/>
          <p:nvPr/>
        </p:nvSpPr>
        <p:spPr>
          <a:xfrm>
            <a:off x="1298448" y="4818888"/>
            <a:ext cx="5650992" cy="310896"/>
          </a:xfrm>
          <a:prstGeom prst="rect">
            <a:avLst/>
          </a:prstGeom>
          <a:noFill/>
          <a:ln/>
        </p:spPr>
        <p:txBody>
          <a:bodyPr wrap="square" lIns="0" tIns="0" rIns="0" bIns="0" rtlCol="0" anchor="ctr"/>
          <a:lstStyle/>
          <a:p>
            <a:pPr indent="0" marL="0">
              <a:buNone/>
            </a:pPr>
            <a:r>
              <a:rPr lang="en-US" sz="1400" b="1" dirty="0">
                <a:solidFill>
                  <a:srgbClr val="141B33"/>
                </a:solidFill>
                <a:latin typeface="Calibri" pitchFamily="34" charset="0"/>
                <a:ea typeface="Calibri" pitchFamily="34" charset="-122"/>
                <a:cs typeface="Calibri" pitchFamily="34" charset="-120"/>
              </a:rPr>
              <a:t>Audit</a:t>
            </a:r>
            <a:endParaRPr lang="en-US" sz="1400" dirty="0"/>
          </a:p>
        </p:txBody>
      </p:sp>
      <p:sp>
        <p:nvSpPr>
          <p:cNvPr id="25" name="Text 18"/>
          <p:cNvSpPr txBox="1"/>
          <p:nvPr/>
        </p:nvSpPr>
        <p:spPr>
          <a:xfrm>
            <a:off x="1298448" y="5111496"/>
            <a:ext cx="5650992" cy="411480"/>
          </a:xfrm>
          <a:prstGeom prst="rect">
            <a:avLst/>
          </a:prstGeom>
          <a:noFill/>
          <a:ln/>
        </p:spPr>
        <p:txBody>
          <a:bodyPr wrap="square" lIns="0" tIns="0" rIns="0" bIns="0" rtlCol="0" anchor="ctr"/>
          <a:lstStyle/>
          <a:p>
            <a:pPr indent="0" marL="0">
              <a:buNone/>
            </a:pPr>
            <a:r>
              <a:rPr lang="en-US" sz="1100" dirty="0">
                <a:solidFill>
                  <a:srgbClr val="5B6584"/>
                </a:solidFill>
                <a:latin typeface="Calibri" pitchFamily="34" charset="0"/>
                <a:ea typeface="Calibri" pitchFamily="34" charset="-122"/>
                <a:cs typeface="Calibri" pitchFamily="34" charset="-120"/>
              </a:rPr>
              <a:t>Every decision traceable end to end</a:t>
            </a:r>
            <a:endParaRPr lang="en-US" sz="1100" dirty="0"/>
          </a:p>
        </p:txBody>
      </p:sp>
      <p:sp>
        <p:nvSpPr>
          <p:cNvPr id="26" name="Shape 19"/>
          <p:cNvSpPr/>
          <p:nvPr/>
        </p:nvSpPr>
        <p:spPr>
          <a:xfrm>
            <a:off x="7406640" y="1783080"/>
            <a:ext cx="4233672" cy="3017520"/>
          </a:xfrm>
          <a:prstGeom prst="roundRect">
            <a:avLst>
              <a:gd name="adj" fmla="val 3636"/>
            </a:avLst>
          </a:prstGeom>
          <a:solidFill>
            <a:srgbClr val="ECEFF7"/>
          </a:solidFill>
          <a:ln w="9525">
            <a:solidFill>
              <a:srgbClr val="E1E4EF"/>
            </a:solidFill>
            <a:prstDash val="solid"/>
          </a:ln>
        </p:spPr>
      </p:sp>
      <p:pic>
        <p:nvPicPr>
          <p:cNvPr id="27" name="Image 5" descr="preencoded.png">    </p:cNvPr>
          <p:cNvPicPr>
            <a:picLocks noChangeAspect="1"/>
          </p:cNvPicPr>
          <p:nvPr/>
        </p:nvPicPr>
        <p:blipFill>
          <a:blip r:embed="rId6"/>
          <a:stretch>
            <a:fillRect/>
          </a:stretch>
        </p:blipFill>
        <p:spPr>
          <a:xfrm>
            <a:off x="9157716" y="2194560"/>
            <a:ext cx="731520" cy="731520"/>
          </a:xfrm>
          <a:prstGeom prst="rect">
            <a:avLst/>
          </a:prstGeom>
        </p:spPr>
      </p:pic>
      <p:sp>
        <p:nvSpPr>
          <p:cNvPr id="28" name="Text 20"/>
          <p:cNvSpPr txBox="1"/>
          <p:nvPr/>
        </p:nvSpPr>
        <p:spPr>
          <a:xfrm>
            <a:off x="7772400" y="3154680"/>
            <a:ext cx="3502152" cy="777240"/>
          </a:xfrm>
          <a:prstGeom prst="rect">
            <a:avLst/>
          </a:prstGeom>
          <a:noFill/>
          <a:ln/>
        </p:spPr>
        <p:txBody>
          <a:bodyPr wrap="square" lIns="0" tIns="0" rIns="0" bIns="0" rtlCol="0" anchor="ctr"/>
          <a:lstStyle/>
          <a:p>
            <a:pPr algn="ctr" indent="0" marL="0">
              <a:lnSpc>
                <a:spcPct val="110000"/>
              </a:lnSpc>
              <a:buNone/>
            </a:pPr>
            <a:r>
              <a:rPr lang="en-US" sz="1500" b="1" i="1" dirty="0">
                <a:solidFill>
                  <a:srgbClr val="6B7280"/>
                </a:solidFill>
                <a:latin typeface="Cambria" pitchFamily="34" charset="0"/>
                <a:ea typeface="Cambria" pitchFamily="34" charset="-122"/>
                <a:cs typeface="Cambria" pitchFamily="34" charset="-120"/>
              </a:rPr>
              <a:t>“A dashboard that says something looks weird.”</a:t>
            </a:r>
            <a:endParaRPr lang="en-US" sz="1500" dirty="0"/>
          </a:p>
        </p:txBody>
      </p:sp>
      <p:sp>
        <p:nvSpPr>
          <p:cNvPr id="29" name="Text 21"/>
          <p:cNvSpPr txBox="1"/>
          <p:nvPr/>
        </p:nvSpPr>
        <p:spPr>
          <a:xfrm>
            <a:off x="7772400" y="4023360"/>
            <a:ext cx="3502152" cy="365760"/>
          </a:xfrm>
          <a:prstGeom prst="rect">
            <a:avLst/>
          </a:prstGeom>
          <a:noFill/>
          <a:ln/>
        </p:spPr>
        <p:txBody>
          <a:bodyPr wrap="square" lIns="0" tIns="0" rIns="0" bIns="0" rtlCol="0" anchor="ctr"/>
          <a:lstStyle/>
          <a:p>
            <a:pPr algn="ctr" indent="0" marL="0">
              <a:buNone/>
            </a:pPr>
            <a:r>
              <a:rPr lang="en-US" sz="1050" dirty="0">
                <a:solidFill>
                  <a:srgbClr val="8890A0"/>
                </a:solidFill>
                <a:latin typeface="Calibri" pitchFamily="34" charset="0"/>
                <a:ea typeface="Calibri" pitchFamily="34" charset="-122"/>
                <a:cs typeface="Calibri" pitchFamily="34" charset="-120"/>
              </a:rPr>
              <a:t>the ceiling of anomaly-detection-only tools</a:t>
            </a:r>
            <a:endParaRPr lang="en-US" sz="1050" dirty="0"/>
          </a:p>
        </p:txBody>
      </p:sp>
      <p:sp>
        <p:nvSpPr>
          <p:cNvPr id="30" name="Shape 22"/>
          <p:cNvSpPr/>
          <p:nvPr/>
        </p:nvSpPr>
        <p:spPr>
          <a:xfrm>
            <a:off x="548640" y="5623560"/>
            <a:ext cx="11091672" cy="777240"/>
          </a:xfrm>
          <a:prstGeom prst="roundRect">
            <a:avLst>
              <a:gd name="adj" fmla="val 11765"/>
            </a:avLst>
          </a:prstGeom>
          <a:solidFill>
            <a:srgbClr val="0F1428"/>
          </a:solidFill>
          <a:ln/>
        </p:spPr>
      </p:sp>
      <p:sp>
        <p:nvSpPr>
          <p:cNvPr id="31" name="Text 23"/>
          <p:cNvSpPr txBox="1"/>
          <p:nvPr/>
        </p:nvSpPr>
        <p:spPr>
          <a:xfrm>
            <a:off x="822960" y="5623560"/>
            <a:ext cx="10543032" cy="777240"/>
          </a:xfrm>
          <a:prstGeom prst="rect">
            <a:avLst/>
          </a:prstGeom>
          <a:noFill/>
          <a:ln/>
        </p:spPr>
        <p:txBody>
          <a:bodyPr wrap="square" lIns="0" tIns="0" rIns="0" bIns="0" rtlCol="0" anchor="ctr"/>
          <a:lstStyle/>
          <a:p>
            <a:pPr algn="ctr" indent="0" marL="0">
              <a:buNone/>
            </a:pPr>
            <a:r>
              <a:rPr lang="en-US" sz="1650" i="1" dirty="0">
                <a:solidFill>
                  <a:srgbClr val="FFFFFF"/>
                </a:solidFill>
                <a:latin typeface="Cambria" pitchFamily="34" charset="0"/>
                <a:ea typeface="Cambria" pitchFamily="34" charset="-122"/>
                <a:cs typeface="Cambria" pitchFamily="34" charset="-120"/>
              </a:rPr>
              <a:t>What happened. How much money is exposed. Why. What should we safely do next.</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8"/>
        </a:solidFill>
      </p:bgPr>
    </p:bg>
    <p:spTree>
      <p:nvGrpSpPr>
        <p:cNvPr id="1" name=""/>
        <p:cNvGrpSpPr/>
        <p:nvPr/>
      </p:nvGrpSpPr>
      <p:grpSpPr>
        <a:xfrm>
          <a:off x="0" y="0"/>
          <a:ext cx="0" cy="0"/>
          <a:chOff x="0" y="0"/>
          <a:chExt cx="0" cy="0"/>
        </a:xfrm>
      </p:grpSpPr>
      <p:sp>
        <p:nvSpPr>
          <p:cNvPr id="2" name="Text 0"/>
          <p:cNvSpPr txBox="1"/>
          <p:nvPr/>
        </p:nvSpPr>
        <p:spPr>
          <a:xfrm>
            <a:off x="548640" y="384048"/>
            <a:ext cx="1060704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REALITY CHECK</a:t>
            </a:r>
            <a:endParaRPr lang="en-US" sz="1200" dirty="0"/>
          </a:p>
        </p:txBody>
      </p:sp>
      <p:sp>
        <p:nvSpPr>
          <p:cNvPr id="3" name="Text 1"/>
          <p:cNvSpPr txBox="1"/>
          <p:nvPr/>
        </p:nvSpPr>
        <p:spPr>
          <a:xfrm>
            <a:off x="548640" y="658368"/>
            <a:ext cx="10607040" cy="65836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What’s real today — and what isn’t yet</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4A5480"/>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4A5480"/>
                </a:solidFill>
                <a:latin typeface="Calibri" pitchFamily="34" charset="0"/>
                <a:ea typeface="Calibri" pitchFamily="34" charset="-122"/>
                <a:cs typeface="Calibri" pitchFamily="34" charset="-120"/>
              </a:rPr>
              <a:t>09 / 12</a:t>
            </a:r>
            <a:endParaRPr lang="en-US" sz="900" dirty="0"/>
          </a:p>
        </p:txBody>
      </p:sp>
      <p:sp>
        <p:nvSpPr>
          <p:cNvPr id="6" name="Shape 4"/>
          <p:cNvSpPr/>
          <p:nvPr/>
        </p:nvSpPr>
        <p:spPr>
          <a:xfrm>
            <a:off x="548640" y="1691640"/>
            <a:ext cx="5577840" cy="4434840"/>
          </a:xfrm>
          <a:prstGeom prst="roundRect">
            <a:avLst>
              <a:gd name="adj" fmla="val 2062"/>
            </a:avLst>
          </a:prstGeom>
          <a:solidFill>
            <a:srgbClr val="1A2247"/>
          </a:solidFill>
          <a:ln w="9525">
            <a:solidFill>
              <a:srgbClr val="2B3562"/>
            </a:solidFill>
            <a:prstDash val="solid"/>
          </a:ln>
        </p:spPr>
      </p:sp>
      <p:sp>
        <p:nvSpPr>
          <p:cNvPr id="7" name="Text 5"/>
          <p:cNvSpPr txBox="1"/>
          <p:nvPr/>
        </p:nvSpPr>
        <p:spPr>
          <a:xfrm>
            <a:off x="841248" y="1892808"/>
            <a:ext cx="5029200" cy="320040"/>
          </a:xfrm>
          <a:prstGeom prst="rect">
            <a:avLst/>
          </a:prstGeom>
          <a:noFill/>
          <a:ln/>
        </p:spPr>
        <p:txBody>
          <a:bodyPr wrap="square" lIns="0" tIns="0" rIns="0" bIns="0" rtlCol="0" anchor="ctr"/>
          <a:lstStyle/>
          <a:p>
            <a:pPr indent="0" marL="0">
              <a:buNone/>
            </a:pPr>
            <a:r>
              <a:rPr lang="en-US" sz="1300" b="1" spc="150" kern="0" dirty="0">
                <a:solidFill>
                  <a:srgbClr val="1FAE7A"/>
                </a:solidFill>
                <a:latin typeface="Calibri" pitchFamily="34" charset="0"/>
                <a:ea typeface="Calibri" pitchFamily="34" charset="-122"/>
                <a:cs typeface="Calibri" pitchFamily="34" charset="-120"/>
              </a:rPr>
              <a:t>REAL TODAY</a:t>
            </a:r>
            <a:endParaRPr lang="en-US" sz="1300" dirty="0"/>
          </a:p>
        </p:txBody>
      </p:sp>
      <p:pic>
        <p:nvPicPr>
          <p:cNvPr id="8" name="Image 0" descr="preencoded.png">    </p:cNvPr>
          <p:cNvPicPr>
            <a:picLocks noChangeAspect="1"/>
          </p:cNvPicPr>
          <p:nvPr/>
        </p:nvPicPr>
        <p:blipFill>
          <a:blip r:embed="rId1"/>
          <a:stretch>
            <a:fillRect/>
          </a:stretch>
        </p:blipFill>
        <p:spPr>
          <a:xfrm>
            <a:off x="841248" y="2340864"/>
            <a:ext cx="219456" cy="219456"/>
          </a:xfrm>
          <a:prstGeom prst="rect">
            <a:avLst/>
          </a:prstGeom>
        </p:spPr>
      </p:pic>
      <p:sp>
        <p:nvSpPr>
          <p:cNvPr id="9" name="Text 6"/>
          <p:cNvSpPr txBox="1"/>
          <p:nvPr/>
        </p:nvSpPr>
        <p:spPr>
          <a:xfrm>
            <a:off x="1170432" y="2313432"/>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Working FastAPI backend</a:t>
            </a:r>
            <a:endParaRPr lang="en-US" sz="1150" dirty="0"/>
          </a:p>
        </p:txBody>
      </p:sp>
      <p:pic>
        <p:nvPicPr>
          <p:cNvPr id="10" name="Image 1" descr="preencoded.png">    </p:cNvPr>
          <p:cNvPicPr>
            <a:picLocks noChangeAspect="1"/>
          </p:cNvPicPr>
          <p:nvPr/>
        </p:nvPicPr>
        <p:blipFill>
          <a:blip r:embed="rId2"/>
          <a:stretch>
            <a:fillRect/>
          </a:stretch>
        </p:blipFill>
        <p:spPr>
          <a:xfrm>
            <a:off x="841248" y="2702052"/>
            <a:ext cx="219456" cy="219456"/>
          </a:xfrm>
          <a:prstGeom prst="rect">
            <a:avLst/>
          </a:prstGeom>
        </p:spPr>
      </p:pic>
      <p:sp>
        <p:nvSpPr>
          <p:cNvPr id="11" name="Text 7"/>
          <p:cNvSpPr txBox="1"/>
          <p:nvPr/>
        </p:nvSpPr>
        <p:spPr>
          <a:xfrm>
            <a:off x="1170432" y="2674620"/>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Working React + TypeScript dashboard</a:t>
            </a:r>
            <a:endParaRPr lang="en-US" sz="1150" dirty="0"/>
          </a:p>
        </p:txBody>
      </p:sp>
      <p:pic>
        <p:nvPicPr>
          <p:cNvPr id="12" name="Image 2" descr="preencoded.png">    </p:cNvPr>
          <p:cNvPicPr>
            <a:picLocks noChangeAspect="1"/>
          </p:cNvPicPr>
          <p:nvPr/>
        </p:nvPicPr>
        <p:blipFill>
          <a:blip r:embed="rId3"/>
          <a:stretch>
            <a:fillRect/>
          </a:stretch>
        </p:blipFill>
        <p:spPr>
          <a:xfrm>
            <a:off x="841248" y="3063240"/>
            <a:ext cx="219456" cy="219456"/>
          </a:xfrm>
          <a:prstGeom prst="rect">
            <a:avLst/>
          </a:prstGeom>
        </p:spPr>
      </p:pic>
      <p:sp>
        <p:nvSpPr>
          <p:cNvPr id="13" name="Text 8"/>
          <p:cNvSpPr txBox="1"/>
          <p:nvPr/>
        </p:nvSpPr>
        <p:spPr>
          <a:xfrm>
            <a:off x="1170432" y="3035808"/>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Statistical / rule detectors (10)</a:t>
            </a:r>
            <a:endParaRPr lang="en-US" sz="1150" dirty="0"/>
          </a:p>
        </p:txBody>
      </p:sp>
      <p:pic>
        <p:nvPicPr>
          <p:cNvPr id="14" name="Image 3" descr="preencoded.png">    </p:cNvPr>
          <p:cNvPicPr>
            <a:picLocks noChangeAspect="1"/>
          </p:cNvPicPr>
          <p:nvPr/>
        </p:nvPicPr>
        <p:blipFill>
          <a:blip r:embed="rId4"/>
          <a:stretch>
            <a:fillRect/>
          </a:stretch>
        </p:blipFill>
        <p:spPr>
          <a:xfrm>
            <a:off x="841248" y="3424428"/>
            <a:ext cx="219456" cy="219456"/>
          </a:xfrm>
          <a:prstGeom prst="rect">
            <a:avLst/>
          </a:prstGeom>
        </p:spPr>
      </p:pic>
      <p:sp>
        <p:nvSpPr>
          <p:cNvPr id="15" name="Text 9"/>
          <p:cNvSpPr txBox="1"/>
          <p:nvPr/>
        </p:nvSpPr>
        <p:spPr>
          <a:xfrm>
            <a:off x="1170432" y="3396996"/>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Real Isolation Forest inference — trained, not stubbed</a:t>
            </a:r>
            <a:endParaRPr lang="en-US" sz="1150" dirty="0"/>
          </a:p>
        </p:txBody>
      </p:sp>
      <p:pic>
        <p:nvPicPr>
          <p:cNvPr id="16" name="Image 4" descr="preencoded.png">    </p:cNvPr>
          <p:cNvPicPr>
            <a:picLocks noChangeAspect="1"/>
          </p:cNvPicPr>
          <p:nvPr/>
        </p:nvPicPr>
        <p:blipFill>
          <a:blip r:embed="rId5"/>
          <a:stretch>
            <a:fillRect/>
          </a:stretch>
        </p:blipFill>
        <p:spPr>
          <a:xfrm>
            <a:off x="841248" y="3785616"/>
            <a:ext cx="219456" cy="219456"/>
          </a:xfrm>
          <a:prstGeom prst="rect">
            <a:avLst/>
          </a:prstGeom>
        </p:spPr>
      </p:pic>
      <p:sp>
        <p:nvSpPr>
          <p:cNvPr id="17" name="Text 10"/>
          <p:cNvSpPr txBox="1"/>
          <p:nvPr/>
        </p:nvSpPr>
        <p:spPr>
          <a:xfrm>
            <a:off x="1170432" y="3758184"/>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Feature engineering pipeline — 13 features, leakage-tested</a:t>
            </a:r>
            <a:endParaRPr lang="en-US" sz="1150" dirty="0"/>
          </a:p>
        </p:txBody>
      </p:sp>
      <p:pic>
        <p:nvPicPr>
          <p:cNvPr id="18" name="Image 5" descr="preencoded.png">    </p:cNvPr>
          <p:cNvPicPr>
            <a:picLocks noChangeAspect="1"/>
          </p:cNvPicPr>
          <p:nvPr/>
        </p:nvPicPr>
        <p:blipFill>
          <a:blip r:embed="rId6"/>
          <a:stretch>
            <a:fillRect/>
          </a:stretch>
        </p:blipFill>
        <p:spPr>
          <a:xfrm>
            <a:off x="841248" y="4146804"/>
            <a:ext cx="219456" cy="219456"/>
          </a:xfrm>
          <a:prstGeom prst="rect">
            <a:avLst/>
          </a:prstGeom>
        </p:spPr>
      </p:pic>
      <p:sp>
        <p:nvSpPr>
          <p:cNvPr id="19" name="Text 11"/>
          <p:cNvSpPr txBox="1"/>
          <p:nvPr/>
        </p:nvSpPr>
        <p:spPr>
          <a:xfrm>
            <a:off x="1170432" y="4119372"/>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Deterministic root-cause engine</a:t>
            </a:r>
            <a:endParaRPr lang="en-US" sz="1150" dirty="0"/>
          </a:p>
        </p:txBody>
      </p:sp>
      <p:pic>
        <p:nvPicPr>
          <p:cNvPr id="20" name="Image 6" descr="preencoded.png">    </p:cNvPr>
          <p:cNvPicPr>
            <a:picLocks noChangeAspect="1"/>
          </p:cNvPicPr>
          <p:nvPr/>
        </p:nvPicPr>
        <p:blipFill>
          <a:blip r:embed="rId7"/>
          <a:stretch>
            <a:fillRect/>
          </a:stretch>
        </p:blipFill>
        <p:spPr>
          <a:xfrm>
            <a:off x="841248" y="4507992"/>
            <a:ext cx="219456" cy="219456"/>
          </a:xfrm>
          <a:prstGeom prst="rect">
            <a:avLst/>
          </a:prstGeom>
        </p:spPr>
      </p:pic>
      <p:sp>
        <p:nvSpPr>
          <p:cNvPr id="21" name="Text 12"/>
          <p:cNvSpPr txBox="1"/>
          <p:nvPr/>
        </p:nvSpPr>
        <p:spPr>
          <a:xfrm>
            <a:off x="1170432" y="4480560"/>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Bounded action engine — 8 allowlisted actions</a:t>
            </a:r>
            <a:endParaRPr lang="en-US" sz="1150" dirty="0"/>
          </a:p>
        </p:txBody>
      </p:sp>
      <p:pic>
        <p:nvPicPr>
          <p:cNvPr id="22" name="Image 7" descr="preencoded.png">    </p:cNvPr>
          <p:cNvPicPr>
            <a:picLocks noChangeAspect="1"/>
          </p:cNvPicPr>
          <p:nvPr/>
        </p:nvPicPr>
        <p:blipFill>
          <a:blip r:embed="rId8"/>
          <a:stretch>
            <a:fillRect/>
          </a:stretch>
        </p:blipFill>
        <p:spPr>
          <a:xfrm>
            <a:off x="841248" y="4869180"/>
            <a:ext cx="219456" cy="219456"/>
          </a:xfrm>
          <a:prstGeom prst="rect">
            <a:avLst/>
          </a:prstGeom>
        </p:spPr>
      </p:pic>
      <p:sp>
        <p:nvSpPr>
          <p:cNvPr id="23" name="Text 13"/>
          <p:cNvSpPr txBox="1"/>
          <p:nvPr/>
        </p:nvSpPr>
        <p:spPr>
          <a:xfrm>
            <a:off x="1170432" y="4841748"/>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Append-only audit trail</a:t>
            </a:r>
            <a:endParaRPr lang="en-US" sz="1150" dirty="0"/>
          </a:p>
        </p:txBody>
      </p:sp>
      <p:pic>
        <p:nvPicPr>
          <p:cNvPr id="24" name="Image 8" descr="preencoded.png">    </p:cNvPr>
          <p:cNvPicPr>
            <a:picLocks noChangeAspect="1"/>
          </p:cNvPicPr>
          <p:nvPr/>
        </p:nvPicPr>
        <p:blipFill>
          <a:blip r:embed="rId9"/>
          <a:stretch>
            <a:fillRect/>
          </a:stretch>
        </p:blipFill>
        <p:spPr>
          <a:xfrm>
            <a:off x="841248" y="5230368"/>
            <a:ext cx="219456" cy="219456"/>
          </a:xfrm>
          <a:prstGeom prst="rect">
            <a:avLst/>
          </a:prstGeom>
        </p:spPr>
      </p:pic>
      <p:sp>
        <p:nvSpPr>
          <p:cNvPr id="25" name="Text 14"/>
          <p:cNvSpPr txBox="1"/>
          <p:nvPr/>
        </p:nvSpPr>
        <p:spPr>
          <a:xfrm>
            <a:off x="1170432" y="5202936"/>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Held-out evaluation pipeline</a:t>
            </a:r>
            <a:endParaRPr lang="en-US" sz="1150" dirty="0"/>
          </a:p>
        </p:txBody>
      </p:sp>
      <p:pic>
        <p:nvPicPr>
          <p:cNvPr id="26" name="Image 9" descr="preencoded.png">    </p:cNvPr>
          <p:cNvPicPr>
            <a:picLocks noChangeAspect="1"/>
          </p:cNvPicPr>
          <p:nvPr/>
        </p:nvPicPr>
        <p:blipFill>
          <a:blip r:embed="rId10"/>
          <a:stretch>
            <a:fillRect/>
          </a:stretch>
        </p:blipFill>
        <p:spPr>
          <a:xfrm>
            <a:off x="841248" y="5591556"/>
            <a:ext cx="219456" cy="219456"/>
          </a:xfrm>
          <a:prstGeom prst="rect">
            <a:avLst/>
          </a:prstGeom>
        </p:spPr>
      </p:pic>
      <p:sp>
        <p:nvSpPr>
          <p:cNvPr id="27" name="Text 15"/>
          <p:cNvSpPr txBox="1"/>
          <p:nvPr/>
        </p:nvSpPr>
        <p:spPr>
          <a:xfrm>
            <a:off x="1170432" y="5564124"/>
            <a:ext cx="4663440" cy="3611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53 backend tests, passing</a:t>
            </a:r>
            <a:endParaRPr lang="en-US" sz="1150" dirty="0"/>
          </a:p>
        </p:txBody>
      </p:sp>
      <p:sp>
        <p:nvSpPr>
          <p:cNvPr id="28" name="Shape 16"/>
          <p:cNvSpPr/>
          <p:nvPr/>
        </p:nvSpPr>
        <p:spPr>
          <a:xfrm>
            <a:off x="6355080" y="1691640"/>
            <a:ext cx="5285232" cy="4434840"/>
          </a:xfrm>
          <a:prstGeom prst="roundRect">
            <a:avLst>
              <a:gd name="adj" fmla="val 2062"/>
            </a:avLst>
          </a:prstGeom>
          <a:solidFill>
            <a:srgbClr val="1A2247"/>
          </a:solidFill>
          <a:ln w="9525">
            <a:solidFill>
              <a:srgbClr val="2B3562"/>
            </a:solidFill>
            <a:prstDash val="solid"/>
          </a:ln>
        </p:spPr>
      </p:sp>
      <p:sp>
        <p:nvSpPr>
          <p:cNvPr id="29" name="Text 17"/>
          <p:cNvSpPr txBox="1"/>
          <p:nvPr/>
        </p:nvSpPr>
        <p:spPr>
          <a:xfrm>
            <a:off x="6647688" y="1892808"/>
            <a:ext cx="4736592" cy="320040"/>
          </a:xfrm>
          <a:prstGeom prst="rect">
            <a:avLst/>
          </a:prstGeom>
          <a:noFill/>
          <a:ln/>
        </p:spPr>
        <p:txBody>
          <a:bodyPr wrap="square" lIns="0" tIns="0" rIns="0" bIns="0" rtlCol="0" anchor="ctr"/>
          <a:lstStyle/>
          <a:p>
            <a:pPr indent="0" marL="0">
              <a:buNone/>
            </a:pPr>
            <a:r>
              <a:rPr lang="en-US" sz="1300" b="1" spc="150" kern="0" dirty="0">
                <a:solidFill>
                  <a:srgbClr val="B8791E"/>
                </a:solidFill>
                <a:latin typeface="Calibri" pitchFamily="34" charset="0"/>
                <a:ea typeface="Calibri" pitchFamily="34" charset="-122"/>
                <a:cs typeface="Calibri" pitchFamily="34" charset="-120"/>
              </a:rPr>
              <a:t>NOT YET</a:t>
            </a:r>
            <a:endParaRPr lang="en-US" sz="1300" dirty="0"/>
          </a:p>
        </p:txBody>
      </p:sp>
      <p:pic>
        <p:nvPicPr>
          <p:cNvPr id="30" name="Image 10" descr="preencoded.png">    </p:cNvPr>
          <p:cNvPicPr>
            <a:picLocks noChangeAspect="1"/>
          </p:cNvPicPr>
          <p:nvPr/>
        </p:nvPicPr>
        <p:blipFill>
          <a:blip r:embed="rId11"/>
          <a:stretch>
            <a:fillRect/>
          </a:stretch>
        </p:blipFill>
        <p:spPr>
          <a:xfrm>
            <a:off x="6647688" y="2514600"/>
            <a:ext cx="201168" cy="201168"/>
          </a:xfrm>
          <a:prstGeom prst="rect">
            <a:avLst/>
          </a:prstGeom>
        </p:spPr>
      </p:pic>
      <p:sp>
        <p:nvSpPr>
          <p:cNvPr id="31" name="Text 18"/>
          <p:cNvSpPr txBox="1"/>
          <p:nvPr/>
        </p:nvSpPr>
        <p:spPr>
          <a:xfrm>
            <a:off x="6976872" y="2468880"/>
            <a:ext cx="4370832"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Live Razorpay (or any processor) integration</a:t>
            </a:r>
            <a:endParaRPr lang="en-US" sz="1250" dirty="0"/>
          </a:p>
        </p:txBody>
      </p:sp>
      <p:pic>
        <p:nvPicPr>
          <p:cNvPr id="32" name="Image 11" descr="preencoded.png">    </p:cNvPr>
          <p:cNvPicPr>
            <a:picLocks noChangeAspect="1"/>
          </p:cNvPicPr>
          <p:nvPr/>
        </p:nvPicPr>
        <p:blipFill>
          <a:blip r:embed="rId12"/>
          <a:stretch>
            <a:fillRect/>
          </a:stretch>
        </p:blipFill>
        <p:spPr>
          <a:xfrm>
            <a:off x="6647688" y="3081528"/>
            <a:ext cx="201168" cy="201168"/>
          </a:xfrm>
          <a:prstGeom prst="rect">
            <a:avLst/>
          </a:prstGeom>
        </p:spPr>
      </p:pic>
      <p:sp>
        <p:nvSpPr>
          <p:cNvPr id="33" name="Text 19"/>
          <p:cNvSpPr txBox="1"/>
          <p:nvPr/>
        </p:nvSpPr>
        <p:spPr>
          <a:xfrm>
            <a:off x="6976872" y="3035808"/>
            <a:ext cx="4370832"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Production merchant data</a:t>
            </a:r>
            <a:endParaRPr lang="en-US" sz="1250" dirty="0"/>
          </a:p>
        </p:txBody>
      </p:sp>
      <p:pic>
        <p:nvPicPr>
          <p:cNvPr id="34" name="Image 12" descr="preencoded.png">    </p:cNvPr>
          <p:cNvPicPr>
            <a:picLocks noChangeAspect="1"/>
          </p:cNvPicPr>
          <p:nvPr/>
        </p:nvPicPr>
        <p:blipFill>
          <a:blip r:embed="rId13"/>
          <a:stretch>
            <a:fillRect/>
          </a:stretch>
        </p:blipFill>
        <p:spPr>
          <a:xfrm>
            <a:off x="6647688" y="3648456"/>
            <a:ext cx="201168" cy="201168"/>
          </a:xfrm>
          <a:prstGeom prst="rect">
            <a:avLst/>
          </a:prstGeom>
        </p:spPr>
      </p:pic>
      <p:sp>
        <p:nvSpPr>
          <p:cNvPr id="35" name="Text 20"/>
          <p:cNvSpPr txBox="1"/>
          <p:nvPr/>
        </p:nvSpPr>
        <p:spPr>
          <a:xfrm>
            <a:off x="6976872" y="3602736"/>
            <a:ext cx="4370832"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 large, external validation dataset</a:t>
            </a:r>
            <a:endParaRPr lang="en-US" sz="1250" dirty="0"/>
          </a:p>
        </p:txBody>
      </p:sp>
      <p:pic>
        <p:nvPicPr>
          <p:cNvPr id="36" name="Image 13" descr="preencoded.png">    </p:cNvPr>
          <p:cNvPicPr>
            <a:picLocks noChangeAspect="1"/>
          </p:cNvPicPr>
          <p:nvPr/>
        </p:nvPicPr>
        <p:blipFill>
          <a:blip r:embed="rId14"/>
          <a:stretch>
            <a:fillRect/>
          </a:stretch>
        </p:blipFill>
        <p:spPr>
          <a:xfrm>
            <a:off x="6647688" y="4215384"/>
            <a:ext cx="201168" cy="201168"/>
          </a:xfrm>
          <a:prstGeom prst="rect">
            <a:avLst/>
          </a:prstGeom>
        </p:spPr>
      </p:pic>
      <p:sp>
        <p:nvSpPr>
          <p:cNvPr id="37" name="Text 21"/>
          <p:cNvSpPr txBox="1"/>
          <p:nvPr/>
        </p:nvSpPr>
        <p:spPr>
          <a:xfrm>
            <a:off x="6976872" y="4169664"/>
            <a:ext cx="4370832"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Production-scale deployment</a:t>
            </a:r>
            <a:endParaRPr lang="en-US" sz="1250" dirty="0"/>
          </a:p>
        </p:txBody>
      </p:sp>
      <p:sp>
        <p:nvSpPr>
          <p:cNvPr id="38" name="Text 22"/>
          <p:cNvSpPr txBox="1"/>
          <p:nvPr/>
        </p:nvSpPr>
        <p:spPr>
          <a:xfrm>
            <a:off x="6647688" y="5257800"/>
            <a:ext cx="4700016" cy="640080"/>
          </a:xfrm>
          <a:prstGeom prst="rect">
            <a:avLst/>
          </a:prstGeom>
          <a:noFill/>
          <a:ln/>
        </p:spPr>
        <p:txBody>
          <a:bodyPr wrap="square" lIns="0" tIns="0" rIns="0" bIns="0" rtlCol="0" anchor="ctr"/>
          <a:lstStyle/>
          <a:p>
            <a:pPr indent="0" marL="0">
              <a:lnSpc>
                <a:spcPct val="115000"/>
              </a:lnSpc>
              <a:buNone/>
            </a:pPr>
            <a:r>
              <a:rPr lang="en-US" sz="1050" i="1" dirty="0">
                <a:solidFill>
                  <a:srgbClr val="9AA6C9"/>
                </a:solidFill>
                <a:latin typeface="Calibri" pitchFamily="34" charset="0"/>
                <a:ea typeface="Calibri" pitchFamily="34" charset="-122"/>
                <a:cs typeface="Calibri" pitchFamily="34" charset="-120"/>
              </a:rPr>
              <a:t>These four are the next milestones — not oversights. See Roadmap.</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60704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OPPORTUNITY</a:t>
            </a:r>
            <a:endParaRPr lang="en-US" sz="1200" dirty="0"/>
          </a:p>
        </p:txBody>
      </p:sp>
      <p:sp>
        <p:nvSpPr>
          <p:cNvPr id="3" name="Text 1"/>
          <p:cNvSpPr txBox="1"/>
          <p:nvPr/>
        </p:nvSpPr>
        <p:spPr>
          <a:xfrm>
            <a:off x="548640" y="658368"/>
            <a:ext cx="1060704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Who this is for — and what it removes</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10 / 12</a:t>
            </a:r>
            <a:endParaRPr lang="en-US" sz="900" dirty="0"/>
          </a:p>
        </p:txBody>
      </p:sp>
      <p:sp>
        <p:nvSpPr>
          <p:cNvPr id="6" name="Shape 4"/>
          <p:cNvSpPr/>
          <p:nvPr/>
        </p:nvSpPr>
        <p:spPr>
          <a:xfrm>
            <a:off x="664312" y="1691640"/>
            <a:ext cx="2048256" cy="1828800"/>
          </a:xfrm>
          <a:prstGeom prst="roundRect">
            <a:avLst>
              <a:gd name="adj" fmla="val 5000"/>
            </a:avLst>
          </a:prstGeom>
          <a:solidFill>
            <a:srgbClr val="F5F6FA"/>
          </a:solidFill>
          <a:ln w="9525">
            <a:solidFill>
              <a:srgbClr val="E1E4EF"/>
            </a:solidFill>
            <a:prstDash val="solid"/>
          </a:ln>
        </p:spPr>
      </p:sp>
      <p:sp>
        <p:nvSpPr>
          <p:cNvPr id="7" name="Shape 5"/>
          <p:cNvSpPr/>
          <p:nvPr/>
        </p:nvSpPr>
        <p:spPr>
          <a:xfrm>
            <a:off x="1386688" y="1938528"/>
            <a:ext cx="603504" cy="603504"/>
          </a:xfrm>
          <a:prstGeom prst="ellipse">
            <a:avLst/>
          </a:prstGeom>
          <a:solidFill>
            <a:srgbClr val="0F1428"/>
          </a:solidFill>
          <a:ln/>
        </p:spPr>
      </p:sp>
      <p:pic>
        <p:nvPicPr>
          <p:cNvPr id="8" name="Image 0" descr="preencoded.png">    </p:cNvPr>
          <p:cNvPicPr>
            <a:picLocks noChangeAspect="1"/>
          </p:cNvPicPr>
          <p:nvPr/>
        </p:nvPicPr>
        <p:blipFill>
          <a:blip r:embed="rId1"/>
          <a:stretch>
            <a:fillRect/>
          </a:stretch>
        </p:blipFill>
        <p:spPr>
          <a:xfrm>
            <a:off x="1531529" y="2083369"/>
            <a:ext cx="313822" cy="313822"/>
          </a:xfrm>
          <a:prstGeom prst="rect">
            <a:avLst/>
          </a:prstGeom>
        </p:spPr>
      </p:pic>
      <p:sp>
        <p:nvSpPr>
          <p:cNvPr id="9" name="Text 6"/>
          <p:cNvSpPr txBox="1"/>
          <p:nvPr/>
        </p:nvSpPr>
        <p:spPr>
          <a:xfrm>
            <a:off x="792328" y="2651760"/>
            <a:ext cx="1792224"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141B33"/>
                </a:solidFill>
                <a:latin typeface="Calibri" pitchFamily="34" charset="0"/>
                <a:ea typeface="Calibri" pitchFamily="34" charset="-122"/>
                <a:cs typeface="Calibri" pitchFamily="34" charset="-120"/>
              </a:rPr>
              <a:t>Payment processors</a:t>
            </a:r>
            <a:endParaRPr lang="en-US" sz="1150" dirty="0"/>
          </a:p>
        </p:txBody>
      </p:sp>
      <p:sp>
        <p:nvSpPr>
          <p:cNvPr id="10" name="Text 7"/>
          <p:cNvSpPr txBox="1"/>
          <p:nvPr/>
        </p:nvSpPr>
        <p:spPr>
          <a:xfrm>
            <a:off x="810616" y="3063240"/>
            <a:ext cx="1755648" cy="384048"/>
          </a:xfrm>
          <a:prstGeom prst="rect">
            <a:avLst/>
          </a:prstGeom>
          <a:noFill/>
          <a:ln/>
        </p:spPr>
        <p:txBody>
          <a:bodyPr wrap="square" lIns="0" tIns="0" rIns="0" bIns="0" rtlCol="0" anchor="ctr"/>
          <a:lstStyle/>
          <a:p>
            <a:pPr algn="ctr" indent="0" marL="0">
              <a:buNone/>
            </a:pPr>
            <a:r>
              <a:rPr lang="en-US" sz="870" i="1" dirty="0">
                <a:solidFill>
                  <a:srgbClr val="5B6584"/>
                </a:solidFill>
                <a:latin typeface="Calibri" pitchFamily="34" charset="0"/>
                <a:ea typeface="Calibri" pitchFamily="34" charset="-122"/>
                <a:cs typeface="Calibri" pitchFamily="34" charset="-120"/>
              </a:rPr>
              <a:t>settlement exceptions at scale</a:t>
            </a:r>
            <a:endParaRPr lang="en-US" sz="870" dirty="0"/>
          </a:p>
        </p:txBody>
      </p:sp>
      <p:sp>
        <p:nvSpPr>
          <p:cNvPr id="11" name="Shape 8"/>
          <p:cNvSpPr/>
          <p:nvPr/>
        </p:nvSpPr>
        <p:spPr>
          <a:xfrm>
            <a:off x="2868016" y="1691640"/>
            <a:ext cx="2048256" cy="1828800"/>
          </a:xfrm>
          <a:prstGeom prst="roundRect">
            <a:avLst>
              <a:gd name="adj" fmla="val 5000"/>
            </a:avLst>
          </a:prstGeom>
          <a:solidFill>
            <a:srgbClr val="F5F6FA"/>
          </a:solidFill>
          <a:ln w="9525">
            <a:solidFill>
              <a:srgbClr val="E1E4EF"/>
            </a:solidFill>
            <a:prstDash val="solid"/>
          </a:ln>
        </p:spPr>
      </p:sp>
      <p:sp>
        <p:nvSpPr>
          <p:cNvPr id="12" name="Shape 9"/>
          <p:cNvSpPr/>
          <p:nvPr/>
        </p:nvSpPr>
        <p:spPr>
          <a:xfrm>
            <a:off x="3590392" y="1938528"/>
            <a:ext cx="603504" cy="603504"/>
          </a:xfrm>
          <a:prstGeom prst="ellipse">
            <a:avLst/>
          </a:prstGeom>
          <a:solidFill>
            <a:srgbClr val="0F1428"/>
          </a:solidFill>
          <a:ln/>
        </p:spPr>
      </p:sp>
      <p:pic>
        <p:nvPicPr>
          <p:cNvPr id="13" name="Image 1" descr="preencoded.png">    </p:cNvPr>
          <p:cNvPicPr>
            <a:picLocks noChangeAspect="1"/>
          </p:cNvPicPr>
          <p:nvPr/>
        </p:nvPicPr>
        <p:blipFill>
          <a:blip r:embed="rId2"/>
          <a:stretch>
            <a:fillRect/>
          </a:stretch>
        </p:blipFill>
        <p:spPr>
          <a:xfrm>
            <a:off x="3735233" y="2083369"/>
            <a:ext cx="313822" cy="313822"/>
          </a:xfrm>
          <a:prstGeom prst="rect">
            <a:avLst/>
          </a:prstGeom>
        </p:spPr>
      </p:pic>
      <p:sp>
        <p:nvSpPr>
          <p:cNvPr id="14" name="Text 10"/>
          <p:cNvSpPr txBox="1"/>
          <p:nvPr/>
        </p:nvSpPr>
        <p:spPr>
          <a:xfrm>
            <a:off x="2996032" y="2651760"/>
            <a:ext cx="1792224"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141B33"/>
                </a:solidFill>
                <a:latin typeface="Calibri" pitchFamily="34" charset="0"/>
                <a:ea typeface="Calibri" pitchFamily="34" charset="-122"/>
                <a:cs typeface="Calibri" pitchFamily="34" charset="-120"/>
              </a:rPr>
              <a:t>Fintechs</a:t>
            </a:r>
            <a:endParaRPr lang="en-US" sz="1150" dirty="0"/>
          </a:p>
        </p:txBody>
      </p:sp>
      <p:sp>
        <p:nvSpPr>
          <p:cNvPr id="15" name="Text 11"/>
          <p:cNvSpPr txBox="1"/>
          <p:nvPr/>
        </p:nvSpPr>
        <p:spPr>
          <a:xfrm>
            <a:off x="3014320" y="3063240"/>
            <a:ext cx="1755648" cy="384048"/>
          </a:xfrm>
          <a:prstGeom prst="rect">
            <a:avLst/>
          </a:prstGeom>
          <a:noFill/>
          <a:ln/>
        </p:spPr>
        <p:txBody>
          <a:bodyPr wrap="square" lIns="0" tIns="0" rIns="0" bIns="0" rtlCol="0" anchor="ctr"/>
          <a:lstStyle/>
          <a:p>
            <a:pPr algn="ctr" indent="0" marL="0">
              <a:buNone/>
            </a:pPr>
            <a:r>
              <a:rPr lang="en-US" sz="870" i="1" dirty="0">
                <a:solidFill>
                  <a:srgbClr val="5B6584"/>
                </a:solidFill>
                <a:latin typeface="Calibri" pitchFamily="34" charset="0"/>
                <a:ea typeface="Calibri" pitchFamily="34" charset="-122"/>
                <a:cs typeface="Calibri" pitchFamily="34" charset="-120"/>
              </a:rPr>
              <a:t>orchestrating their own payments</a:t>
            </a:r>
            <a:endParaRPr lang="en-US" sz="870" dirty="0"/>
          </a:p>
        </p:txBody>
      </p:sp>
      <p:sp>
        <p:nvSpPr>
          <p:cNvPr id="16" name="Shape 12"/>
          <p:cNvSpPr/>
          <p:nvPr/>
        </p:nvSpPr>
        <p:spPr>
          <a:xfrm>
            <a:off x="5071720" y="1691640"/>
            <a:ext cx="2048256" cy="1828800"/>
          </a:xfrm>
          <a:prstGeom prst="roundRect">
            <a:avLst>
              <a:gd name="adj" fmla="val 5000"/>
            </a:avLst>
          </a:prstGeom>
          <a:solidFill>
            <a:srgbClr val="F5F6FA"/>
          </a:solidFill>
          <a:ln w="9525">
            <a:solidFill>
              <a:srgbClr val="E1E4EF"/>
            </a:solidFill>
            <a:prstDash val="solid"/>
          </a:ln>
        </p:spPr>
      </p:sp>
      <p:sp>
        <p:nvSpPr>
          <p:cNvPr id="17" name="Shape 13"/>
          <p:cNvSpPr/>
          <p:nvPr/>
        </p:nvSpPr>
        <p:spPr>
          <a:xfrm>
            <a:off x="5794096" y="1938528"/>
            <a:ext cx="603504" cy="603504"/>
          </a:xfrm>
          <a:prstGeom prst="ellipse">
            <a:avLst/>
          </a:prstGeom>
          <a:solidFill>
            <a:srgbClr val="0F1428"/>
          </a:solidFill>
          <a:ln/>
        </p:spPr>
      </p:sp>
      <p:pic>
        <p:nvPicPr>
          <p:cNvPr id="18" name="Image 2" descr="preencoded.png">    </p:cNvPr>
          <p:cNvPicPr>
            <a:picLocks noChangeAspect="1"/>
          </p:cNvPicPr>
          <p:nvPr/>
        </p:nvPicPr>
        <p:blipFill>
          <a:blip r:embed="rId3"/>
          <a:stretch>
            <a:fillRect/>
          </a:stretch>
        </p:blipFill>
        <p:spPr>
          <a:xfrm>
            <a:off x="5938937" y="2083369"/>
            <a:ext cx="313822" cy="313822"/>
          </a:xfrm>
          <a:prstGeom prst="rect">
            <a:avLst/>
          </a:prstGeom>
        </p:spPr>
      </p:pic>
      <p:sp>
        <p:nvSpPr>
          <p:cNvPr id="19" name="Text 14"/>
          <p:cNvSpPr txBox="1"/>
          <p:nvPr/>
        </p:nvSpPr>
        <p:spPr>
          <a:xfrm>
            <a:off x="5199736" y="2651760"/>
            <a:ext cx="1792224"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141B33"/>
                </a:solidFill>
                <a:latin typeface="Calibri" pitchFamily="34" charset="0"/>
                <a:ea typeface="Calibri" pitchFamily="34" charset="-122"/>
                <a:cs typeface="Calibri" pitchFamily="34" charset="-120"/>
              </a:rPr>
              <a:t>Marketplaces</a:t>
            </a:r>
            <a:endParaRPr lang="en-US" sz="1150" dirty="0"/>
          </a:p>
        </p:txBody>
      </p:sp>
      <p:sp>
        <p:nvSpPr>
          <p:cNvPr id="20" name="Text 15"/>
          <p:cNvSpPr txBox="1"/>
          <p:nvPr/>
        </p:nvSpPr>
        <p:spPr>
          <a:xfrm>
            <a:off x="5218024" y="3063240"/>
            <a:ext cx="1755648" cy="384048"/>
          </a:xfrm>
          <a:prstGeom prst="rect">
            <a:avLst/>
          </a:prstGeom>
          <a:noFill/>
          <a:ln/>
        </p:spPr>
        <p:txBody>
          <a:bodyPr wrap="square" lIns="0" tIns="0" rIns="0" bIns="0" rtlCol="0" anchor="ctr"/>
          <a:lstStyle/>
          <a:p>
            <a:pPr algn="ctr" indent="0" marL="0">
              <a:buNone/>
            </a:pPr>
            <a:r>
              <a:rPr lang="en-US" sz="870" i="1" dirty="0">
                <a:solidFill>
                  <a:srgbClr val="5B6584"/>
                </a:solidFill>
                <a:latin typeface="Calibri" pitchFamily="34" charset="0"/>
                <a:ea typeface="Calibri" pitchFamily="34" charset="-122"/>
                <a:cs typeface="Calibri" pitchFamily="34" charset="-120"/>
              </a:rPr>
              <a:t>reconciling payouts to many sellers</a:t>
            </a:r>
            <a:endParaRPr lang="en-US" sz="870" dirty="0"/>
          </a:p>
        </p:txBody>
      </p:sp>
      <p:sp>
        <p:nvSpPr>
          <p:cNvPr id="21" name="Shape 16"/>
          <p:cNvSpPr/>
          <p:nvPr/>
        </p:nvSpPr>
        <p:spPr>
          <a:xfrm>
            <a:off x="7275424" y="1691640"/>
            <a:ext cx="2048256" cy="1828800"/>
          </a:xfrm>
          <a:prstGeom prst="roundRect">
            <a:avLst>
              <a:gd name="adj" fmla="val 5000"/>
            </a:avLst>
          </a:prstGeom>
          <a:solidFill>
            <a:srgbClr val="F5F6FA"/>
          </a:solidFill>
          <a:ln w="9525">
            <a:solidFill>
              <a:srgbClr val="E1E4EF"/>
            </a:solidFill>
            <a:prstDash val="solid"/>
          </a:ln>
        </p:spPr>
      </p:sp>
      <p:sp>
        <p:nvSpPr>
          <p:cNvPr id="22" name="Shape 17"/>
          <p:cNvSpPr/>
          <p:nvPr/>
        </p:nvSpPr>
        <p:spPr>
          <a:xfrm>
            <a:off x="7997800" y="1938528"/>
            <a:ext cx="603504" cy="603504"/>
          </a:xfrm>
          <a:prstGeom prst="ellipse">
            <a:avLst/>
          </a:prstGeom>
          <a:solidFill>
            <a:srgbClr val="0F1428"/>
          </a:solidFill>
          <a:ln/>
        </p:spPr>
      </p:sp>
      <p:pic>
        <p:nvPicPr>
          <p:cNvPr id="23" name="Image 3" descr="preencoded.png">    </p:cNvPr>
          <p:cNvPicPr>
            <a:picLocks noChangeAspect="1"/>
          </p:cNvPicPr>
          <p:nvPr/>
        </p:nvPicPr>
        <p:blipFill>
          <a:blip r:embed="rId4"/>
          <a:stretch>
            <a:fillRect/>
          </a:stretch>
        </p:blipFill>
        <p:spPr>
          <a:xfrm>
            <a:off x="8142641" y="2083369"/>
            <a:ext cx="313822" cy="313822"/>
          </a:xfrm>
          <a:prstGeom prst="rect">
            <a:avLst/>
          </a:prstGeom>
        </p:spPr>
      </p:pic>
      <p:sp>
        <p:nvSpPr>
          <p:cNvPr id="24" name="Text 18"/>
          <p:cNvSpPr txBox="1"/>
          <p:nvPr/>
        </p:nvSpPr>
        <p:spPr>
          <a:xfrm>
            <a:off x="7403440" y="2651760"/>
            <a:ext cx="1792224"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141B33"/>
                </a:solidFill>
                <a:latin typeface="Calibri" pitchFamily="34" charset="0"/>
                <a:ea typeface="Calibri" pitchFamily="34" charset="-122"/>
                <a:cs typeface="Calibri" pitchFamily="34" charset="-120"/>
              </a:rPr>
              <a:t>Merchant platforms</a:t>
            </a:r>
            <a:endParaRPr lang="en-US" sz="1150" dirty="0"/>
          </a:p>
        </p:txBody>
      </p:sp>
      <p:sp>
        <p:nvSpPr>
          <p:cNvPr id="25" name="Text 19"/>
          <p:cNvSpPr txBox="1"/>
          <p:nvPr/>
        </p:nvSpPr>
        <p:spPr>
          <a:xfrm>
            <a:off x="7421728" y="3063240"/>
            <a:ext cx="1755648" cy="384048"/>
          </a:xfrm>
          <a:prstGeom prst="rect">
            <a:avLst/>
          </a:prstGeom>
          <a:noFill/>
          <a:ln/>
        </p:spPr>
        <p:txBody>
          <a:bodyPr wrap="square" lIns="0" tIns="0" rIns="0" bIns="0" rtlCol="0" anchor="ctr"/>
          <a:lstStyle/>
          <a:p>
            <a:pPr algn="ctr" indent="0" marL="0">
              <a:buNone/>
            </a:pPr>
            <a:r>
              <a:rPr lang="en-US" sz="870" i="1" dirty="0">
                <a:solidFill>
                  <a:srgbClr val="5B6584"/>
                </a:solidFill>
                <a:latin typeface="Calibri" pitchFamily="34" charset="0"/>
                <a:ea typeface="Calibri" pitchFamily="34" charset="-122"/>
                <a:cs typeface="Calibri" pitchFamily="34" charset="-120"/>
              </a:rPr>
              <a:t>managing sub-merchant risk</a:t>
            </a:r>
            <a:endParaRPr lang="en-US" sz="870" dirty="0"/>
          </a:p>
        </p:txBody>
      </p:sp>
      <p:sp>
        <p:nvSpPr>
          <p:cNvPr id="26" name="Shape 20"/>
          <p:cNvSpPr/>
          <p:nvPr/>
        </p:nvSpPr>
        <p:spPr>
          <a:xfrm>
            <a:off x="9479128" y="1691640"/>
            <a:ext cx="2048256" cy="1828800"/>
          </a:xfrm>
          <a:prstGeom prst="roundRect">
            <a:avLst>
              <a:gd name="adj" fmla="val 5000"/>
            </a:avLst>
          </a:prstGeom>
          <a:solidFill>
            <a:srgbClr val="F5F6FA"/>
          </a:solidFill>
          <a:ln w="9525">
            <a:solidFill>
              <a:srgbClr val="E1E4EF"/>
            </a:solidFill>
            <a:prstDash val="solid"/>
          </a:ln>
        </p:spPr>
      </p:sp>
      <p:sp>
        <p:nvSpPr>
          <p:cNvPr id="27" name="Shape 21"/>
          <p:cNvSpPr/>
          <p:nvPr/>
        </p:nvSpPr>
        <p:spPr>
          <a:xfrm>
            <a:off x="10201504" y="1938528"/>
            <a:ext cx="603504" cy="603504"/>
          </a:xfrm>
          <a:prstGeom prst="ellipse">
            <a:avLst/>
          </a:prstGeom>
          <a:solidFill>
            <a:srgbClr val="0F1428"/>
          </a:solidFill>
          <a:ln/>
        </p:spPr>
      </p:sp>
      <p:pic>
        <p:nvPicPr>
          <p:cNvPr id="28" name="Image 4" descr="preencoded.png">    </p:cNvPr>
          <p:cNvPicPr>
            <a:picLocks noChangeAspect="1"/>
          </p:cNvPicPr>
          <p:nvPr/>
        </p:nvPicPr>
        <p:blipFill>
          <a:blip r:embed="rId5"/>
          <a:stretch>
            <a:fillRect/>
          </a:stretch>
        </p:blipFill>
        <p:spPr>
          <a:xfrm>
            <a:off x="10346345" y="2083369"/>
            <a:ext cx="313822" cy="313822"/>
          </a:xfrm>
          <a:prstGeom prst="rect">
            <a:avLst/>
          </a:prstGeom>
        </p:spPr>
      </p:pic>
      <p:sp>
        <p:nvSpPr>
          <p:cNvPr id="29" name="Text 22"/>
          <p:cNvSpPr txBox="1"/>
          <p:nvPr/>
        </p:nvSpPr>
        <p:spPr>
          <a:xfrm>
            <a:off x="9607144" y="2651760"/>
            <a:ext cx="1792224"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141B33"/>
                </a:solidFill>
                <a:latin typeface="Calibri" pitchFamily="34" charset="0"/>
                <a:ea typeface="Calibri" pitchFamily="34" charset="-122"/>
                <a:cs typeface="Calibri" pitchFamily="34" charset="-120"/>
              </a:rPr>
              <a:t>Financial ops teams</a:t>
            </a:r>
            <a:endParaRPr lang="en-US" sz="1150" dirty="0"/>
          </a:p>
        </p:txBody>
      </p:sp>
      <p:sp>
        <p:nvSpPr>
          <p:cNvPr id="30" name="Text 23"/>
          <p:cNvSpPr txBox="1"/>
          <p:nvPr/>
        </p:nvSpPr>
        <p:spPr>
          <a:xfrm>
            <a:off x="9625432" y="3063240"/>
            <a:ext cx="1755648" cy="384048"/>
          </a:xfrm>
          <a:prstGeom prst="rect">
            <a:avLst/>
          </a:prstGeom>
          <a:noFill/>
          <a:ln/>
        </p:spPr>
        <p:txBody>
          <a:bodyPr wrap="square" lIns="0" tIns="0" rIns="0" bIns="0" rtlCol="0" anchor="ctr"/>
          <a:lstStyle/>
          <a:p>
            <a:pPr algn="ctr" indent="0" marL="0">
              <a:buNone/>
            </a:pPr>
            <a:r>
              <a:rPr lang="en-US" sz="870" i="1" dirty="0">
                <a:solidFill>
                  <a:srgbClr val="5B6584"/>
                </a:solidFill>
                <a:latin typeface="Calibri" pitchFamily="34" charset="0"/>
                <a:ea typeface="Calibri" pitchFamily="34" charset="-122"/>
                <a:cs typeface="Calibri" pitchFamily="34" charset="-120"/>
              </a:rPr>
              <a:t>working exception queues daily</a:t>
            </a:r>
            <a:endParaRPr lang="en-US" sz="870" dirty="0"/>
          </a:p>
        </p:txBody>
      </p:sp>
      <p:sp>
        <p:nvSpPr>
          <p:cNvPr id="31" name="Shape 24"/>
          <p:cNvSpPr/>
          <p:nvPr/>
        </p:nvSpPr>
        <p:spPr>
          <a:xfrm>
            <a:off x="540868" y="3977640"/>
            <a:ext cx="3520440" cy="1417320"/>
          </a:xfrm>
          <a:prstGeom prst="roundRect">
            <a:avLst>
              <a:gd name="adj" fmla="val 6452"/>
            </a:avLst>
          </a:prstGeom>
          <a:solidFill>
            <a:srgbClr val="0F1428"/>
          </a:solidFill>
          <a:ln/>
        </p:spPr>
      </p:sp>
      <p:sp>
        <p:nvSpPr>
          <p:cNvPr id="32" name="Text 25"/>
          <p:cNvSpPr txBox="1"/>
          <p:nvPr/>
        </p:nvSpPr>
        <p:spPr>
          <a:xfrm>
            <a:off x="769468" y="4160520"/>
            <a:ext cx="3063240" cy="50292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Reduce financial leakage</a:t>
            </a:r>
            <a:endParaRPr lang="en-US" sz="1500" dirty="0"/>
          </a:p>
        </p:txBody>
      </p:sp>
      <p:sp>
        <p:nvSpPr>
          <p:cNvPr id="33" name="Text 26"/>
          <p:cNvSpPr txBox="1"/>
          <p:nvPr/>
        </p:nvSpPr>
        <p:spPr>
          <a:xfrm>
            <a:off x="769468" y="4690872"/>
            <a:ext cx="3063240" cy="621792"/>
          </a:xfrm>
          <a:prstGeom prst="rect">
            <a:avLst/>
          </a:prstGeom>
          <a:noFill/>
          <a:ln/>
        </p:spPr>
        <p:txBody>
          <a:bodyPr wrap="square" lIns="0" tIns="0" rIns="0" bIns="0" rtlCol="0" anchor="ctr"/>
          <a:lstStyle/>
          <a:p>
            <a:pPr indent="0" marL="0">
              <a:lnSpc>
                <a:spcPct val="110000"/>
              </a:lnSpc>
              <a:buNone/>
            </a:pPr>
            <a:r>
              <a:rPr lang="en-US" sz="980" dirty="0">
                <a:solidFill>
                  <a:srgbClr val="C9D6F5"/>
                </a:solidFill>
                <a:latin typeface="Calibri" pitchFamily="34" charset="0"/>
                <a:ea typeface="Calibri" pitchFamily="34" charset="-122"/>
                <a:cs typeface="Calibri" pitchFamily="34" charset="-120"/>
              </a:rPr>
              <a:t>money at risk is quantified and tracked to resolution, not lost in a queue</a:t>
            </a:r>
            <a:endParaRPr lang="en-US" sz="980" dirty="0"/>
          </a:p>
        </p:txBody>
      </p:sp>
      <p:sp>
        <p:nvSpPr>
          <p:cNvPr id="34" name="Shape 27"/>
          <p:cNvSpPr/>
          <p:nvPr/>
        </p:nvSpPr>
        <p:spPr>
          <a:xfrm>
            <a:off x="4335628" y="3977640"/>
            <a:ext cx="3520440" cy="1417320"/>
          </a:xfrm>
          <a:prstGeom prst="roundRect">
            <a:avLst>
              <a:gd name="adj" fmla="val 6452"/>
            </a:avLst>
          </a:prstGeom>
          <a:solidFill>
            <a:srgbClr val="0F1428"/>
          </a:solidFill>
          <a:ln/>
        </p:spPr>
      </p:sp>
      <p:sp>
        <p:nvSpPr>
          <p:cNvPr id="35" name="Text 28"/>
          <p:cNvSpPr txBox="1"/>
          <p:nvPr/>
        </p:nvSpPr>
        <p:spPr>
          <a:xfrm>
            <a:off x="4564228" y="4160520"/>
            <a:ext cx="3063240" cy="50292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Reduce investigation time</a:t>
            </a:r>
            <a:endParaRPr lang="en-US" sz="1500" dirty="0"/>
          </a:p>
        </p:txBody>
      </p:sp>
      <p:sp>
        <p:nvSpPr>
          <p:cNvPr id="36" name="Text 29"/>
          <p:cNvSpPr txBox="1"/>
          <p:nvPr/>
        </p:nvSpPr>
        <p:spPr>
          <a:xfrm>
            <a:off x="4564228" y="4690872"/>
            <a:ext cx="3063240" cy="621792"/>
          </a:xfrm>
          <a:prstGeom prst="rect">
            <a:avLst/>
          </a:prstGeom>
          <a:noFill/>
          <a:ln/>
        </p:spPr>
        <p:txBody>
          <a:bodyPr wrap="square" lIns="0" tIns="0" rIns="0" bIns="0" rtlCol="0" anchor="ctr"/>
          <a:lstStyle/>
          <a:p>
            <a:pPr indent="0" marL="0">
              <a:lnSpc>
                <a:spcPct val="110000"/>
              </a:lnSpc>
              <a:buNone/>
            </a:pPr>
            <a:r>
              <a:rPr lang="en-US" sz="980" dirty="0">
                <a:solidFill>
                  <a:srgbClr val="C9D6F5"/>
                </a:solidFill>
                <a:latin typeface="Calibri" pitchFamily="34" charset="0"/>
                <a:ea typeface="Calibri" pitchFamily="34" charset="-122"/>
                <a:cs typeface="Calibri" pitchFamily="34" charset="-120"/>
              </a:rPr>
              <a:t>root cause and evidence are computed automatically, not re-derived by hand</a:t>
            </a:r>
            <a:endParaRPr lang="en-US" sz="980" dirty="0"/>
          </a:p>
        </p:txBody>
      </p:sp>
      <p:sp>
        <p:nvSpPr>
          <p:cNvPr id="37" name="Shape 30"/>
          <p:cNvSpPr/>
          <p:nvPr/>
        </p:nvSpPr>
        <p:spPr>
          <a:xfrm>
            <a:off x="8130388" y="3977640"/>
            <a:ext cx="3520440" cy="1417320"/>
          </a:xfrm>
          <a:prstGeom prst="roundRect">
            <a:avLst>
              <a:gd name="adj" fmla="val 6452"/>
            </a:avLst>
          </a:prstGeom>
          <a:solidFill>
            <a:srgbClr val="0F1428"/>
          </a:solidFill>
          <a:ln/>
        </p:spPr>
      </p:sp>
      <p:sp>
        <p:nvSpPr>
          <p:cNvPr id="38" name="Text 31"/>
          <p:cNvSpPr txBox="1"/>
          <p:nvPr/>
        </p:nvSpPr>
        <p:spPr>
          <a:xfrm>
            <a:off x="8358988" y="4160520"/>
            <a:ext cx="3063240" cy="50292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Improve control &amp; auditability</a:t>
            </a:r>
            <a:endParaRPr lang="en-US" sz="1500" dirty="0"/>
          </a:p>
        </p:txBody>
      </p:sp>
      <p:sp>
        <p:nvSpPr>
          <p:cNvPr id="39" name="Text 32"/>
          <p:cNvSpPr txBox="1"/>
          <p:nvPr/>
        </p:nvSpPr>
        <p:spPr>
          <a:xfrm>
            <a:off x="8358988" y="4690872"/>
            <a:ext cx="3063240" cy="621792"/>
          </a:xfrm>
          <a:prstGeom prst="rect">
            <a:avLst/>
          </a:prstGeom>
          <a:noFill/>
          <a:ln/>
        </p:spPr>
        <p:txBody>
          <a:bodyPr wrap="square" lIns="0" tIns="0" rIns="0" bIns="0" rtlCol="0" anchor="ctr"/>
          <a:lstStyle/>
          <a:p>
            <a:pPr indent="0" marL="0">
              <a:lnSpc>
                <a:spcPct val="110000"/>
              </a:lnSpc>
              <a:buNone/>
            </a:pPr>
            <a:r>
              <a:rPr lang="en-US" sz="980" dirty="0">
                <a:solidFill>
                  <a:srgbClr val="C9D6F5"/>
                </a:solidFill>
                <a:latin typeface="Calibri" pitchFamily="34" charset="0"/>
                <a:ea typeface="Calibri" pitchFamily="34" charset="-122"/>
                <a:cs typeface="Calibri" pitchFamily="34" charset="-120"/>
              </a:rPr>
              <a:t>every decision — automatic or human — is logged end to end</a:t>
            </a:r>
            <a:endParaRPr lang="en-US" sz="980" dirty="0"/>
          </a:p>
        </p:txBody>
      </p:sp>
      <p:sp>
        <p:nvSpPr>
          <p:cNvPr id="40" name="Text 33"/>
          <p:cNvSpPr txBox="1"/>
          <p:nvPr/>
        </p:nvSpPr>
        <p:spPr>
          <a:xfrm>
            <a:off x="548640" y="5715000"/>
            <a:ext cx="11091672" cy="457200"/>
          </a:xfrm>
          <a:prstGeom prst="rect">
            <a:avLst/>
          </a:prstGeom>
          <a:noFill/>
          <a:ln/>
        </p:spPr>
        <p:txBody>
          <a:bodyPr wrap="square" lIns="0" tIns="0" rIns="0" bIns="0" rtlCol="0" anchor="ctr"/>
          <a:lstStyle/>
          <a:p>
            <a:pPr algn="ctr" indent="0" marL="0">
              <a:buNone/>
            </a:pPr>
            <a:r>
              <a:rPr lang="en-US" sz="1000" i="1" dirty="0">
                <a:solidFill>
                  <a:srgbClr val="5B6584"/>
                </a:solidFill>
                <a:latin typeface="Calibri" pitchFamily="34" charset="0"/>
                <a:ea typeface="Calibri" pitchFamily="34" charset="-122"/>
                <a:cs typeface="Calibri" pitchFamily="34" charset="-120"/>
              </a:rPr>
              <a:t>Market sizing, pricing, and customer traction are not yet established — this reflects product and technical positioning only, not validated go-to-market data.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60704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658368"/>
            <a:ext cx="10607040" cy="658368"/>
          </a:xfrm>
          <a:prstGeom prst="rect">
            <a:avLst/>
          </a:prstGeom>
          <a:noFill/>
          <a:ln/>
        </p:spPr>
        <p:txBody>
          <a:bodyPr wrap="square" lIns="0" tIns="0" rIns="0" bIns="0" rtlCol="0" anchor="t"/>
          <a:lstStyle/>
          <a:p>
            <a:pPr indent="0" marL="0">
              <a:buNone/>
            </a:pPr>
            <a:r>
              <a:rPr lang="en-US" sz="3000" b="1" dirty="0">
                <a:solidFill>
                  <a:srgbClr val="141B33"/>
                </a:solidFill>
                <a:latin typeface="Cambria" pitchFamily="34" charset="0"/>
                <a:ea typeface="Cambria" pitchFamily="34" charset="-122"/>
                <a:cs typeface="Cambria" pitchFamily="34" charset="-120"/>
              </a:rPr>
              <a:t>What’s proven, what’s next</a:t>
            </a:r>
            <a:endParaRPr lang="en-US" sz="3000" dirty="0"/>
          </a:p>
        </p:txBody>
      </p:sp>
      <p:sp>
        <p:nvSpPr>
          <p:cNvPr id="4" name="Text 2"/>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A6ACC2"/>
                </a:solidFill>
                <a:latin typeface="Calibri" pitchFamily="34" charset="0"/>
                <a:ea typeface="Calibri" pitchFamily="34" charset="-122"/>
                <a:cs typeface="Calibri" pitchFamily="34" charset="-120"/>
              </a:rPr>
              <a:t>FINANCIAL CONTROL AGENT  —  INVESTOR BRIEFING</a:t>
            </a:r>
            <a:endParaRPr lang="en-US" sz="900" dirty="0"/>
          </a:p>
        </p:txBody>
      </p:sp>
      <p:sp>
        <p:nvSpPr>
          <p:cNvPr id="5" name="Text 3"/>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A6ACC2"/>
                </a:solidFill>
                <a:latin typeface="Calibri" pitchFamily="34" charset="0"/>
                <a:ea typeface="Calibri" pitchFamily="34" charset="-122"/>
                <a:cs typeface="Calibri" pitchFamily="34" charset="-120"/>
              </a:rPr>
              <a:t>11 / 12</a:t>
            </a:r>
            <a:endParaRPr lang="en-US" sz="900" dirty="0"/>
          </a:p>
        </p:txBody>
      </p:sp>
      <p:sp>
        <p:nvSpPr>
          <p:cNvPr id="6" name="Shape 4"/>
          <p:cNvSpPr/>
          <p:nvPr/>
        </p:nvSpPr>
        <p:spPr>
          <a:xfrm>
            <a:off x="1188720" y="3520440"/>
            <a:ext cx="9811512" cy="0"/>
          </a:xfrm>
          <a:prstGeom prst="line">
            <a:avLst/>
          </a:prstGeom>
          <a:noFill/>
          <a:ln w="25400">
            <a:solidFill>
              <a:srgbClr val="E1E4EF"/>
            </a:solidFill>
            <a:prstDash val="solid"/>
          </a:ln>
        </p:spPr>
      </p:sp>
      <p:sp>
        <p:nvSpPr>
          <p:cNvPr id="7" name="Shape 5"/>
          <p:cNvSpPr/>
          <p:nvPr/>
        </p:nvSpPr>
        <p:spPr>
          <a:xfrm>
            <a:off x="1243584" y="3392424"/>
            <a:ext cx="256032" cy="256032"/>
          </a:xfrm>
          <a:prstGeom prst="ellipse">
            <a:avLst/>
          </a:prstGeom>
          <a:solidFill>
            <a:srgbClr val="0F1428"/>
          </a:solidFill>
          <a:ln w="25400">
            <a:solidFill>
              <a:srgbClr val="0F1428"/>
            </a:solidFill>
            <a:prstDash val="solid"/>
          </a:ln>
        </p:spPr>
      </p:sp>
      <p:sp>
        <p:nvSpPr>
          <p:cNvPr id="8" name="Shape 6"/>
          <p:cNvSpPr/>
          <p:nvPr/>
        </p:nvSpPr>
        <p:spPr>
          <a:xfrm>
            <a:off x="1371600" y="3063240"/>
            <a:ext cx="0" cy="329184"/>
          </a:xfrm>
          <a:prstGeom prst="line">
            <a:avLst/>
          </a:prstGeom>
          <a:noFill/>
          <a:ln w="15875">
            <a:solidFill>
              <a:srgbClr val="E1E4EF"/>
            </a:solidFill>
            <a:prstDash val="solid"/>
          </a:ln>
        </p:spPr>
      </p:sp>
      <p:sp>
        <p:nvSpPr>
          <p:cNvPr id="9" name="Shape 7"/>
          <p:cNvSpPr/>
          <p:nvPr/>
        </p:nvSpPr>
        <p:spPr>
          <a:xfrm>
            <a:off x="205740" y="1645920"/>
            <a:ext cx="2331720" cy="1417320"/>
          </a:xfrm>
          <a:prstGeom prst="roundRect">
            <a:avLst>
              <a:gd name="adj" fmla="val 5806"/>
            </a:avLst>
          </a:prstGeom>
          <a:solidFill>
            <a:srgbClr val="0F1428"/>
          </a:solidFill>
          <a:ln/>
        </p:spPr>
      </p:sp>
      <p:sp>
        <p:nvSpPr>
          <p:cNvPr id="10" name="Text 8"/>
          <p:cNvSpPr txBox="1"/>
          <p:nvPr/>
        </p:nvSpPr>
        <p:spPr>
          <a:xfrm>
            <a:off x="388620" y="1773936"/>
            <a:ext cx="1965960" cy="274320"/>
          </a:xfrm>
          <a:prstGeom prst="rect">
            <a:avLst/>
          </a:prstGeom>
          <a:noFill/>
          <a:ln/>
        </p:spPr>
        <p:txBody>
          <a:bodyPr wrap="square" lIns="0" tIns="0" rIns="0" bIns="0" rtlCol="0" anchor="ctr"/>
          <a:lstStyle/>
          <a:p>
            <a:pPr indent="0" marL="0">
              <a:buNone/>
            </a:pPr>
            <a:r>
              <a:rPr lang="en-US" sz="1150" b="1" spc="150" kern="0" dirty="0">
                <a:solidFill>
                  <a:srgbClr val="1FAE7A"/>
                </a:solidFill>
                <a:latin typeface="Calibri" pitchFamily="34" charset="0"/>
                <a:ea typeface="Calibri" pitchFamily="34" charset="-122"/>
                <a:cs typeface="Calibri" pitchFamily="34" charset="-120"/>
              </a:rPr>
              <a:t>NOW</a:t>
            </a:r>
            <a:endParaRPr lang="en-US" sz="1150" dirty="0"/>
          </a:p>
        </p:txBody>
      </p:sp>
      <p:sp>
        <p:nvSpPr>
          <p:cNvPr id="11" name="Text 9"/>
          <p:cNvSpPr txBox="1"/>
          <p:nvPr/>
        </p:nvSpPr>
        <p:spPr>
          <a:xfrm>
            <a:off x="388620" y="2066544"/>
            <a:ext cx="1965960" cy="868680"/>
          </a:xfrm>
          <a:prstGeom prst="rect">
            <a:avLst/>
          </a:prstGeom>
          <a:noFill/>
          <a:ln/>
        </p:spPr>
        <p:txBody>
          <a:bodyPr wrap="square" lIns="0" tIns="0" rIns="0" bIns="0" rtlCol="0" anchor="ctr"/>
          <a:lstStyle/>
          <a:p>
            <a:pPr indent="0" marL="0">
              <a:lnSpc>
                <a:spcPct val="110000"/>
              </a:lnSpc>
              <a:buNone/>
            </a:pPr>
            <a:r>
              <a:rPr lang="en-US" sz="970" dirty="0">
                <a:solidFill>
                  <a:srgbClr val="C9D6F5"/>
                </a:solidFill>
                <a:latin typeface="Calibri" pitchFamily="34" charset="0"/>
                <a:ea typeface="Calibri" pitchFamily="34" charset="-122"/>
                <a:cs typeface="Calibri" pitchFamily="34" charset="-120"/>
              </a:rPr>
              <a:t>Synthetic proof of concept — working detection, ML, and control pipeline, self-evaluated end to end.</a:t>
            </a:r>
            <a:endParaRPr lang="en-US" sz="970" dirty="0"/>
          </a:p>
        </p:txBody>
      </p:sp>
      <p:sp>
        <p:nvSpPr>
          <p:cNvPr id="12" name="Shape 10"/>
          <p:cNvSpPr/>
          <p:nvPr/>
        </p:nvSpPr>
        <p:spPr>
          <a:xfrm>
            <a:off x="4123944" y="3392424"/>
            <a:ext cx="256032" cy="256032"/>
          </a:xfrm>
          <a:prstGeom prst="ellipse">
            <a:avLst/>
          </a:prstGeom>
          <a:solidFill>
            <a:srgbClr val="FFFFFF"/>
          </a:solidFill>
          <a:ln w="25400">
            <a:solidFill>
              <a:srgbClr val="0F1428"/>
            </a:solidFill>
            <a:prstDash val="solid"/>
          </a:ln>
        </p:spPr>
      </p:sp>
      <p:sp>
        <p:nvSpPr>
          <p:cNvPr id="13" name="Shape 11"/>
          <p:cNvSpPr/>
          <p:nvPr/>
        </p:nvSpPr>
        <p:spPr>
          <a:xfrm>
            <a:off x="4251960" y="3648456"/>
            <a:ext cx="0" cy="329184"/>
          </a:xfrm>
          <a:prstGeom prst="line">
            <a:avLst/>
          </a:prstGeom>
          <a:noFill/>
          <a:ln w="15875">
            <a:solidFill>
              <a:srgbClr val="E1E4EF"/>
            </a:solidFill>
            <a:prstDash val="solid"/>
          </a:ln>
        </p:spPr>
      </p:sp>
      <p:sp>
        <p:nvSpPr>
          <p:cNvPr id="14" name="Shape 12"/>
          <p:cNvSpPr/>
          <p:nvPr/>
        </p:nvSpPr>
        <p:spPr>
          <a:xfrm>
            <a:off x="3086100" y="3977640"/>
            <a:ext cx="2331720" cy="1417320"/>
          </a:xfrm>
          <a:prstGeom prst="roundRect">
            <a:avLst>
              <a:gd name="adj" fmla="val 5806"/>
            </a:avLst>
          </a:prstGeom>
          <a:solidFill>
            <a:srgbClr val="F5F6FA"/>
          </a:solidFill>
          <a:ln w="9525">
            <a:solidFill>
              <a:srgbClr val="E1E4EF"/>
            </a:solidFill>
            <a:prstDash val="solid"/>
          </a:ln>
        </p:spPr>
      </p:sp>
      <p:sp>
        <p:nvSpPr>
          <p:cNvPr id="15" name="Text 13"/>
          <p:cNvSpPr txBox="1"/>
          <p:nvPr/>
        </p:nvSpPr>
        <p:spPr>
          <a:xfrm>
            <a:off x="3268980" y="4105656"/>
            <a:ext cx="1965960" cy="274320"/>
          </a:xfrm>
          <a:prstGeom prst="rect">
            <a:avLst/>
          </a:prstGeom>
          <a:noFill/>
          <a:ln/>
        </p:spPr>
        <p:txBody>
          <a:bodyPr wrap="square" lIns="0" tIns="0" rIns="0" bIns="0" rtlCol="0" anchor="ctr"/>
          <a:lstStyle/>
          <a:p>
            <a:pPr indent="0" marL="0">
              <a:buNone/>
            </a:pPr>
            <a:r>
              <a:rPr lang="en-US" sz="1150" b="1" spc="150" kern="0" dirty="0">
                <a:solidFill>
                  <a:srgbClr val="B8791E"/>
                </a:solidFill>
                <a:latin typeface="Calibri" pitchFamily="34" charset="0"/>
                <a:ea typeface="Calibri" pitchFamily="34" charset="-122"/>
                <a:cs typeface="Calibri" pitchFamily="34" charset="-120"/>
              </a:rPr>
              <a:t>NEXT</a:t>
            </a:r>
            <a:endParaRPr lang="en-US" sz="1150" dirty="0"/>
          </a:p>
        </p:txBody>
      </p:sp>
      <p:sp>
        <p:nvSpPr>
          <p:cNvPr id="16" name="Text 14"/>
          <p:cNvSpPr txBox="1"/>
          <p:nvPr/>
        </p:nvSpPr>
        <p:spPr>
          <a:xfrm>
            <a:off x="3268980" y="4398264"/>
            <a:ext cx="1965960" cy="868680"/>
          </a:xfrm>
          <a:prstGeom prst="rect">
            <a:avLst/>
          </a:prstGeom>
          <a:noFill/>
          <a:ln/>
        </p:spPr>
        <p:txBody>
          <a:bodyPr wrap="square" lIns="0" tIns="0" rIns="0" bIns="0" rtlCol="0" anchor="ctr"/>
          <a:lstStyle/>
          <a:p>
            <a:pPr indent="0" marL="0">
              <a:lnSpc>
                <a:spcPct val="110000"/>
              </a:lnSpc>
              <a:buNone/>
            </a:pPr>
            <a:r>
              <a:rPr lang="en-US" sz="970" dirty="0">
                <a:solidFill>
                  <a:srgbClr val="5B6584"/>
                </a:solidFill>
                <a:latin typeface="Calibri" pitchFamily="34" charset="0"/>
                <a:ea typeface="Calibri" pitchFamily="34" charset="-122"/>
                <a:cs typeface="Calibri" pitchFamily="34" charset="-120"/>
              </a:rPr>
              <a:t>Real payment data, plus external validation against it.</a:t>
            </a:r>
            <a:endParaRPr lang="en-US" sz="970" dirty="0"/>
          </a:p>
        </p:txBody>
      </p:sp>
      <p:sp>
        <p:nvSpPr>
          <p:cNvPr id="17" name="Shape 15"/>
          <p:cNvSpPr/>
          <p:nvPr/>
        </p:nvSpPr>
        <p:spPr>
          <a:xfrm>
            <a:off x="7004304" y="3392424"/>
            <a:ext cx="256032" cy="256032"/>
          </a:xfrm>
          <a:prstGeom prst="ellipse">
            <a:avLst/>
          </a:prstGeom>
          <a:solidFill>
            <a:srgbClr val="FFFFFF"/>
          </a:solidFill>
          <a:ln w="25400">
            <a:solidFill>
              <a:srgbClr val="0F1428"/>
            </a:solidFill>
            <a:prstDash val="solid"/>
          </a:ln>
        </p:spPr>
      </p:sp>
      <p:sp>
        <p:nvSpPr>
          <p:cNvPr id="18" name="Shape 16"/>
          <p:cNvSpPr/>
          <p:nvPr/>
        </p:nvSpPr>
        <p:spPr>
          <a:xfrm>
            <a:off x="7132320" y="3063240"/>
            <a:ext cx="0" cy="329184"/>
          </a:xfrm>
          <a:prstGeom prst="line">
            <a:avLst/>
          </a:prstGeom>
          <a:noFill/>
          <a:ln w="15875">
            <a:solidFill>
              <a:srgbClr val="E1E4EF"/>
            </a:solidFill>
            <a:prstDash val="solid"/>
          </a:ln>
        </p:spPr>
      </p:sp>
      <p:sp>
        <p:nvSpPr>
          <p:cNvPr id="19" name="Shape 17"/>
          <p:cNvSpPr/>
          <p:nvPr/>
        </p:nvSpPr>
        <p:spPr>
          <a:xfrm>
            <a:off x="5966460" y="1645920"/>
            <a:ext cx="2331720" cy="1417320"/>
          </a:xfrm>
          <a:prstGeom prst="roundRect">
            <a:avLst>
              <a:gd name="adj" fmla="val 5806"/>
            </a:avLst>
          </a:prstGeom>
          <a:solidFill>
            <a:srgbClr val="F5F6FA"/>
          </a:solidFill>
          <a:ln w="9525">
            <a:solidFill>
              <a:srgbClr val="E1E4EF"/>
            </a:solidFill>
            <a:prstDash val="solid"/>
          </a:ln>
        </p:spPr>
      </p:sp>
      <p:sp>
        <p:nvSpPr>
          <p:cNvPr id="20" name="Text 18"/>
          <p:cNvSpPr txBox="1"/>
          <p:nvPr/>
        </p:nvSpPr>
        <p:spPr>
          <a:xfrm>
            <a:off x="6149340" y="1773936"/>
            <a:ext cx="1965960" cy="274320"/>
          </a:xfrm>
          <a:prstGeom prst="rect">
            <a:avLst/>
          </a:prstGeom>
          <a:noFill/>
          <a:ln/>
        </p:spPr>
        <p:txBody>
          <a:bodyPr wrap="square" lIns="0" tIns="0" rIns="0" bIns="0" rtlCol="0" anchor="ctr"/>
          <a:lstStyle/>
          <a:p>
            <a:pPr indent="0" marL="0">
              <a:buNone/>
            </a:pPr>
            <a:r>
              <a:rPr lang="en-US" sz="1150" b="1" spc="150" kern="0" dirty="0">
                <a:solidFill>
                  <a:srgbClr val="B8791E"/>
                </a:solidFill>
                <a:latin typeface="Calibri" pitchFamily="34" charset="0"/>
                <a:ea typeface="Calibri" pitchFamily="34" charset="-122"/>
                <a:cs typeface="Calibri" pitchFamily="34" charset="-120"/>
              </a:rPr>
              <a:t>THEN</a:t>
            </a:r>
            <a:endParaRPr lang="en-US" sz="1150" dirty="0"/>
          </a:p>
        </p:txBody>
      </p:sp>
      <p:sp>
        <p:nvSpPr>
          <p:cNvPr id="21" name="Text 19"/>
          <p:cNvSpPr txBox="1"/>
          <p:nvPr/>
        </p:nvSpPr>
        <p:spPr>
          <a:xfrm>
            <a:off x="6149340" y="2066544"/>
            <a:ext cx="1965960" cy="868680"/>
          </a:xfrm>
          <a:prstGeom prst="rect">
            <a:avLst/>
          </a:prstGeom>
          <a:noFill/>
          <a:ln/>
        </p:spPr>
        <p:txBody>
          <a:bodyPr wrap="square" lIns="0" tIns="0" rIns="0" bIns="0" rtlCol="0" anchor="ctr"/>
          <a:lstStyle/>
          <a:p>
            <a:pPr indent="0" marL="0">
              <a:lnSpc>
                <a:spcPct val="110000"/>
              </a:lnSpc>
              <a:buNone/>
            </a:pPr>
            <a:r>
              <a:rPr lang="en-US" sz="970" dirty="0">
                <a:solidFill>
                  <a:srgbClr val="5B6584"/>
                </a:solidFill>
                <a:latin typeface="Calibri" pitchFamily="34" charset="0"/>
                <a:ea typeface="Calibri" pitchFamily="34" charset="-122"/>
                <a:cs typeface="Calibri" pitchFamily="34" charset="-120"/>
              </a:rPr>
              <a:t>Production integration, model monitoring, customer pilots.</a:t>
            </a:r>
            <a:endParaRPr lang="en-US" sz="970" dirty="0"/>
          </a:p>
        </p:txBody>
      </p:sp>
      <p:sp>
        <p:nvSpPr>
          <p:cNvPr id="22" name="Shape 20"/>
          <p:cNvSpPr/>
          <p:nvPr/>
        </p:nvSpPr>
        <p:spPr>
          <a:xfrm>
            <a:off x="9884664" y="3392424"/>
            <a:ext cx="256032" cy="256032"/>
          </a:xfrm>
          <a:prstGeom prst="ellipse">
            <a:avLst/>
          </a:prstGeom>
          <a:solidFill>
            <a:srgbClr val="FFFFFF"/>
          </a:solidFill>
          <a:ln w="25400">
            <a:solidFill>
              <a:srgbClr val="0F1428"/>
            </a:solidFill>
            <a:prstDash val="solid"/>
          </a:ln>
        </p:spPr>
      </p:sp>
      <p:sp>
        <p:nvSpPr>
          <p:cNvPr id="23" name="Shape 21"/>
          <p:cNvSpPr/>
          <p:nvPr/>
        </p:nvSpPr>
        <p:spPr>
          <a:xfrm>
            <a:off x="10012680" y="3648456"/>
            <a:ext cx="0" cy="329184"/>
          </a:xfrm>
          <a:prstGeom prst="line">
            <a:avLst/>
          </a:prstGeom>
          <a:noFill/>
          <a:ln w="15875">
            <a:solidFill>
              <a:srgbClr val="E1E4EF"/>
            </a:solidFill>
            <a:prstDash val="solid"/>
          </a:ln>
        </p:spPr>
      </p:sp>
      <p:sp>
        <p:nvSpPr>
          <p:cNvPr id="24" name="Shape 22"/>
          <p:cNvSpPr/>
          <p:nvPr/>
        </p:nvSpPr>
        <p:spPr>
          <a:xfrm>
            <a:off x="8846820" y="3977640"/>
            <a:ext cx="2331720" cy="1417320"/>
          </a:xfrm>
          <a:prstGeom prst="roundRect">
            <a:avLst>
              <a:gd name="adj" fmla="val 5806"/>
            </a:avLst>
          </a:prstGeom>
          <a:solidFill>
            <a:srgbClr val="F5F6FA"/>
          </a:solidFill>
          <a:ln w="9525">
            <a:solidFill>
              <a:srgbClr val="E1E4EF"/>
            </a:solidFill>
            <a:prstDash val="solid"/>
          </a:ln>
        </p:spPr>
      </p:sp>
      <p:sp>
        <p:nvSpPr>
          <p:cNvPr id="25" name="Text 23"/>
          <p:cNvSpPr txBox="1"/>
          <p:nvPr/>
        </p:nvSpPr>
        <p:spPr>
          <a:xfrm>
            <a:off x="9029700" y="4105656"/>
            <a:ext cx="1965960" cy="274320"/>
          </a:xfrm>
          <a:prstGeom prst="rect">
            <a:avLst/>
          </a:prstGeom>
          <a:noFill/>
          <a:ln/>
        </p:spPr>
        <p:txBody>
          <a:bodyPr wrap="square" lIns="0" tIns="0" rIns="0" bIns="0" rtlCol="0" anchor="ctr"/>
          <a:lstStyle/>
          <a:p>
            <a:pPr indent="0" marL="0">
              <a:buNone/>
            </a:pPr>
            <a:r>
              <a:rPr lang="en-US" sz="1150" b="1" spc="150" kern="0" dirty="0">
                <a:solidFill>
                  <a:srgbClr val="B8791E"/>
                </a:solidFill>
                <a:latin typeface="Calibri" pitchFamily="34" charset="0"/>
                <a:ea typeface="Calibri" pitchFamily="34" charset="-122"/>
                <a:cs typeface="Calibri" pitchFamily="34" charset="-120"/>
              </a:rPr>
              <a:t>SCALE</a:t>
            </a:r>
            <a:endParaRPr lang="en-US" sz="1150" dirty="0"/>
          </a:p>
        </p:txBody>
      </p:sp>
      <p:sp>
        <p:nvSpPr>
          <p:cNvPr id="26" name="Text 24"/>
          <p:cNvSpPr txBox="1"/>
          <p:nvPr/>
        </p:nvSpPr>
        <p:spPr>
          <a:xfrm>
            <a:off x="9029700" y="4398264"/>
            <a:ext cx="1965960" cy="868680"/>
          </a:xfrm>
          <a:prstGeom prst="rect">
            <a:avLst/>
          </a:prstGeom>
          <a:noFill/>
          <a:ln/>
        </p:spPr>
        <p:txBody>
          <a:bodyPr wrap="square" lIns="0" tIns="0" rIns="0" bIns="0" rtlCol="0" anchor="ctr"/>
          <a:lstStyle/>
          <a:p>
            <a:pPr indent="0" marL="0">
              <a:lnSpc>
                <a:spcPct val="110000"/>
              </a:lnSpc>
              <a:buNone/>
            </a:pPr>
            <a:r>
              <a:rPr lang="en-US" sz="970" dirty="0">
                <a:solidFill>
                  <a:srgbClr val="5B6584"/>
                </a:solidFill>
                <a:latin typeface="Calibri" pitchFamily="34" charset="0"/>
                <a:ea typeface="Calibri" pitchFamily="34" charset="-122"/>
                <a:cs typeface="Calibri" pitchFamily="34" charset="-120"/>
              </a:rPr>
              <a:t>Multi-processor, multi-fintech financial control platform.</a:t>
            </a:r>
            <a:endParaRPr lang="en-US" sz="970" dirty="0"/>
          </a:p>
        </p:txBody>
      </p:sp>
      <p:sp>
        <p:nvSpPr>
          <p:cNvPr id="27" name="Shape 25"/>
          <p:cNvSpPr/>
          <p:nvPr/>
        </p:nvSpPr>
        <p:spPr>
          <a:xfrm>
            <a:off x="548640" y="5806440"/>
            <a:ext cx="11091672" cy="640080"/>
          </a:xfrm>
          <a:prstGeom prst="roundRect">
            <a:avLst>
              <a:gd name="adj" fmla="val 11429"/>
            </a:avLst>
          </a:prstGeom>
          <a:solidFill>
            <a:srgbClr val="F5F6FA"/>
          </a:solidFill>
          <a:ln w="9525">
            <a:solidFill>
              <a:srgbClr val="E1E4EF"/>
            </a:solidFill>
            <a:prstDash val="solid"/>
          </a:ln>
        </p:spPr>
      </p:sp>
      <p:sp>
        <p:nvSpPr>
          <p:cNvPr id="28" name="Text 26"/>
          <p:cNvSpPr txBox="1"/>
          <p:nvPr/>
        </p:nvSpPr>
        <p:spPr>
          <a:xfrm>
            <a:off x="822960" y="5806440"/>
            <a:ext cx="10543032" cy="640080"/>
          </a:xfrm>
          <a:prstGeom prst="rect">
            <a:avLst/>
          </a:prstGeom>
          <a:noFill/>
          <a:ln/>
        </p:spPr>
        <p:txBody>
          <a:bodyPr wrap="square" lIns="0" tIns="0" rIns="0" bIns="0" rtlCol="0" anchor="ctr"/>
          <a:lstStyle/>
          <a:p>
            <a:pPr algn="ctr" indent="0" marL="0">
              <a:buNone/>
            </a:pPr>
            <a:r>
              <a:rPr lang="en-US" sz="1080" i="1" dirty="0">
                <a:solidFill>
                  <a:srgbClr val="5B6584"/>
                </a:solidFill>
                <a:latin typeface="Calibri" pitchFamily="34" charset="0"/>
                <a:ea typeface="Calibri" pitchFamily="34" charset="-122"/>
                <a:cs typeface="Calibri" pitchFamily="34" charset="-120"/>
              </a:rPr>
              <a:t>The gate between every stage is the same: re-run the evaluation pipeline and report the numbers exactly as they come out — same discipline as this deck.</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8"/>
        </a:solidFill>
      </p:bgPr>
    </p:bg>
    <p:spTree>
      <p:nvGrpSpPr>
        <p:cNvPr id="1" name=""/>
        <p:cNvGrpSpPr/>
        <p:nvPr/>
      </p:nvGrpSpPr>
      <p:grpSpPr>
        <a:xfrm>
          <a:off x="0" y="0"/>
          <a:ext cx="0" cy="0"/>
          <a:chOff x="0" y="0"/>
          <a:chExt cx="0" cy="0"/>
        </a:xfrm>
      </p:grpSpPr>
      <p:sp>
        <p:nvSpPr>
          <p:cNvPr id="2" name="Shape 0"/>
          <p:cNvSpPr/>
          <p:nvPr/>
        </p:nvSpPr>
        <p:spPr>
          <a:xfrm>
            <a:off x="-2194560" y="4206240"/>
            <a:ext cx="5120640" cy="5120640"/>
          </a:xfrm>
          <a:prstGeom prst="ellipse">
            <a:avLst/>
          </a:prstGeom>
          <a:ln w="19050">
            <a:solidFill>
              <a:srgbClr val="2B3562"/>
            </a:solidFill>
            <a:prstDash val="solid"/>
          </a:ln>
        </p:spPr>
      </p:sp>
      <p:sp>
        <p:nvSpPr>
          <p:cNvPr id="3" name="Text 1"/>
          <p:cNvSpPr txBox="1"/>
          <p:nvPr/>
        </p:nvSpPr>
        <p:spPr>
          <a:xfrm>
            <a:off x="548640" y="384048"/>
            <a:ext cx="10789920" cy="274320"/>
          </a:xfrm>
          <a:prstGeom prst="rect">
            <a:avLst/>
          </a:prstGeom>
          <a:noFill/>
          <a:ln/>
        </p:spPr>
        <p:txBody>
          <a:bodyPr wrap="square" lIns="0" tIns="0" rIns="0" bIns="0" rtlCol="0" anchor="ctr"/>
          <a:lstStyle/>
          <a:p>
            <a:pPr indent="0" marL="0">
              <a:buNone/>
            </a:pPr>
            <a:r>
              <a:rPr lang="en-US" sz="1200" b="1" spc="250" kern="0" dirty="0">
                <a:solidFill>
                  <a:srgbClr val="1FAE7A"/>
                </a:solidFill>
                <a:latin typeface="Calibri" pitchFamily="34" charset="0"/>
                <a:ea typeface="Calibri" pitchFamily="34" charset="-122"/>
                <a:cs typeface="Calibri" pitchFamily="34" charset="-120"/>
              </a:rPr>
              <a:t>INVESTMENT THESIS</a:t>
            </a:r>
            <a:endParaRPr lang="en-US" sz="1200" dirty="0"/>
          </a:p>
        </p:txBody>
      </p:sp>
      <p:sp>
        <p:nvSpPr>
          <p:cNvPr id="4" name="Text 2"/>
          <p:cNvSpPr txBox="1"/>
          <p:nvPr/>
        </p:nvSpPr>
        <p:spPr>
          <a:xfrm>
            <a:off x="548640" y="658368"/>
            <a:ext cx="10789920" cy="65836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control layer between payment data and financial operations</a:t>
            </a:r>
            <a:endParaRPr lang="en-US" sz="3000" dirty="0"/>
          </a:p>
        </p:txBody>
      </p:sp>
      <p:sp>
        <p:nvSpPr>
          <p:cNvPr id="5" name="Text 3"/>
          <p:cNvSpPr txBox="1"/>
          <p:nvPr/>
        </p:nvSpPr>
        <p:spPr>
          <a:xfrm>
            <a:off x="548640" y="6528816"/>
            <a:ext cx="7315200" cy="256032"/>
          </a:xfrm>
          <a:prstGeom prst="rect">
            <a:avLst/>
          </a:prstGeom>
          <a:noFill/>
          <a:ln/>
        </p:spPr>
        <p:txBody>
          <a:bodyPr wrap="square" lIns="0" tIns="0" rIns="0" bIns="0" rtlCol="0" anchor="ctr"/>
          <a:lstStyle/>
          <a:p>
            <a:pPr indent="0" marL="0">
              <a:buNone/>
            </a:pPr>
            <a:r>
              <a:rPr lang="en-US" sz="900" spc="100" kern="0" dirty="0">
                <a:solidFill>
                  <a:srgbClr val="4A5480"/>
                </a:solidFill>
                <a:latin typeface="Calibri" pitchFamily="34" charset="0"/>
                <a:ea typeface="Calibri" pitchFamily="34" charset="-122"/>
                <a:cs typeface="Calibri" pitchFamily="34" charset="-120"/>
              </a:rPr>
              <a:t>FINANCIAL CONTROL AGENT  —  INVESTOR BRIEFING</a:t>
            </a:r>
            <a:endParaRPr lang="en-US" sz="900" dirty="0"/>
          </a:p>
        </p:txBody>
      </p:sp>
      <p:sp>
        <p:nvSpPr>
          <p:cNvPr id="6" name="Text 4"/>
          <p:cNvSpPr txBox="1"/>
          <p:nvPr/>
        </p:nvSpPr>
        <p:spPr>
          <a:xfrm>
            <a:off x="10543032" y="6528816"/>
            <a:ext cx="1097280" cy="256032"/>
          </a:xfrm>
          <a:prstGeom prst="rect">
            <a:avLst/>
          </a:prstGeom>
          <a:noFill/>
          <a:ln/>
        </p:spPr>
        <p:txBody>
          <a:bodyPr wrap="square" lIns="0" tIns="0" rIns="0" bIns="0" rtlCol="0" anchor="ctr"/>
          <a:lstStyle/>
          <a:p>
            <a:pPr algn="r" indent="0" marL="0">
              <a:buNone/>
            </a:pPr>
            <a:r>
              <a:rPr lang="en-US" sz="900" dirty="0">
                <a:solidFill>
                  <a:srgbClr val="4A5480"/>
                </a:solidFill>
                <a:latin typeface="Calibri" pitchFamily="34" charset="0"/>
                <a:ea typeface="Calibri" pitchFamily="34" charset="-122"/>
                <a:cs typeface="Calibri" pitchFamily="34" charset="-120"/>
              </a:rPr>
              <a:t>12 / 12</a:t>
            </a:r>
            <a:endParaRPr lang="en-US" sz="900" dirty="0"/>
          </a:p>
        </p:txBody>
      </p:sp>
      <p:sp>
        <p:nvSpPr>
          <p:cNvPr id="7" name="Shape 5"/>
          <p:cNvSpPr/>
          <p:nvPr/>
        </p:nvSpPr>
        <p:spPr>
          <a:xfrm>
            <a:off x="540868" y="1691640"/>
            <a:ext cx="3520440" cy="2286000"/>
          </a:xfrm>
          <a:prstGeom prst="roundRect">
            <a:avLst>
              <a:gd name="adj" fmla="val 4000"/>
            </a:avLst>
          </a:prstGeom>
          <a:solidFill>
            <a:srgbClr val="1A2247"/>
          </a:solidFill>
          <a:ln w="9525">
            <a:solidFill>
              <a:srgbClr val="2B3562"/>
            </a:solidFill>
            <a:prstDash val="solid"/>
          </a:ln>
        </p:spPr>
      </p:sp>
      <p:sp>
        <p:nvSpPr>
          <p:cNvPr id="8" name="Shape 6"/>
          <p:cNvSpPr/>
          <p:nvPr/>
        </p:nvSpPr>
        <p:spPr>
          <a:xfrm>
            <a:off x="787756" y="1892808"/>
            <a:ext cx="512064" cy="512064"/>
          </a:xfrm>
          <a:prstGeom prst="ellipse">
            <a:avLst/>
          </a:prstGeom>
          <a:solidFill>
            <a:srgbClr val="1FAE7A"/>
          </a:solidFill>
          <a:ln/>
        </p:spPr>
      </p:sp>
      <p:pic>
        <p:nvPicPr>
          <p:cNvPr id="9" name="Image 0" descr="preencoded.png">    </p:cNvPr>
          <p:cNvPicPr>
            <a:picLocks noChangeAspect="1"/>
          </p:cNvPicPr>
          <p:nvPr/>
        </p:nvPicPr>
        <p:blipFill>
          <a:blip r:embed="rId1"/>
          <a:stretch>
            <a:fillRect/>
          </a:stretch>
        </p:blipFill>
        <p:spPr>
          <a:xfrm>
            <a:off x="910651" y="2015703"/>
            <a:ext cx="266273" cy="266273"/>
          </a:xfrm>
          <a:prstGeom prst="rect">
            <a:avLst/>
          </a:prstGeom>
        </p:spPr>
      </p:pic>
      <p:sp>
        <p:nvSpPr>
          <p:cNvPr id="10" name="Text 7"/>
          <p:cNvSpPr txBox="1"/>
          <p:nvPr/>
        </p:nvSpPr>
        <p:spPr>
          <a:xfrm>
            <a:off x="769468" y="2560320"/>
            <a:ext cx="3063240" cy="502920"/>
          </a:xfrm>
          <a:prstGeom prst="rect">
            <a:avLst/>
          </a:prstGeom>
          <a:noFill/>
          <a:ln/>
        </p:spPr>
        <p:txBody>
          <a:bodyPr wrap="square" lIns="0" tIns="0" rIns="0" bIns="0" rtlCol="0" anchor="ctr"/>
          <a:lstStyle/>
          <a:p>
            <a:pPr indent="0" marL="0">
              <a:lnSpc>
                <a:spcPct val="105000"/>
              </a:lnSpc>
              <a:buNone/>
            </a:pPr>
            <a:r>
              <a:rPr lang="en-US" sz="1150" b="1" spc="50" kern="0" dirty="0">
                <a:solidFill>
                  <a:srgbClr val="FFFFFF"/>
                </a:solidFill>
                <a:latin typeface="Calibri" pitchFamily="34" charset="0"/>
                <a:ea typeface="Calibri" pitchFamily="34" charset="-122"/>
                <a:cs typeface="Calibri" pitchFamily="34" charset="-120"/>
              </a:rPr>
              <a:t>WHAT WE’VE PROVEN</a:t>
            </a:r>
            <a:endParaRPr lang="en-US" sz="1150" dirty="0"/>
          </a:p>
        </p:txBody>
      </p:sp>
      <p:sp>
        <p:nvSpPr>
          <p:cNvPr id="11" name="Text 8"/>
          <p:cNvSpPr txBox="1"/>
          <p:nvPr/>
        </p:nvSpPr>
        <p:spPr>
          <a:xfrm>
            <a:off x="769468" y="3044952"/>
            <a:ext cx="3063240" cy="804672"/>
          </a:xfrm>
          <a:prstGeom prst="rect">
            <a:avLst/>
          </a:prstGeom>
          <a:noFill/>
          <a:ln/>
        </p:spPr>
        <p:txBody>
          <a:bodyPr wrap="square" lIns="0" tIns="0" rIns="0" bIns="0" rtlCol="0" anchor="ctr"/>
          <a:lstStyle/>
          <a:p>
            <a:pPr indent="0" marL="0">
              <a:lnSpc>
                <a:spcPct val="115000"/>
              </a:lnSpc>
              <a:buNone/>
            </a:pPr>
            <a:r>
              <a:rPr lang="en-US" sz="1000" dirty="0">
                <a:solidFill>
                  <a:srgbClr val="9AA6C9"/>
                </a:solidFill>
                <a:latin typeface="Calibri" pitchFamily="34" charset="0"/>
                <a:ea typeface="Calibri" pitchFamily="34" charset="-122"/>
                <a:cs typeface="Calibri" pitchFamily="34" charset="-120"/>
              </a:rPr>
              <a:t>A working, self-evaluating pipeline — detection, money at risk, root cause, bounded action, audit — with strengths and weaknesses both reported honestly.</a:t>
            </a:r>
            <a:endParaRPr lang="en-US" sz="1000" dirty="0"/>
          </a:p>
        </p:txBody>
      </p:sp>
      <p:sp>
        <p:nvSpPr>
          <p:cNvPr id="12" name="Shape 9"/>
          <p:cNvSpPr/>
          <p:nvPr/>
        </p:nvSpPr>
        <p:spPr>
          <a:xfrm>
            <a:off x="4335628" y="1691640"/>
            <a:ext cx="3520440" cy="2286000"/>
          </a:xfrm>
          <a:prstGeom prst="roundRect">
            <a:avLst>
              <a:gd name="adj" fmla="val 4000"/>
            </a:avLst>
          </a:prstGeom>
          <a:solidFill>
            <a:srgbClr val="1A2247"/>
          </a:solidFill>
          <a:ln w="9525">
            <a:solidFill>
              <a:srgbClr val="2B3562"/>
            </a:solidFill>
            <a:prstDash val="solid"/>
          </a:ln>
        </p:spPr>
      </p:sp>
      <p:sp>
        <p:nvSpPr>
          <p:cNvPr id="13" name="Shape 10"/>
          <p:cNvSpPr/>
          <p:nvPr/>
        </p:nvSpPr>
        <p:spPr>
          <a:xfrm>
            <a:off x="4582516" y="1892808"/>
            <a:ext cx="512064" cy="512064"/>
          </a:xfrm>
          <a:prstGeom prst="ellipse">
            <a:avLst/>
          </a:prstGeom>
          <a:solidFill>
            <a:srgbClr val="B8791E"/>
          </a:solidFill>
          <a:ln/>
        </p:spPr>
      </p:sp>
      <p:pic>
        <p:nvPicPr>
          <p:cNvPr id="14" name="Image 1" descr="preencoded.png">    </p:cNvPr>
          <p:cNvPicPr>
            <a:picLocks noChangeAspect="1"/>
          </p:cNvPicPr>
          <p:nvPr/>
        </p:nvPicPr>
        <p:blipFill>
          <a:blip r:embed="rId2"/>
          <a:stretch>
            <a:fillRect/>
          </a:stretch>
        </p:blipFill>
        <p:spPr>
          <a:xfrm>
            <a:off x="4705411" y="2015703"/>
            <a:ext cx="266273" cy="266273"/>
          </a:xfrm>
          <a:prstGeom prst="rect">
            <a:avLst/>
          </a:prstGeom>
        </p:spPr>
      </p:pic>
      <p:sp>
        <p:nvSpPr>
          <p:cNvPr id="15" name="Text 11"/>
          <p:cNvSpPr txBox="1"/>
          <p:nvPr/>
        </p:nvSpPr>
        <p:spPr>
          <a:xfrm>
            <a:off x="4564228" y="2560320"/>
            <a:ext cx="3063240" cy="502920"/>
          </a:xfrm>
          <a:prstGeom prst="rect">
            <a:avLst/>
          </a:prstGeom>
          <a:noFill/>
          <a:ln/>
        </p:spPr>
        <p:txBody>
          <a:bodyPr wrap="square" lIns="0" tIns="0" rIns="0" bIns="0" rtlCol="0" anchor="ctr"/>
          <a:lstStyle/>
          <a:p>
            <a:pPr indent="0" marL="0">
              <a:lnSpc>
                <a:spcPct val="105000"/>
              </a:lnSpc>
              <a:buNone/>
            </a:pPr>
            <a:r>
              <a:rPr lang="en-US" sz="1150" b="1" spc="50" kern="0" dirty="0">
                <a:solidFill>
                  <a:srgbClr val="FFFFFF"/>
                </a:solidFill>
                <a:latin typeface="Calibri" pitchFamily="34" charset="0"/>
                <a:ea typeface="Calibri" pitchFamily="34" charset="-122"/>
                <a:cs typeface="Calibri" pitchFamily="34" charset="-120"/>
              </a:rPr>
              <a:t>WHAT REMAINS UNPROVEN</a:t>
            </a:r>
            <a:endParaRPr lang="en-US" sz="1150" dirty="0"/>
          </a:p>
        </p:txBody>
      </p:sp>
      <p:sp>
        <p:nvSpPr>
          <p:cNvPr id="16" name="Text 12"/>
          <p:cNvSpPr txBox="1"/>
          <p:nvPr/>
        </p:nvSpPr>
        <p:spPr>
          <a:xfrm>
            <a:off x="4564228" y="3044952"/>
            <a:ext cx="3063240" cy="804672"/>
          </a:xfrm>
          <a:prstGeom prst="rect">
            <a:avLst/>
          </a:prstGeom>
          <a:noFill/>
          <a:ln/>
        </p:spPr>
        <p:txBody>
          <a:bodyPr wrap="square" lIns="0" tIns="0" rIns="0" bIns="0" rtlCol="0" anchor="ctr"/>
          <a:lstStyle/>
          <a:p>
            <a:pPr indent="0" marL="0">
              <a:lnSpc>
                <a:spcPct val="115000"/>
              </a:lnSpc>
              <a:buNone/>
            </a:pPr>
            <a:r>
              <a:rPr lang="en-US" sz="1000" dirty="0">
                <a:solidFill>
                  <a:srgbClr val="9AA6C9"/>
                </a:solidFill>
                <a:latin typeface="Calibri" pitchFamily="34" charset="0"/>
                <a:ea typeface="Calibri" pitchFamily="34" charset="-122"/>
                <a:cs typeface="Calibri" pitchFamily="34" charset="-120"/>
              </a:rPr>
              <a:t>Accuracy and false-positive rates on real payment data; a live processor integration; a single paying customer.</a:t>
            </a:r>
            <a:endParaRPr lang="en-US" sz="1000" dirty="0"/>
          </a:p>
        </p:txBody>
      </p:sp>
      <p:sp>
        <p:nvSpPr>
          <p:cNvPr id="17" name="Shape 13"/>
          <p:cNvSpPr/>
          <p:nvPr/>
        </p:nvSpPr>
        <p:spPr>
          <a:xfrm>
            <a:off x="8130388" y="1691640"/>
            <a:ext cx="3520440" cy="2286000"/>
          </a:xfrm>
          <a:prstGeom prst="roundRect">
            <a:avLst>
              <a:gd name="adj" fmla="val 4000"/>
            </a:avLst>
          </a:prstGeom>
          <a:solidFill>
            <a:srgbClr val="1A2247"/>
          </a:solidFill>
          <a:ln w="9525">
            <a:solidFill>
              <a:srgbClr val="2B3562"/>
            </a:solidFill>
            <a:prstDash val="solid"/>
          </a:ln>
        </p:spPr>
      </p:sp>
      <p:sp>
        <p:nvSpPr>
          <p:cNvPr id="18" name="Shape 14"/>
          <p:cNvSpPr/>
          <p:nvPr/>
        </p:nvSpPr>
        <p:spPr>
          <a:xfrm>
            <a:off x="8377276" y="1892808"/>
            <a:ext cx="512064" cy="512064"/>
          </a:xfrm>
          <a:prstGeom prst="ellipse">
            <a:avLst/>
          </a:prstGeom>
          <a:solidFill>
            <a:srgbClr val="1FAE7A"/>
          </a:solidFill>
          <a:ln/>
        </p:spPr>
      </p:sp>
      <p:pic>
        <p:nvPicPr>
          <p:cNvPr id="19" name="Image 2" descr="preencoded.png">    </p:cNvPr>
          <p:cNvPicPr>
            <a:picLocks noChangeAspect="1"/>
          </p:cNvPicPr>
          <p:nvPr/>
        </p:nvPicPr>
        <p:blipFill>
          <a:blip r:embed="rId3"/>
          <a:stretch>
            <a:fillRect/>
          </a:stretch>
        </p:blipFill>
        <p:spPr>
          <a:xfrm>
            <a:off x="8500171" y="2015703"/>
            <a:ext cx="266273" cy="266273"/>
          </a:xfrm>
          <a:prstGeom prst="rect">
            <a:avLst/>
          </a:prstGeom>
        </p:spPr>
      </p:pic>
      <p:sp>
        <p:nvSpPr>
          <p:cNvPr id="20" name="Text 15"/>
          <p:cNvSpPr txBox="1"/>
          <p:nvPr/>
        </p:nvSpPr>
        <p:spPr>
          <a:xfrm>
            <a:off x="8358988" y="2560320"/>
            <a:ext cx="3063240" cy="502920"/>
          </a:xfrm>
          <a:prstGeom prst="rect">
            <a:avLst/>
          </a:prstGeom>
          <a:noFill/>
          <a:ln/>
        </p:spPr>
        <p:txBody>
          <a:bodyPr wrap="square" lIns="0" tIns="0" rIns="0" bIns="0" rtlCol="0" anchor="ctr"/>
          <a:lstStyle/>
          <a:p>
            <a:pPr indent="0" marL="0">
              <a:lnSpc>
                <a:spcPct val="105000"/>
              </a:lnSpc>
              <a:buNone/>
            </a:pPr>
            <a:r>
              <a:rPr lang="en-US" sz="1150" b="1" spc="50" kern="0" dirty="0">
                <a:solidFill>
                  <a:srgbClr val="FFFFFF"/>
                </a:solidFill>
                <a:latin typeface="Calibri" pitchFamily="34" charset="0"/>
                <a:ea typeface="Calibri" pitchFamily="34" charset="-122"/>
                <a:cs typeface="Calibri" pitchFamily="34" charset="-120"/>
              </a:rPr>
              <a:t>WHAT INVESTMENT UNLOCKS</a:t>
            </a:r>
            <a:endParaRPr lang="en-US" sz="1150" dirty="0"/>
          </a:p>
        </p:txBody>
      </p:sp>
      <p:sp>
        <p:nvSpPr>
          <p:cNvPr id="21" name="Text 16"/>
          <p:cNvSpPr txBox="1"/>
          <p:nvPr/>
        </p:nvSpPr>
        <p:spPr>
          <a:xfrm>
            <a:off x="8358988" y="3044952"/>
            <a:ext cx="3063240" cy="804672"/>
          </a:xfrm>
          <a:prstGeom prst="rect">
            <a:avLst/>
          </a:prstGeom>
          <a:noFill/>
          <a:ln/>
        </p:spPr>
        <p:txBody>
          <a:bodyPr wrap="square" lIns="0" tIns="0" rIns="0" bIns="0" rtlCol="0" anchor="ctr"/>
          <a:lstStyle/>
          <a:p>
            <a:pPr indent="0" marL="0">
              <a:lnSpc>
                <a:spcPct val="115000"/>
              </a:lnSpc>
              <a:buNone/>
            </a:pPr>
            <a:r>
              <a:rPr lang="en-US" sz="1000" dirty="0">
                <a:solidFill>
                  <a:srgbClr val="9AA6C9"/>
                </a:solidFill>
                <a:latin typeface="Calibri" pitchFamily="34" charset="0"/>
                <a:ea typeface="Calibri" pitchFamily="34" charset="-122"/>
                <a:cs typeface="Calibri" pitchFamily="34" charset="-120"/>
              </a:rPr>
              <a:t>A real-data pilot, a production integration, and model monitoring — the three gates between this prototype and a deployable product.</a:t>
            </a:r>
            <a:endParaRPr lang="en-US" sz="1000" dirty="0"/>
          </a:p>
        </p:txBody>
      </p:sp>
      <p:sp>
        <p:nvSpPr>
          <p:cNvPr id="22" name="Shape 17"/>
          <p:cNvSpPr/>
          <p:nvPr/>
        </p:nvSpPr>
        <p:spPr>
          <a:xfrm>
            <a:off x="777240" y="4343400"/>
            <a:ext cx="10634472" cy="1417320"/>
          </a:xfrm>
          <a:prstGeom prst="roundRect">
            <a:avLst>
              <a:gd name="adj" fmla="val 6452"/>
            </a:avLst>
          </a:prstGeom>
          <a:solidFill>
            <a:srgbClr val="FFFFFF"/>
          </a:solidFill>
          <a:ln/>
        </p:spPr>
      </p:sp>
      <p:sp>
        <p:nvSpPr>
          <p:cNvPr id="23" name="Text 18"/>
          <p:cNvSpPr txBox="1"/>
          <p:nvPr/>
        </p:nvSpPr>
        <p:spPr>
          <a:xfrm>
            <a:off x="1143000" y="4343400"/>
            <a:ext cx="9902952" cy="1417320"/>
          </a:xfrm>
          <a:prstGeom prst="rect">
            <a:avLst/>
          </a:prstGeom>
          <a:noFill/>
          <a:ln/>
        </p:spPr>
        <p:txBody>
          <a:bodyPr wrap="square" lIns="0" tIns="0" rIns="0" bIns="0" rtlCol="0" anchor="ctr"/>
          <a:lstStyle/>
          <a:p>
            <a:pPr algn="ctr" indent="0" marL="0">
              <a:lnSpc>
                <a:spcPct val="115000"/>
              </a:lnSpc>
              <a:buNone/>
            </a:pPr>
            <a:r>
              <a:rPr lang="en-US" sz="1900" b="1" i="1" dirty="0">
                <a:solidFill>
                  <a:srgbClr val="141B33"/>
                </a:solidFill>
                <a:latin typeface="Cambria" pitchFamily="34" charset="0"/>
                <a:ea typeface="Cambria" pitchFamily="34" charset="-122"/>
                <a:cs typeface="Cambria" pitchFamily="34" charset="-120"/>
              </a:rPr>
              <a:t>We’re not building another reconciliation dashboard.</a:t>
            </a:r>
            <a:endParaRPr lang="en-US" sz="1900" dirty="0"/>
          </a:p>
          <a:p>
            <a:pPr algn="ctr" indent="0" marL="0">
              <a:lnSpc>
                <a:spcPct val="115000"/>
              </a:lnSpc>
              <a:buNone/>
            </a:pPr>
            <a:r>
              <a:rPr lang="en-US" sz="1900" b="1" i="1" dirty="0">
                <a:solidFill>
                  <a:srgbClr val="141B33"/>
                </a:solidFill>
                <a:latin typeface="Cambria" pitchFamily="34" charset="0"/>
                <a:ea typeface="Cambria" pitchFamily="34" charset="-122"/>
                <a:cs typeface="Cambria" pitchFamily="34" charset="-120"/>
              </a:rPr>
              <a:t>We’re building a control layer that turns financial exceptions into quantified, explainable, auditable actions.</a:t>
            </a:r>
            <a:endParaRPr lang="en-US" sz="1900" dirty="0"/>
          </a:p>
        </p:txBody>
      </p:sp>
      <p:sp>
        <p:nvSpPr>
          <p:cNvPr id="24" name="Text 19"/>
          <p:cNvSpPr txBox="1"/>
          <p:nvPr/>
        </p:nvSpPr>
        <p:spPr>
          <a:xfrm>
            <a:off x="777240" y="5989320"/>
            <a:ext cx="10634472" cy="365760"/>
          </a:xfrm>
          <a:prstGeom prst="rect">
            <a:avLst/>
          </a:prstGeom>
          <a:noFill/>
          <a:ln/>
        </p:spPr>
        <p:txBody>
          <a:bodyPr wrap="square" lIns="0" tIns="0" rIns="0" bIns="0" rtlCol="0" anchor="ctr"/>
          <a:lstStyle/>
          <a:p>
            <a:pPr algn="ctr" indent="0" marL="0">
              <a:buNone/>
            </a:pPr>
            <a:r>
              <a:rPr lang="en-US" sz="1050" i="1" dirty="0">
                <a:solidFill>
                  <a:srgbClr val="9AA6C9"/>
                </a:solidFill>
                <a:latin typeface="Calibri" pitchFamily="34" charset="0"/>
                <a:ea typeface="Calibri" pitchFamily="34" charset="-122"/>
                <a:cs typeface="Calibri" pitchFamily="34" charset="-120"/>
              </a:rPr>
              <a:t>Every number in this deck is reproducible from the repository’s own evaluation pipeline.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2026-09-05T17:31:24Z</dcterms:created>
  <dcterms:modified xsi:type="dcterms:W3CDTF">2026-09-05T17:31:24Z</dcterms:modified>
</cp:coreProperties>
</file>